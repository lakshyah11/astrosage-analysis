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5"/>
  </p:notesMasterIdLst>
  <p:sldIdLst>
    <p:sldId id="256" r:id="rId2"/>
    <p:sldId id="257" r:id="rId3"/>
    <p:sldId id="317" r:id="rId4"/>
    <p:sldId id="262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28" r:id="rId16"/>
    <p:sldId id="353" r:id="rId17"/>
    <p:sldId id="351" r:id="rId18"/>
    <p:sldId id="325" r:id="rId19"/>
    <p:sldId id="352" r:id="rId20"/>
    <p:sldId id="330" r:id="rId21"/>
    <p:sldId id="326" r:id="rId22"/>
    <p:sldId id="272" r:id="rId23"/>
    <p:sldId id="354" r:id="rId24"/>
  </p:sldIdLst>
  <p:sldSz cx="9144000" cy="5143500" type="screen16x9"/>
  <p:notesSz cx="6858000" cy="9144000"/>
  <p:embeddedFontLst>
    <p:embeddedFont>
      <p:font typeface="Antic" panose="020B0604020202020204" charset="0"/>
      <p:regular r:id="rId26"/>
    </p:embeddedFont>
    <p:embeddedFont>
      <p:font typeface="Bebas Neue" panose="020F0502020204030204" pitchFamily="34" charset="0"/>
      <p:regular r:id="rId27"/>
    </p:embeddedFont>
    <p:embeddedFont>
      <p:font typeface="Chango" panose="020B0604020202020204" charset="0"/>
      <p:regular r:id="rId28"/>
    </p:embeddedFont>
    <p:embeddedFont>
      <p:font typeface="DM Sans Medium" pitchFamily="2" charset="0"/>
      <p:regular r:id="rId29"/>
      <p:italic r:id="rId30"/>
    </p:embeddedFont>
    <p:embeddedFont>
      <p:font typeface="Nunito Light" panose="020F0502020204030204" pitchFamily="2" charset="0"/>
      <p:regular r:id="rId31"/>
      <p:italic r:id="rId32"/>
    </p:embeddedFont>
    <p:embeddedFont>
      <p:font typeface="Showcard Gothic" panose="04020904020102020604" pitchFamily="82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3BFCAD7-8AF1-4E6B-A697-26CD6B6BCF45}">
  <a:tblStyle styleId="{83BFCAD7-8AF1-4E6B-A697-26CD6B6BCF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Hasija" userId="d74c1101ce258878" providerId="LiveId" clId="{C2B6456D-D8A5-45F9-A2E0-4AA58F83FE68}"/>
    <pc:docChg chg="modSld">
      <pc:chgData name="Lakshya Hasija" userId="d74c1101ce258878" providerId="LiveId" clId="{C2B6456D-D8A5-45F9-A2E0-4AA58F83FE68}" dt="2025-08-17T07:57:43.612" v="1" actId="20577"/>
      <pc:docMkLst>
        <pc:docMk/>
      </pc:docMkLst>
      <pc:sldChg chg="modSp mod">
        <pc:chgData name="Lakshya Hasija" userId="d74c1101ce258878" providerId="LiveId" clId="{C2B6456D-D8A5-45F9-A2E0-4AA58F83FE68}" dt="2025-08-17T07:57:43.612" v="1" actId="20577"/>
        <pc:sldMkLst>
          <pc:docMk/>
          <pc:sldMk cId="0" sldId="256"/>
        </pc:sldMkLst>
        <pc:spChg chg="mod">
          <ac:chgData name="Lakshya Hasija" userId="d74c1101ce258878" providerId="LiveId" clId="{C2B6456D-D8A5-45F9-A2E0-4AA58F83FE68}" dt="2025-08-17T07:57:43.612" v="1" actId="20577"/>
          <ac:spMkLst>
            <pc:docMk/>
            <pc:sldMk cId="0" sldId="256"/>
            <ac:spMk id="75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4th%20submission\AstroSage_analysis_BY_LakshyaHasija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AstroSage_analysis_BY_LakshyaHasija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Q7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Daily Call Volume Analysis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Pivot_Table!$K$5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Pivot_Table!$J$6:$J$40</c:f>
              <c:strCache>
                <c:ptCount val="34"/>
                <c:pt idx="0">
                  <c:v>2023-12-01</c:v>
                </c:pt>
                <c:pt idx="1">
                  <c:v>2023-12-02</c:v>
                </c:pt>
                <c:pt idx="2">
                  <c:v>2023-12-03</c:v>
                </c:pt>
                <c:pt idx="3">
                  <c:v>2023-12-04</c:v>
                </c:pt>
                <c:pt idx="4">
                  <c:v>2023-12-05</c:v>
                </c:pt>
                <c:pt idx="5">
                  <c:v>2023-12-06</c:v>
                </c:pt>
                <c:pt idx="6">
                  <c:v>2023-12-07</c:v>
                </c:pt>
                <c:pt idx="7">
                  <c:v>2023-12-08</c:v>
                </c:pt>
                <c:pt idx="8">
                  <c:v>2023-12-09</c:v>
                </c:pt>
                <c:pt idx="9">
                  <c:v>2023-12-10</c:v>
                </c:pt>
                <c:pt idx="10">
                  <c:v>2023-12-11</c:v>
                </c:pt>
                <c:pt idx="11">
                  <c:v>2023-12-12</c:v>
                </c:pt>
                <c:pt idx="12">
                  <c:v>2023-12-13</c:v>
                </c:pt>
                <c:pt idx="13">
                  <c:v>2023-12-14</c:v>
                </c:pt>
                <c:pt idx="14">
                  <c:v>2023-12-15</c:v>
                </c:pt>
                <c:pt idx="15">
                  <c:v>2023-12-16</c:v>
                </c:pt>
                <c:pt idx="16">
                  <c:v>2023-12-17</c:v>
                </c:pt>
                <c:pt idx="17">
                  <c:v>2023-12-18</c:v>
                </c:pt>
                <c:pt idx="18">
                  <c:v>2023-12-19</c:v>
                </c:pt>
                <c:pt idx="19">
                  <c:v>2023-12-20</c:v>
                </c:pt>
                <c:pt idx="20">
                  <c:v>2023-12-21</c:v>
                </c:pt>
                <c:pt idx="21">
                  <c:v>2023-12-22</c:v>
                </c:pt>
                <c:pt idx="22">
                  <c:v>2023-12-23</c:v>
                </c:pt>
                <c:pt idx="23">
                  <c:v>2023-12-24</c:v>
                </c:pt>
                <c:pt idx="24">
                  <c:v>2023-12-25</c:v>
                </c:pt>
                <c:pt idx="25">
                  <c:v>2023-12-26</c:v>
                </c:pt>
                <c:pt idx="26">
                  <c:v>2023-12-27</c:v>
                </c:pt>
                <c:pt idx="27">
                  <c:v>2023-12-28</c:v>
                </c:pt>
                <c:pt idx="28">
                  <c:v>2023-12-29</c:v>
                </c:pt>
                <c:pt idx="29">
                  <c:v>2023-12-30</c:v>
                </c:pt>
                <c:pt idx="30">
                  <c:v>2023-12-31</c:v>
                </c:pt>
                <c:pt idx="31">
                  <c:v>2024-01-01</c:v>
                </c:pt>
                <c:pt idx="32">
                  <c:v>2024-01-02</c:v>
                </c:pt>
                <c:pt idx="33">
                  <c:v>2024-01-03</c:v>
                </c:pt>
              </c:strCache>
            </c:strRef>
          </c:cat>
          <c:val>
            <c:numRef>
              <c:f>Pivot_Table!$K$6:$K$40</c:f>
              <c:numCache>
                <c:formatCode>General</c:formatCode>
                <c:ptCount val="34"/>
                <c:pt idx="0">
                  <c:v>228</c:v>
                </c:pt>
                <c:pt idx="1">
                  <c:v>332</c:v>
                </c:pt>
                <c:pt idx="2">
                  <c:v>383</c:v>
                </c:pt>
                <c:pt idx="3">
                  <c:v>364</c:v>
                </c:pt>
                <c:pt idx="4">
                  <c:v>253</c:v>
                </c:pt>
                <c:pt idx="5">
                  <c:v>254</c:v>
                </c:pt>
                <c:pt idx="6">
                  <c:v>254</c:v>
                </c:pt>
                <c:pt idx="7">
                  <c:v>138</c:v>
                </c:pt>
                <c:pt idx="8">
                  <c:v>288</c:v>
                </c:pt>
                <c:pt idx="9">
                  <c:v>430</c:v>
                </c:pt>
                <c:pt idx="10">
                  <c:v>424</c:v>
                </c:pt>
                <c:pt idx="11">
                  <c:v>358</c:v>
                </c:pt>
                <c:pt idx="12">
                  <c:v>348</c:v>
                </c:pt>
                <c:pt idx="13">
                  <c:v>226</c:v>
                </c:pt>
                <c:pt idx="14">
                  <c:v>276</c:v>
                </c:pt>
                <c:pt idx="15">
                  <c:v>258</c:v>
                </c:pt>
                <c:pt idx="16">
                  <c:v>185</c:v>
                </c:pt>
                <c:pt idx="17">
                  <c:v>233</c:v>
                </c:pt>
                <c:pt idx="18">
                  <c:v>209</c:v>
                </c:pt>
                <c:pt idx="19">
                  <c:v>178</c:v>
                </c:pt>
                <c:pt idx="20">
                  <c:v>159</c:v>
                </c:pt>
                <c:pt idx="21">
                  <c:v>163</c:v>
                </c:pt>
                <c:pt idx="22">
                  <c:v>241</c:v>
                </c:pt>
                <c:pt idx="23">
                  <c:v>232</c:v>
                </c:pt>
                <c:pt idx="24">
                  <c:v>258</c:v>
                </c:pt>
                <c:pt idx="25">
                  <c:v>255</c:v>
                </c:pt>
                <c:pt idx="26">
                  <c:v>242</c:v>
                </c:pt>
                <c:pt idx="27">
                  <c:v>181</c:v>
                </c:pt>
                <c:pt idx="28">
                  <c:v>260</c:v>
                </c:pt>
                <c:pt idx="29">
                  <c:v>179</c:v>
                </c:pt>
                <c:pt idx="30">
                  <c:v>158</c:v>
                </c:pt>
                <c:pt idx="31">
                  <c:v>115</c:v>
                </c:pt>
                <c:pt idx="32">
                  <c:v>196</c:v>
                </c:pt>
                <c:pt idx="33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6-43AD-BDD1-4FBE626CB7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9369056"/>
        <c:axId val="109367616"/>
      </c:barChart>
      <c:catAx>
        <c:axId val="1093690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Months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67616"/>
        <c:crosses val="autoZero"/>
        <c:auto val="1"/>
        <c:lblAlgn val="ctr"/>
        <c:lblOffset val="100"/>
        <c:noMultiLvlLbl val="0"/>
      </c:catAx>
      <c:valAx>
        <c:axId val="109367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 dirty="0">
                    <a:ln w="0"/>
                    <a:solidFill>
                      <a:schemeClr val="tx1"/>
                    </a:solidFill>
                    <a:effectLst/>
                  </a:rPr>
                  <a:t>Count of Calls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369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Q12 (2)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Astrologer Performance Ratings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609476578319146"/>
          <c:y val="0.16594357965237053"/>
          <c:w val="0.81189112396840601"/>
          <c:h val="0.647096632853057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Pivot_Table!$AD$10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Pivot_Table!$AC$11:$AC$21</c:f>
              <c:strCache>
                <c:ptCount val="10"/>
                <c:pt idx="0">
                  <c:v>Tarot Mystical</c:v>
                </c:pt>
                <c:pt idx="1">
                  <c:v>Astro Pujaa Rai</c:v>
                </c:pt>
                <c:pt idx="2">
                  <c:v>Daljit Kaur</c:v>
                </c:pt>
                <c:pt idx="3">
                  <c:v>Astro Reema</c:v>
                </c:pt>
                <c:pt idx="4">
                  <c:v>Tarot Ankita</c:v>
                </c:pt>
                <c:pt idx="5">
                  <c:v>Astro Saraswat</c:v>
                </c:pt>
                <c:pt idx="6">
                  <c:v>Tarot Diva Poonam</c:v>
                </c:pt>
                <c:pt idx="7">
                  <c:v>Astro Trisha</c:v>
                </c:pt>
                <c:pt idx="8">
                  <c:v>Tarot Oormika</c:v>
                </c:pt>
                <c:pt idx="9">
                  <c:v>Astro Manish S</c:v>
                </c:pt>
              </c:strCache>
            </c:strRef>
          </c:cat>
          <c:val>
            <c:numRef>
              <c:f>Pivot_Table!$AD$11:$AD$21</c:f>
              <c:numCache>
                <c:formatCode>General</c:formatCode>
                <c:ptCount val="10"/>
                <c:pt idx="0">
                  <c:v>7.5</c:v>
                </c:pt>
                <c:pt idx="1">
                  <c:v>7.5</c:v>
                </c:pt>
                <c:pt idx="2">
                  <c:v>5.9459459459459456</c:v>
                </c:pt>
                <c:pt idx="3">
                  <c:v>5.9</c:v>
                </c:pt>
                <c:pt idx="4">
                  <c:v>5.75</c:v>
                </c:pt>
                <c:pt idx="5">
                  <c:v>5.6111111111111107</c:v>
                </c:pt>
                <c:pt idx="6">
                  <c:v>5.4626865671641793</c:v>
                </c:pt>
                <c:pt idx="7">
                  <c:v>5.4243243243243242</c:v>
                </c:pt>
                <c:pt idx="8">
                  <c:v>5.4</c:v>
                </c:pt>
                <c:pt idx="9">
                  <c:v>5.0487804878048781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7-4940-904D-7DEACF86585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50818832"/>
        <c:axId val="450820272"/>
      </c:barChart>
      <c:catAx>
        <c:axId val="4508188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Names of GURU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820272"/>
        <c:crosses val="autoZero"/>
        <c:auto val="1"/>
        <c:lblAlgn val="ctr"/>
        <c:lblOffset val="100"/>
        <c:noMultiLvlLbl val="0"/>
      </c:catAx>
      <c:valAx>
        <c:axId val="450820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r>
                  <a:rPr lang="en-US" sz="1100" b="0" cap="none" spc="0">
                    <a:ln w="0"/>
                    <a:solidFill>
                      <a:schemeClr val="tx1"/>
                    </a:solidFill>
                    <a:effectLst/>
                  </a:rPr>
                  <a:t>RATINGS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cap="none" spc="0" baseline="0">
                  <a:ln w="0"/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818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[AstroSage_analysis_BY_LakshyaHasija.xlsx]Pivot_Table!SUBJECTIVE Q4(a)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sng" strike="noStrike" kern="1200" spc="0" baseline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400" b="0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 Timing and Agent Availability</a:t>
            </a:r>
            <a:endParaRPr lang="en-US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sng" strike="noStrike" kern="1200" spc="0" baseline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5676364334539448E-2"/>
          <c:y val="0.18837001002514503"/>
          <c:w val="0.91067599180042857"/>
          <c:h val="0.6152764310483672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Pivot_Table!$AD$98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Pivot_Table!$AC$99:$AC$123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Pivot_Table!$AD$99:$AD$123</c:f>
              <c:numCache>
                <c:formatCode>General</c:formatCode>
                <c:ptCount val="24"/>
                <c:pt idx="0">
                  <c:v>68</c:v>
                </c:pt>
                <c:pt idx="1">
                  <c:v>52</c:v>
                </c:pt>
                <c:pt idx="2">
                  <c:v>129</c:v>
                </c:pt>
                <c:pt idx="3">
                  <c:v>264</c:v>
                </c:pt>
                <c:pt idx="4">
                  <c:v>348</c:v>
                </c:pt>
                <c:pt idx="5">
                  <c:v>449</c:v>
                </c:pt>
                <c:pt idx="6">
                  <c:v>541</c:v>
                </c:pt>
                <c:pt idx="7">
                  <c:v>551</c:v>
                </c:pt>
                <c:pt idx="8">
                  <c:v>660</c:v>
                </c:pt>
                <c:pt idx="9">
                  <c:v>498</c:v>
                </c:pt>
                <c:pt idx="10">
                  <c:v>605</c:v>
                </c:pt>
                <c:pt idx="11">
                  <c:v>515</c:v>
                </c:pt>
                <c:pt idx="12">
                  <c:v>483</c:v>
                </c:pt>
                <c:pt idx="13">
                  <c:v>437</c:v>
                </c:pt>
                <c:pt idx="14">
                  <c:v>513</c:v>
                </c:pt>
                <c:pt idx="15">
                  <c:v>497</c:v>
                </c:pt>
                <c:pt idx="16">
                  <c:v>479</c:v>
                </c:pt>
                <c:pt idx="17">
                  <c:v>374</c:v>
                </c:pt>
                <c:pt idx="18">
                  <c:v>265</c:v>
                </c:pt>
                <c:pt idx="19">
                  <c:v>223</c:v>
                </c:pt>
                <c:pt idx="20">
                  <c:v>172</c:v>
                </c:pt>
                <c:pt idx="21">
                  <c:v>99</c:v>
                </c:pt>
                <c:pt idx="22">
                  <c:v>73</c:v>
                </c:pt>
                <c:pt idx="2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B3-4A57-99FD-4A0B632C12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24855096"/>
        <c:axId val="824861216"/>
      </c:barChart>
      <c:catAx>
        <c:axId val="8248550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chemeClr val="tx1"/>
                    </a:solidFill>
                  </a:rPr>
                  <a:t>Hour of the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4861216"/>
        <c:crosses val="autoZero"/>
        <c:auto val="1"/>
        <c:lblAlgn val="ctr"/>
        <c:lblOffset val="100"/>
        <c:noMultiLvlLbl val="0"/>
      </c:catAx>
      <c:valAx>
        <c:axId val="82486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>
                    <a:solidFill>
                      <a:schemeClr val="tx1"/>
                    </a:solidFill>
                  </a:rPr>
                  <a:t>Count of calls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4855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TABLE14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Chat Volume Comparison: December vs January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1.5432412866865364E-2"/>
              <c:y val="-0.2853498245365507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30671920572894912"/>
                  <c:h val="0.12669681452284684"/>
                </c:manualLayout>
              </c15:layout>
            </c:ext>
          </c:extLst>
        </c:dLbl>
      </c:pivotFmt>
      <c:pivotFmt>
        <c:idx val="1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6215488208519754E-2"/>
          <c:y val="0.33290947699304441"/>
          <c:w val="0.91771239229496004"/>
          <c:h val="0.62509530497592303"/>
        </c:manualLayout>
      </c:layout>
      <c:pie3DChart>
        <c:varyColors val="1"/>
        <c:ser>
          <c:idx val="0"/>
          <c:order val="0"/>
          <c:tx>
            <c:strRef>
              <c:f>Pivot_Table!$L$91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D22-4F21-8197-83FEC3380DC3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D22-4F21-8197-83FEC3380DC3}"/>
              </c:ext>
            </c:extLst>
          </c:dPt>
          <c:dLbls>
            <c:dLbl>
              <c:idx val="0"/>
              <c:layout>
                <c:manualLayout>
                  <c:x val="2.1662496587395094E-2"/>
                  <c:y val="-0.2590141904399422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164978794014"/>
                      <c:h val="0.2083199571963616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D22-4F21-8197-83FEC3380DC3}"/>
                </c:ext>
              </c:extLst>
            </c:dLbl>
            <c:dLbl>
              <c:idx val="1"/>
              <c:layout>
                <c:manualLayout>
                  <c:x val="7.5165108702017716E-2"/>
                  <c:y val="7.1187965736770137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22-4F21-8197-83FEC3380D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Pivot_Table!$K$92:$K$93</c:f>
              <c:strCache>
                <c:ptCount val="2"/>
                <c:pt idx="0">
                  <c:v>December</c:v>
                </c:pt>
                <c:pt idx="1">
                  <c:v>January</c:v>
                </c:pt>
              </c:strCache>
            </c:strRef>
          </c:cat>
          <c:val>
            <c:numRef>
              <c:f>Pivot_Table!$L$92:$L$93</c:f>
              <c:numCache>
                <c:formatCode>General</c:formatCode>
                <c:ptCount val="2"/>
                <c:pt idx="0">
                  <c:v>26488</c:v>
                </c:pt>
                <c:pt idx="1">
                  <c:v>1539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22-4F21-8197-83FEC3380DC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[AstroSage_analysis_BY_LakshyaHasija.xlsx]Pivot_Table!PivotTable for Q13</c:name>
    <c:fmtId val="3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6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none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Customer Ratings Overview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6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3"/>
          </a:solidFill>
          <a:ln>
            <a:noFill/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9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13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3709075376086694"/>
                  <c:h val="0.21854755229388886"/>
                </c:manualLayout>
              </c15:layout>
            </c:ext>
          </c:extLst>
        </c:dLbl>
      </c:pivotFmt>
      <c:pivotFmt>
        <c:idx val="16"/>
        <c:spPr>
          <a:solidFill>
            <a:schemeClr val="accent3"/>
          </a:solidFill>
          <a:ln>
            <a:noFill/>
          </a:ln>
          <a:effectLst/>
          <a:sp3d>
            <a:contourClr>
              <a:schemeClr val="lt1"/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 w="6350" cap="flat" cmpd="sng" algn="ctr">
          <a:noFill/>
          <a:prstDash val="solid"/>
          <a:round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7363328493207997E-3"/>
          <c:y val="0.15402015883042072"/>
          <c:w val="0.97876275866263662"/>
          <c:h val="0.78207207603252504"/>
        </c:manualLayout>
      </c:layout>
      <c:pie3DChart>
        <c:varyColors val="1"/>
        <c:ser>
          <c:idx val="0"/>
          <c:order val="0"/>
          <c:tx>
            <c:strRef>
              <c:f>Pivot_Table!$AA$26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/>
              <a:sp3d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701-4955-979B-F49E6DDEA20E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/>
              <a:sp3d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701-4955-979B-F49E6DDEA20E}"/>
              </c:ext>
            </c:extLst>
          </c:dPt>
          <c:dLbls>
            <c:dLbl>
              <c:idx val="0"/>
              <c:layout>
                <c:manualLayout>
                  <c:x val="-0.21328929863270621"/>
                  <c:y val="-7.139842559158145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09075376086694"/>
                      <c:h val="0.218547552293888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701-4955-979B-F49E6DDEA20E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4F15C6A-2DA6-48C4-818F-9CE6819E87A1}" type="CATEGORYNAME">
                      <a:rPr lang="en-US"/>
                      <a:pPr>
                        <a:defRPr sz="1100">
                          <a:solidFill>
                            <a:sysClr val="windowText" lastClr="000000"/>
                          </a:solidFill>
                        </a:defRPr>
                      </a:pPr>
                      <a:t>[CATEGORY NAME]</a:t>
                    </a:fld>
                    <a:r>
                      <a:rPr lang="en-US" baseline="0" dirty="0"/>
                      <a:t>, </a:t>
                    </a:r>
                    <a:fld id="{693467E5-D0BC-44DF-99C0-0BE332BDF9D6}" type="VALUE">
                      <a:rPr lang="en-US" baseline="0" smtClean="0"/>
                      <a:pPr>
                        <a:defRPr sz="1100">
                          <a:solidFill>
                            <a:sysClr val="windowText" lastClr="000000"/>
                          </a:solidFill>
                        </a:defRPr>
                      </a:pPr>
                      <a:t>[VALUE]</a:t>
                    </a:fld>
                    <a:endParaRPr lang="en-US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ysClr val="windowText" lastClr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772836252342427"/>
                      <c:h val="0.204892386275192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4701-4955-979B-F49E6DDEA20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6350" cap="flat" cmpd="sng" algn="ctr">
                  <a:solidFill>
                    <a:schemeClr val="tx1"/>
                  </a:solidFill>
                  <a:prstDash val="solid"/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Pivot_Table!$Z$27:$Z$28</c:f>
              <c:strCache>
                <c:ptCount val="2"/>
                <c:pt idx="0">
                  <c:v>December</c:v>
                </c:pt>
                <c:pt idx="1">
                  <c:v>January</c:v>
                </c:pt>
              </c:strCache>
            </c:strRef>
          </c:cat>
          <c:val>
            <c:numRef>
              <c:f>Pivot_Table!$AA$27:$AA$28</c:f>
              <c:numCache>
                <c:formatCode>General</c:formatCode>
                <c:ptCount val="2"/>
                <c:pt idx="0">
                  <c:v>2.9496375717305949</c:v>
                </c:pt>
                <c:pt idx="1">
                  <c:v>2.6764132553606239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01-4955-979B-F49E6DDEA20E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6350" cap="flat" cmpd="sng" algn="ctr">
      <a:noFill/>
      <a:prstDash val="solid"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TABLE8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none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User Engagement Analysis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1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  <c:pivotFmt>
        <c:idx val="1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2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  <c:pivotFmt>
        <c:idx val="2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-2.835564950509177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2916812534041843"/>
                  <c:h val="0.14055431489131717"/>
                </c:manualLayout>
              </c15:layout>
            </c:ext>
          </c:extLst>
        </c:dLbl>
      </c:pivotFmt>
      <c:pivotFmt>
        <c:idx val="2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dLbl>
          <c:idx val="0"/>
          <c:layout>
            <c:manualLayout>
              <c:x val="0"/>
              <c:y val="2.079409538006956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47444301351265039"/>
                  <c:h val="0.17973680246455287"/>
                </c:manualLayout>
              </c15:layout>
            </c:ext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2926817122799279E-2"/>
          <c:y val="0.22834411026891949"/>
          <c:w val="0.87939626483698008"/>
          <c:h val="0.71406165725772386"/>
        </c:manualLayout>
      </c:layout>
      <c:pie3DChart>
        <c:varyColors val="1"/>
        <c:ser>
          <c:idx val="0"/>
          <c:order val="0"/>
          <c:tx>
            <c:strRef>
              <c:f>Pivot_Table!$I$79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35F-44F8-9391-B4E1A9C0DBF1}"/>
              </c:ext>
            </c:extLst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35F-44F8-9391-B4E1A9C0DBF1}"/>
              </c:ext>
            </c:extLst>
          </c:dPt>
          <c:dLbls>
            <c:dLbl>
              <c:idx val="0"/>
              <c:layout>
                <c:manualLayout>
                  <c:x val="-1.3243756098749685E-7"/>
                  <c:y val="-7.9382782636427777E-3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2916812534041843"/>
                      <c:h val="0.140554314891317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635F-44F8-9391-B4E1A9C0DBF1}"/>
                </c:ext>
              </c:extLst>
            </c:dLbl>
            <c:dLbl>
              <c:idx val="1"/>
              <c:layout>
                <c:manualLayout>
                  <c:x val="5.2448359169120294E-2"/>
                  <c:y val="7.5562259374085686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44846566138799904"/>
                      <c:h val="0.179736901292206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635F-44F8-9391-B4E1A9C0DB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multiLvlStrRef>
              <c:f>Pivot_Table!$H$80:$H$84</c:f>
              <c:multiLvlStrCache>
                <c:ptCount val="2"/>
                <c:lvl>
                  <c:pt idx="0">
                    <c:v>December</c:v>
                  </c:pt>
                  <c:pt idx="1">
                    <c:v>January</c:v>
                  </c:pt>
                </c:lvl>
                <c:lvl>
                  <c:pt idx="0">
                    <c:v>2023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Pivot_Table!$I$80:$I$84</c:f>
              <c:numCache>
                <c:formatCode>General</c:formatCode>
                <c:ptCount val="2"/>
                <c:pt idx="0">
                  <c:v>26488</c:v>
                </c:pt>
                <c:pt idx="1">
                  <c:v>1539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35F-44F8-9391-B4E1A9C0DBF1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6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TABLE2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Call Completion and User Response Breakdown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5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8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9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1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2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3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4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5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7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8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9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0"/>
        <c:spPr>
          <a:solidFill>
            <a:schemeClr val="accent3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33024553571428572"/>
          <c:y val="0.18548156205238334"/>
          <c:w val="0.34184514666362809"/>
          <c:h val="0.80817658071721854"/>
        </c:manualLayout>
      </c:layout>
      <c:pieChart>
        <c:varyColors val="1"/>
        <c:ser>
          <c:idx val="0"/>
          <c:order val="0"/>
          <c:tx>
            <c:strRef>
              <c:f>Pivot_Table!$F$47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3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A32-4C73-BC57-355267BC778A}"/>
              </c:ext>
            </c:extLst>
          </c:dPt>
          <c:dPt>
            <c:idx val="1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A32-4C73-BC57-355267BC778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A32-4C73-BC57-355267BC778A}"/>
              </c:ext>
            </c:extLst>
          </c:dPt>
          <c:dPt>
            <c:idx val="3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A32-4C73-BC57-355267BC778A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A32-4C73-BC57-355267BC778A}"/>
              </c:ext>
            </c:extLst>
          </c:dPt>
          <c:dPt>
            <c:idx val="5"/>
            <c:bubble3D val="0"/>
            <c:spPr>
              <a:solidFill>
                <a:schemeClr val="accent3">
                  <a:tint val="3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A32-4C73-BC57-355267BC778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Pivot_Table!$E$48:$E$52</c:f>
              <c:strCache>
                <c:ptCount val="5"/>
                <c:pt idx="0">
                  <c:v>busy</c:v>
                </c:pt>
                <c:pt idx="1">
                  <c:v>completed</c:v>
                </c:pt>
                <c:pt idx="2">
                  <c:v>failed</c:v>
                </c:pt>
                <c:pt idx="3">
                  <c:v>incomplete</c:v>
                </c:pt>
                <c:pt idx="4">
                  <c:v>no-answer</c:v>
                </c:pt>
              </c:strCache>
            </c:strRef>
          </c:cat>
          <c:val>
            <c:numRef>
              <c:f>Pivot_Table!$F$48:$F$52</c:f>
              <c:numCache>
                <c:formatCode>General</c:formatCode>
                <c:ptCount val="5"/>
                <c:pt idx="0">
                  <c:v>1270</c:v>
                </c:pt>
                <c:pt idx="1">
                  <c:v>3453</c:v>
                </c:pt>
                <c:pt idx="2">
                  <c:v>1214</c:v>
                </c:pt>
                <c:pt idx="3">
                  <c:v>875</c:v>
                </c:pt>
                <c:pt idx="4">
                  <c:v>1729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A32-4C73-BC57-355267BC778A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TABLE9</c:name>
    <c:fmtId val="2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Platform Usage and Sales Performance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</c:pivotFmt>
      <c:pivotFmt>
        <c:idx val="7"/>
      </c:pivotFmt>
      <c:pivotFmt>
        <c:idx val="8"/>
      </c:pivotFmt>
      <c:pivotFmt>
        <c:idx val="9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</c:pivotFmt>
      <c:pivotFmt>
        <c:idx val="11"/>
      </c:pivotFmt>
      <c:pivotFmt>
        <c:idx val="12"/>
      </c:pivotFmt>
      <c:pivotFmt>
        <c:idx val="13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16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7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19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20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21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  <c:pivotFmt>
        <c:idx val="23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  <c:dLbl>
          <c:idx val="0"/>
          <c:layout>
            <c:manualLayout>
              <c:x val="-2.1233251756552118E-2"/>
              <c:y val="0.1513350682255369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cap="none" spc="0" baseline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1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2180409472652021"/>
                  <c:h val="0.13286683143759098"/>
                </c:manualLayout>
              </c15:layout>
            </c:ext>
          </c:extLst>
        </c:dLbl>
      </c:pivotFmt>
      <c:pivotFmt>
        <c:idx val="24"/>
        <c:spPr>
          <a:gradFill rotWithShape="1">
            <a:gsLst>
              <a:gs pos="0">
                <a:schemeClr val="accent3">
                  <a:tint val="100000"/>
                  <a:shade val="100000"/>
                  <a:satMod val="130000"/>
                </a:schemeClr>
              </a:gs>
              <a:gs pos="100000">
                <a:schemeClr val="accent3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29670866116174049"/>
          <c:y val="0.24215996913069843"/>
          <c:w val="0.37101951261362442"/>
          <c:h val="0.75711901218234934"/>
        </c:manualLayout>
      </c:layout>
      <c:pieChart>
        <c:varyColors val="1"/>
        <c:ser>
          <c:idx val="0"/>
          <c:order val="0"/>
          <c:tx>
            <c:strRef>
              <c:f>Pivot_Table!$I$91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3">
                      <a:tint val="65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65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F4-4973-AD0E-C06A8AAA3979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F4-4973-AD0E-C06A8AAA3979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65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shade val="65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F4-4973-AD0E-C06A8AAA3979}"/>
              </c:ext>
            </c:extLst>
          </c:dPt>
          <c:dLbls>
            <c:dLbl>
              <c:idx val="1"/>
              <c:layout>
                <c:manualLayout>
                  <c:x val="-2.6246081510888881E-2"/>
                  <c:y val="1.0713243952206495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80409472652021"/>
                      <c:h val="0.1328668314375909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1F4-4973-AD0E-C06A8AAA39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Pivot_Table!$H$92:$H$94</c:f>
              <c:strCache>
                <c:ptCount val="3"/>
                <c:pt idx="0">
                  <c:v>app</c:v>
                </c:pt>
                <c:pt idx="1">
                  <c:v>dashboard</c:v>
                </c:pt>
                <c:pt idx="2">
                  <c:v>gurucool</c:v>
                </c:pt>
              </c:strCache>
            </c:strRef>
          </c:cat>
          <c:val>
            <c:numRef>
              <c:f>Pivot_Table!$I$92:$I$94</c:f>
              <c:numCache>
                <c:formatCode>General</c:formatCode>
                <c:ptCount val="3"/>
                <c:pt idx="0">
                  <c:v>7800</c:v>
                </c:pt>
                <c:pt idx="1">
                  <c:v>2</c:v>
                </c:pt>
                <c:pt idx="2">
                  <c:v>20225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F4-4973-AD0E-C06A8AAA3979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sng" strike="noStrike" kern="120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Revenue AND Astrologers Earnings for each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ndard"/>
        <c:varyColors val="0"/>
        <c:ser>
          <c:idx val="0"/>
          <c:order val="0"/>
          <c:tx>
            <c:v>Sum of astrologersEarnings</c:v>
          </c:tx>
          <c:spPr>
            <a:solidFill>
              <a:schemeClr val="accent3">
                <a:tint val="77000"/>
              </a:schemeClr>
            </a:solidFill>
            <a:ln>
              <a:noFill/>
            </a:ln>
            <a:effectLst/>
            <a:sp3d/>
          </c:spPr>
          <c:invertIfNegative val="0"/>
          <c:cat>
            <c:strLit>
              <c:ptCount val="4"/>
              <c:pt idx="0">
                <c:v>Call</c:v>
              </c:pt>
              <c:pt idx="1">
                <c:v>Chat</c:v>
              </c:pt>
              <c:pt idx="2">
                <c:v>Complementary</c:v>
              </c:pt>
              <c:pt idx="3">
                <c:v>public_live_Call</c:v>
              </c:pt>
            </c:strLit>
          </c:cat>
          <c:val>
            <c:numLit>
              <c:formatCode>General</c:formatCode>
              <c:ptCount val="4"/>
              <c:pt idx="0">
                <c:v>77799.439833333439</c:v>
              </c:pt>
              <c:pt idx="1">
                <c:v>21338.641500000009</c:v>
              </c:pt>
              <c:pt idx="2">
                <c:v>0</c:v>
              </c:pt>
              <c:pt idx="3">
                <c:v>8.4896166666666595</c:v>
              </c:pt>
            </c:numLit>
          </c:val>
          <c:extLst>
            <c:ext xmlns:c16="http://schemas.microsoft.com/office/drawing/2014/chart" uri="{C3380CC4-5D6E-409C-BE32-E72D297353CC}">
              <c16:uniqueId val="{00000000-C4AC-4231-9F30-E87EA4935DF0}"/>
            </c:ext>
          </c:extLst>
        </c:ser>
        <c:ser>
          <c:idx val="1"/>
          <c:order val="1"/>
          <c:tx>
            <c:v>Sum of netAmount</c:v>
          </c:tx>
          <c:spPr>
            <a:solidFill>
              <a:schemeClr val="accent3">
                <a:shade val="76000"/>
              </a:schemeClr>
            </a:solidFill>
            <a:ln>
              <a:noFill/>
            </a:ln>
            <a:effectLst/>
            <a:sp3d/>
          </c:spPr>
          <c:invertIfNegative val="0"/>
          <c:cat>
            <c:strLit>
              <c:ptCount val="4"/>
              <c:pt idx="0">
                <c:v>Call</c:v>
              </c:pt>
              <c:pt idx="1">
                <c:v>Chat</c:v>
              </c:pt>
              <c:pt idx="2">
                <c:v>Complementary</c:v>
              </c:pt>
              <c:pt idx="3">
                <c:v>public_live_Call</c:v>
              </c:pt>
            </c:strLit>
          </c:cat>
          <c:val>
            <c:numLit>
              <c:formatCode>General</c:formatCode>
              <c:ptCount val="4"/>
              <c:pt idx="0">
                <c:v>168442.03500000015</c:v>
              </c:pt>
              <c:pt idx="1">
                <c:v>45494.683333333334</c:v>
              </c:pt>
              <c:pt idx="2">
                <c:v>0</c:v>
              </c:pt>
              <c:pt idx="3">
                <c:v>50.596999999999902</c:v>
              </c:pt>
            </c:numLit>
          </c:val>
          <c:extLst>
            <c:ext xmlns:c16="http://schemas.microsoft.com/office/drawing/2014/chart" uri="{C3380CC4-5D6E-409C-BE32-E72D297353CC}">
              <c16:uniqueId val="{00000001-C4AC-4231-9F30-E87EA4935D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374178584"/>
        <c:axId val="374180024"/>
        <c:axId val="850017416"/>
      </c:bar3DChart>
      <c:catAx>
        <c:axId val="374178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PRODUCTS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180024"/>
        <c:crosses val="autoZero"/>
        <c:auto val="1"/>
        <c:lblAlgn val="ctr"/>
        <c:lblOffset val="100"/>
        <c:noMultiLvlLbl val="0"/>
      </c:catAx>
      <c:valAx>
        <c:axId val="374180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>
                    <a:solidFill>
                      <a:schemeClr val="tx1"/>
                    </a:solidFill>
                  </a:rPr>
                  <a:t>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3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4178584"/>
        <c:crosses val="autoZero"/>
        <c:crossBetween val="between"/>
      </c:valAx>
      <c:serAx>
        <c:axId val="850017416"/>
        <c:scaling>
          <c:orientation val="minMax"/>
        </c:scaling>
        <c:delete val="1"/>
        <c:axPos val="b"/>
        <c:majorTickMark val="none"/>
        <c:minorTickMark val="none"/>
        <c:tickLblPos val="nextTo"/>
        <c:crossAx val="374180024"/>
        <c:crosses val="autoZero"/>
      </c:ser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pivotSource>
    <c:name>[AstroSage_analysis_BY_LakshyaHasija.xlsx]Pivot_Table!SUGGESTED PIVOT TABLE1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sng" strike="noStrike" kern="1200" cap="none" spc="0" baseline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600" b="0" i="0" u="sng" strike="noStrike" cap="none" baseline="0" dirty="0">
                <a:effectLst>
                  <a:outerShdw blurRad="38100" dist="19050" dir="2700000" algn="tl" rotWithShape="0">
                    <a:srgbClr val="191919">
                      <a:alpha val="40000"/>
                    </a:srgbClr>
                  </a:outerShdw>
                </a:effectLst>
              </a:rPr>
              <a:t>User Rating Distribution</a:t>
            </a:r>
            <a:endParaRPr lang="en-US" sz="16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sng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</c:pivotFmt>
      <c:pivotFmt>
        <c:idx val="23"/>
      </c:pivotFmt>
      <c:pivotFmt>
        <c:idx val="24"/>
      </c:pivotFmt>
      <c:pivotFmt>
        <c:idx val="25"/>
      </c:pivotFmt>
      <c:pivotFmt>
        <c:idx val="26"/>
      </c:pivotFmt>
      <c:pivotFmt>
        <c:idx val="27"/>
      </c:pivotFmt>
      <c:pivotFmt>
        <c:idx val="28"/>
      </c:pivotFmt>
      <c:pivotFmt>
        <c:idx val="29"/>
      </c:pivotFmt>
      <c:pivotFmt>
        <c:idx val="30"/>
      </c:pivotFmt>
      <c:pivotFmt>
        <c:idx val="3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1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3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4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5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6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7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8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9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60"/>
        <c:spPr>
          <a:solidFill>
            <a:schemeClr val="accent3"/>
          </a:solidFill>
          <a:ln w="1905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Pivot_Table!$C$47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44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212-41C0-9C2A-25A18C79540D}"/>
              </c:ext>
            </c:extLst>
          </c:dPt>
          <c:dPt>
            <c:idx val="1"/>
            <c:bubble3D val="0"/>
            <c:spPr>
              <a:solidFill>
                <a:schemeClr val="accent3">
                  <a:shade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212-41C0-9C2A-25A18C79540D}"/>
              </c:ext>
            </c:extLst>
          </c:dPt>
          <c:dPt>
            <c:idx val="2"/>
            <c:bubble3D val="0"/>
            <c:spPr>
              <a:solidFill>
                <a:schemeClr val="accent3">
                  <a:shade val="72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212-41C0-9C2A-25A18C79540D}"/>
              </c:ext>
            </c:extLst>
          </c:dPt>
          <c:dPt>
            <c:idx val="3"/>
            <c:bubble3D val="0"/>
            <c:spPr>
              <a:solidFill>
                <a:schemeClr val="accent3">
                  <a:shade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212-41C0-9C2A-25A18C79540D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B212-41C0-9C2A-25A18C79540D}"/>
              </c:ext>
            </c:extLst>
          </c:dPt>
          <c:dPt>
            <c:idx val="5"/>
            <c:bubble3D val="0"/>
            <c:spPr>
              <a:solidFill>
                <a:schemeClr val="accent3">
                  <a:tint val="86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B212-41C0-9C2A-25A18C79540D}"/>
              </c:ext>
            </c:extLst>
          </c:dPt>
          <c:dPt>
            <c:idx val="6"/>
            <c:bubble3D val="0"/>
            <c:spPr>
              <a:solidFill>
                <a:schemeClr val="accent3">
                  <a:tint val="72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B212-41C0-9C2A-25A18C79540D}"/>
              </c:ext>
            </c:extLst>
          </c:dPt>
          <c:dPt>
            <c:idx val="7"/>
            <c:bubble3D val="0"/>
            <c:spPr>
              <a:solidFill>
                <a:schemeClr val="accent3">
                  <a:tint val="58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B212-41C0-9C2A-25A18C79540D}"/>
              </c:ext>
            </c:extLst>
          </c:dPt>
          <c:dPt>
            <c:idx val="8"/>
            <c:bubble3D val="0"/>
            <c:spPr>
              <a:solidFill>
                <a:schemeClr val="accent3">
                  <a:tint val="44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B212-41C0-9C2A-25A18C7954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none" spc="0" baseline="0">
                    <a:ln w="0"/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Pivot_Table!$B$48:$B$56</c:f>
              <c:strCach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strCache>
            </c:strRef>
          </c:cat>
          <c:val>
            <c:numRef>
              <c:f>Pivot_Table!$C$48:$C$56</c:f>
              <c:numCache>
                <c:formatCode>General</c:formatCode>
                <c:ptCount val="9"/>
                <c:pt idx="0">
                  <c:v>7256</c:v>
                </c:pt>
                <c:pt idx="1">
                  <c:v>2199</c:v>
                </c:pt>
                <c:pt idx="2">
                  <c:v>4329</c:v>
                </c:pt>
                <c:pt idx="3">
                  <c:v>4407</c:v>
                </c:pt>
                <c:pt idx="4">
                  <c:v>2132</c:v>
                </c:pt>
                <c:pt idx="5">
                  <c:v>2169</c:v>
                </c:pt>
                <c:pt idx="6">
                  <c:v>1829</c:v>
                </c:pt>
                <c:pt idx="7">
                  <c:v>1824</c:v>
                </c:pt>
                <c:pt idx="8">
                  <c:v>1882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12-41C0-9C2A-25A18C79540D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1023795086066722E-3"/>
          <c:y val="0.85109204615201328"/>
          <c:w val="0.98028196911419074"/>
          <c:h val="0.125925445587705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cap="none" spc="0" baseline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5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9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c9677746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c9677746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2C39FFA6-C764-64E4-6E25-8E7DD1AA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967C6ACD-2CFB-A6D5-0F51-802A37593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7A903C31-172D-0B9E-5A9C-CF029C51F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795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928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72FBF6E1-5DBD-75A4-D00D-C97E2CBE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67AB6476-6FCD-79BC-70CF-26E025E89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B2621B10-E4C7-8CB7-E5C1-A54A289EC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579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F6BF2EA8-DD1A-93B9-CB8C-F1774C3A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73C3F1A2-9E81-270B-2D1E-BC3AB4814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C950BC50-3347-2018-ECB8-C28401287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619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78799BF2-2221-7ADC-AA3C-8E6730CD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CC4E3E5A-4650-99C5-E3FD-886B4FF709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C53F80C7-7C1E-708F-80D9-7EDBC5EE21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0844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5C0F8B14-7DE4-8DF6-C02D-CDFD1598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D6F81874-F8C7-D41E-AC2C-85C2903F40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0DE731EA-9E43-00EE-DBD5-F593E2F83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260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>
          <a:extLst>
            <a:ext uri="{FF2B5EF4-FFF2-40B4-BE49-F238E27FC236}">
              <a16:creationId xmlns:a16="http://schemas.microsoft.com/office/drawing/2014/main" id="{3BD51310-62DE-5AED-456C-11556485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c9e48aae6e_0_0:notes">
            <a:extLst>
              <a:ext uri="{FF2B5EF4-FFF2-40B4-BE49-F238E27FC236}">
                <a16:creationId xmlns:a16="http://schemas.microsoft.com/office/drawing/2014/main" id="{F1F51DF9-B426-76D1-4D6A-470E2DF56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c9e48aae6e_0_0:notes">
            <a:extLst>
              <a:ext uri="{FF2B5EF4-FFF2-40B4-BE49-F238E27FC236}">
                <a16:creationId xmlns:a16="http://schemas.microsoft.com/office/drawing/2014/main" id="{76C5CECE-1896-1B3F-B64D-F16CC30935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12701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>
          <a:extLst>
            <a:ext uri="{FF2B5EF4-FFF2-40B4-BE49-F238E27FC236}">
              <a16:creationId xmlns:a16="http://schemas.microsoft.com/office/drawing/2014/main" id="{E85E6A00-8172-2590-4D23-E07D034A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c9677746b4_0_83:notes">
            <a:extLst>
              <a:ext uri="{FF2B5EF4-FFF2-40B4-BE49-F238E27FC236}">
                <a16:creationId xmlns:a16="http://schemas.microsoft.com/office/drawing/2014/main" id="{EFE6D01C-8978-0C1F-35AF-3F85FB34C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c9677746b4_0_83:notes">
            <a:extLst>
              <a:ext uri="{FF2B5EF4-FFF2-40B4-BE49-F238E27FC236}">
                <a16:creationId xmlns:a16="http://schemas.microsoft.com/office/drawing/2014/main" id="{2C26802B-2EC7-F402-68A1-9BC9D9D9C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8037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>
          <a:extLst>
            <a:ext uri="{FF2B5EF4-FFF2-40B4-BE49-F238E27FC236}">
              <a16:creationId xmlns:a16="http://schemas.microsoft.com/office/drawing/2014/main" id="{9A060206-6521-B813-2774-2F239DBA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c9677746b4_0_83:notes">
            <a:extLst>
              <a:ext uri="{FF2B5EF4-FFF2-40B4-BE49-F238E27FC236}">
                <a16:creationId xmlns:a16="http://schemas.microsoft.com/office/drawing/2014/main" id="{A774A48D-921C-525B-06DE-3C97A58C8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c9677746b4_0_83:notes">
            <a:extLst>
              <a:ext uri="{FF2B5EF4-FFF2-40B4-BE49-F238E27FC236}">
                <a16:creationId xmlns:a16="http://schemas.microsoft.com/office/drawing/2014/main" id="{2A7EB1E2-A0DD-6DDB-1EFF-B882CCCEF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446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c9677746b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c9677746b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3">
          <a:extLst>
            <a:ext uri="{FF2B5EF4-FFF2-40B4-BE49-F238E27FC236}">
              <a16:creationId xmlns:a16="http://schemas.microsoft.com/office/drawing/2014/main" id="{85A7D679-41CD-D9C4-7DE1-84993A21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c9677746b4_0_115:notes">
            <a:extLst>
              <a:ext uri="{FF2B5EF4-FFF2-40B4-BE49-F238E27FC236}">
                <a16:creationId xmlns:a16="http://schemas.microsoft.com/office/drawing/2014/main" id="{E283D605-7C25-0A28-4974-C6AAEB374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c9677746b4_0_115:notes">
            <a:extLst>
              <a:ext uri="{FF2B5EF4-FFF2-40B4-BE49-F238E27FC236}">
                <a16:creationId xmlns:a16="http://schemas.microsoft.com/office/drawing/2014/main" id="{646FFF85-B1DC-3865-DDA0-E8CC5DE83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4574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58550" y="1097063"/>
            <a:ext cx="7626900" cy="152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Chango"/>
                <a:ea typeface="Chango"/>
                <a:cs typeface="Chango"/>
                <a:sym typeface="Chang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58550" y="2618063"/>
            <a:ext cx="7626900" cy="3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3F5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139050" y="113696"/>
            <a:ext cx="8932166" cy="4943608"/>
            <a:chOff x="139050" y="113696"/>
            <a:chExt cx="8932166" cy="4943608"/>
          </a:xfrm>
        </p:grpSpPr>
        <p:sp>
          <p:nvSpPr>
            <p:cNvPr id="15" name="Google Shape;15;p2"/>
            <p:cNvSpPr/>
            <p:nvPr/>
          </p:nvSpPr>
          <p:spPr>
            <a:xfrm>
              <a:off x="8985675" y="1600607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1" y="1"/>
                  </a:moveTo>
                  <a:cubicBezTo>
                    <a:pt x="476" y="173"/>
                    <a:pt x="451" y="345"/>
                    <a:pt x="410" y="518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17" y="641"/>
                    <a:pt x="33" y="641"/>
                  </a:cubicBezTo>
                  <a:cubicBezTo>
                    <a:pt x="156" y="681"/>
                    <a:pt x="279" y="706"/>
                    <a:pt x="410" y="731"/>
                  </a:cubicBezTo>
                  <a:cubicBezTo>
                    <a:pt x="443" y="895"/>
                    <a:pt x="468" y="1067"/>
                    <a:pt x="525" y="1231"/>
                  </a:cubicBezTo>
                  <a:cubicBezTo>
                    <a:pt x="558" y="1067"/>
                    <a:pt x="607" y="895"/>
                    <a:pt x="656" y="731"/>
                  </a:cubicBezTo>
                  <a:lnTo>
                    <a:pt x="1066" y="624"/>
                  </a:lnTo>
                  <a:cubicBezTo>
                    <a:pt x="919" y="591"/>
                    <a:pt x="779" y="559"/>
                    <a:pt x="632" y="526"/>
                  </a:cubicBezTo>
                  <a:cubicBezTo>
                    <a:pt x="591" y="362"/>
                    <a:pt x="542" y="173"/>
                    <a:pt x="50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216153" y="113696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39050" y="1357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900141" y="13570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752354" y="49592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496277" y="4877793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738929" y="491853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4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40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89826"/>
            <a:ext cx="7707600" cy="3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>
                <a:latin typeface="Antic"/>
                <a:ea typeface="Antic"/>
                <a:cs typeface="Antic"/>
                <a:sym typeface="Antic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176500" y="81346"/>
            <a:ext cx="8800358" cy="4994823"/>
            <a:chOff x="176500" y="81346"/>
            <a:chExt cx="8800358" cy="4994823"/>
          </a:xfrm>
        </p:grpSpPr>
        <p:sp>
          <p:nvSpPr>
            <p:cNvPr id="56" name="Google Shape;56;p4"/>
            <p:cNvSpPr/>
            <p:nvPr/>
          </p:nvSpPr>
          <p:spPr>
            <a:xfrm>
              <a:off x="3103303" y="81346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176500" y="166917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891316" y="1795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5930479" y="49728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184516" y="48204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215652" y="489666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8805779" y="4896681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body" idx="1"/>
          </p:nvPr>
        </p:nvSpPr>
        <p:spPr>
          <a:xfrm>
            <a:off x="720000" y="1575000"/>
            <a:ext cx="5476500" cy="238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unito Light"/>
              <a:buChar char="●"/>
              <a:defRPr sz="1400">
                <a:latin typeface="Antic"/>
                <a:ea typeface="Antic"/>
                <a:cs typeface="Antic"/>
                <a:sym typeface="Antic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106" name="Google Shape;106;p7"/>
            <p:cNvGrpSpPr/>
            <p:nvPr/>
          </p:nvGrpSpPr>
          <p:grpSpPr>
            <a:xfrm>
              <a:off x="176500" y="81346"/>
              <a:ext cx="8876558" cy="4994823"/>
              <a:chOff x="176500" y="81346"/>
              <a:chExt cx="8876558" cy="4994823"/>
            </a:xfrm>
          </p:grpSpPr>
          <p:sp>
            <p:nvSpPr>
              <p:cNvPr id="107" name="Google Shape;107;p7"/>
              <p:cNvSpPr/>
              <p:nvPr/>
            </p:nvSpPr>
            <p:spPr>
              <a:xfrm>
                <a:off x="3103303" y="81346"/>
                <a:ext cx="123622" cy="142061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772" extrusionOk="0">
                    <a:moveTo>
                      <a:pt x="730" y="0"/>
                    </a:moveTo>
                    <a:cubicBezTo>
                      <a:pt x="697" y="246"/>
                      <a:pt x="648" y="492"/>
                      <a:pt x="590" y="730"/>
                    </a:cubicBezTo>
                    <a:cubicBezTo>
                      <a:pt x="394" y="787"/>
                      <a:pt x="205" y="836"/>
                      <a:pt x="16" y="902"/>
                    </a:cubicBezTo>
                    <a:cubicBezTo>
                      <a:pt x="0" y="902"/>
                      <a:pt x="33" y="910"/>
                      <a:pt x="49" y="918"/>
                    </a:cubicBezTo>
                    <a:cubicBezTo>
                      <a:pt x="230" y="968"/>
                      <a:pt x="410" y="1009"/>
                      <a:pt x="590" y="1041"/>
                    </a:cubicBezTo>
                    <a:cubicBezTo>
                      <a:pt x="648" y="1279"/>
                      <a:pt x="689" y="1525"/>
                      <a:pt x="763" y="1771"/>
                    </a:cubicBezTo>
                    <a:cubicBezTo>
                      <a:pt x="812" y="1525"/>
                      <a:pt x="877" y="1287"/>
                      <a:pt x="959" y="1050"/>
                    </a:cubicBezTo>
                    <a:lnTo>
                      <a:pt x="1541" y="894"/>
                    </a:lnTo>
                    <a:cubicBezTo>
                      <a:pt x="1336" y="845"/>
                      <a:pt x="1123" y="804"/>
                      <a:pt x="918" y="754"/>
                    </a:cubicBezTo>
                    <a:cubicBezTo>
                      <a:pt x="861" y="508"/>
                      <a:pt x="787" y="238"/>
                      <a:pt x="7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176500" y="166917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8967516" y="10335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6082879" y="49728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>
                <a:off x="184516" y="48204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>
                <a:off x="3444252" y="4896668"/>
                <a:ext cx="157133" cy="179501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2239" extrusionOk="0">
                    <a:moveTo>
                      <a:pt x="935" y="0"/>
                    </a:moveTo>
                    <a:cubicBezTo>
                      <a:pt x="886" y="312"/>
                      <a:pt x="828" y="623"/>
                      <a:pt x="754" y="927"/>
                    </a:cubicBezTo>
                    <a:cubicBezTo>
                      <a:pt x="508" y="1000"/>
                      <a:pt x="271" y="1066"/>
                      <a:pt x="25" y="1148"/>
                    </a:cubicBezTo>
                    <a:cubicBezTo>
                      <a:pt x="0" y="1148"/>
                      <a:pt x="49" y="1156"/>
                      <a:pt x="66" y="1164"/>
                    </a:cubicBezTo>
                    <a:cubicBezTo>
                      <a:pt x="295" y="1230"/>
                      <a:pt x="525" y="1279"/>
                      <a:pt x="754" y="1320"/>
                    </a:cubicBezTo>
                    <a:cubicBezTo>
                      <a:pt x="828" y="1623"/>
                      <a:pt x="877" y="1935"/>
                      <a:pt x="968" y="2238"/>
                    </a:cubicBezTo>
                    <a:cubicBezTo>
                      <a:pt x="1033" y="1935"/>
                      <a:pt x="1115" y="1623"/>
                      <a:pt x="1222" y="1328"/>
                    </a:cubicBezTo>
                    <a:lnTo>
                      <a:pt x="1960" y="1132"/>
                    </a:lnTo>
                    <a:cubicBezTo>
                      <a:pt x="1697" y="1074"/>
                      <a:pt x="1435" y="1017"/>
                      <a:pt x="1172" y="959"/>
                    </a:cubicBezTo>
                    <a:cubicBezTo>
                      <a:pt x="1099" y="648"/>
                      <a:pt x="1009" y="303"/>
                      <a:pt x="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>
                <a:off x="8729579" y="493740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4" name="Google Shape;114;p7"/>
            <p:cNvSpPr/>
            <p:nvPr/>
          </p:nvSpPr>
          <p:spPr>
            <a:xfrm>
              <a:off x="5982175" y="813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 txBox="1">
            <a:spLocks noGrp="1"/>
          </p:cNvSpPr>
          <p:nvPr>
            <p:ph type="title"/>
          </p:nvPr>
        </p:nvSpPr>
        <p:spPr>
          <a:xfrm>
            <a:off x="2331725" y="1970250"/>
            <a:ext cx="4480500" cy="16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20" name="Google Shape;120;p8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121" name="Google Shape;121;p8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122" name="Google Shape;122;p8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123" name="Google Shape;123;p8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8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8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8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8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8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8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30" name="Google Shape;130;p8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" name="Google Shape;131;p8"/>
            <p:cNvSpPr/>
            <p:nvPr/>
          </p:nvSpPr>
          <p:spPr>
            <a:xfrm>
              <a:off x="8404744" y="33975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8"/>
            <p:cNvSpPr/>
            <p:nvPr/>
          </p:nvSpPr>
          <p:spPr>
            <a:xfrm>
              <a:off x="4926175" y="4641779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8"/>
            <p:cNvSpPr/>
            <p:nvPr/>
          </p:nvSpPr>
          <p:spPr>
            <a:xfrm>
              <a:off x="5721354" y="1224968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8"/>
            <p:cNvSpPr/>
            <p:nvPr/>
          </p:nvSpPr>
          <p:spPr>
            <a:xfrm>
              <a:off x="6803443" y="3195694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2863814" y="339546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8665883" y="14731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801994" y="43013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4970908" y="455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2096819" y="1933910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4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6" name="Google Shape;676;p34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7" name="Google Shape;677;p34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678" name="Google Shape;678;p34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679" name="Google Shape;679;p34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680" name="Google Shape;680;p34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34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34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34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34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34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34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87" name="Google Shape;687;p34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8" name="Google Shape;688;p34"/>
            <p:cNvSpPr/>
            <p:nvPr/>
          </p:nvSpPr>
          <p:spPr>
            <a:xfrm>
              <a:off x="8709544" y="33975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4926175" y="4641779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8665883" y="14731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801994" y="43013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4970908" y="455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5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5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7" name="Google Shape;697;p35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8" name="Google Shape;698;p35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699" name="Google Shape;699;p35"/>
            <p:cNvGrpSpPr/>
            <p:nvPr/>
          </p:nvGrpSpPr>
          <p:grpSpPr>
            <a:xfrm>
              <a:off x="176500" y="81342"/>
              <a:ext cx="8876558" cy="4994827"/>
              <a:chOff x="176500" y="81342"/>
              <a:chExt cx="8876558" cy="4994827"/>
            </a:xfrm>
          </p:grpSpPr>
          <p:grpSp>
            <p:nvGrpSpPr>
              <p:cNvPr id="700" name="Google Shape;700;p35"/>
              <p:cNvGrpSpPr/>
              <p:nvPr/>
            </p:nvGrpSpPr>
            <p:grpSpPr>
              <a:xfrm>
                <a:off x="176500" y="81346"/>
                <a:ext cx="8876558" cy="4994823"/>
                <a:chOff x="176500" y="81346"/>
                <a:chExt cx="8876558" cy="4994823"/>
              </a:xfrm>
            </p:grpSpPr>
            <p:sp>
              <p:nvSpPr>
                <p:cNvPr id="701" name="Google Shape;701;p35"/>
                <p:cNvSpPr/>
                <p:nvPr/>
              </p:nvSpPr>
              <p:spPr>
                <a:xfrm>
                  <a:off x="3103303" y="813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35"/>
                <p:cNvSpPr/>
                <p:nvPr/>
              </p:nvSpPr>
              <p:spPr>
                <a:xfrm>
                  <a:off x="176500" y="1669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35"/>
                <p:cNvSpPr/>
                <p:nvPr/>
              </p:nvSpPr>
              <p:spPr>
                <a:xfrm>
                  <a:off x="8967516" y="1033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35"/>
                <p:cNvSpPr/>
                <p:nvPr/>
              </p:nvSpPr>
              <p:spPr>
                <a:xfrm>
                  <a:off x="6082879" y="49728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5" name="Google Shape;705;p35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6" name="Google Shape;706;p35"/>
                <p:cNvSpPr/>
                <p:nvPr/>
              </p:nvSpPr>
              <p:spPr>
                <a:xfrm>
                  <a:off x="3444252" y="48966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7" name="Google Shape;707;p35"/>
                <p:cNvSpPr/>
                <p:nvPr/>
              </p:nvSpPr>
              <p:spPr>
                <a:xfrm>
                  <a:off x="8729579" y="493740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8" name="Google Shape;708;p35"/>
              <p:cNvSpPr/>
              <p:nvPr/>
            </p:nvSpPr>
            <p:spPr>
              <a:xfrm>
                <a:off x="5982175" y="813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9" name="Google Shape;709;p35"/>
            <p:cNvSpPr/>
            <p:nvPr/>
          </p:nvSpPr>
          <p:spPr>
            <a:xfrm>
              <a:off x="8114744" y="4195547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4555988" y="4244854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6341929" y="916356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8286393" y="556032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5"/>
            <p:cNvSpPr/>
            <p:nvPr/>
          </p:nvSpPr>
          <p:spPr>
            <a:xfrm>
              <a:off x="3601389" y="1614680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8437283" y="12445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807015" y="894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1364069" y="433408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5"/>
            <p:cNvSpPr/>
            <p:nvPr/>
          </p:nvSpPr>
          <p:spPr>
            <a:xfrm>
              <a:off x="4742308" y="5315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5"/>
            <p:cNvSpPr/>
            <p:nvPr/>
          </p:nvSpPr>
          <p:spPr>
            <a:xfrm>
              <a:off x="1192419" y="1565835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6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36"/>
          <p:cNvGrpSpPr/>
          <p:nvPr/>
        </p:nvGrpSpPr>
        <p:grpSpPr>
          <a:xfrm>
            <a:off x="184516" y="233742"/>
            <a:ext cx="8639941" cy="4766227"/>
            <a:chOff x="184516" y="233742"/>
            <a:chExt cx="8639941" cy="4766227"/>
          </a:xfrm>
        </p:grpSpPr>
        <p:grpSp>
          <p:nvGrpSpPr>
            <p:cNvPr id="722" name="Google Shape;722;p36"/>
            <p:cNvGrpSpPr/>
            <p:nvPr/>
          </p:nvGrpSpPr>
          <p:grpSpPr>
            <a:xfrm>
              <a:off x="184516" y="233742"/>
              <a:ext cx="8639941" cy="4766227"/>
              <a:chOff x="184516" y="233742"/>
              <a:chExt cx="8639941" cy="4766227"/>
            </a:xfrm>
          </p:grpSpPr>
          <p:grpSp>
            <p:nvGrpSpPr>
              <p:cNvPr id="723" name="Google Shape;723;p36"/>
              <p:cNvGrpSpPr/>
              <p:nvPr/>
            </p:nvGrpSpPr>
            <p:grpSpPr>
              <a:xfrm>
                <a:off x="184516" y="233746"/>
                <a:ext cx="8639941" cy="4766223"/>
                <a:chOff x="184516" y="233746"/>
                <a:chExt cx="8639941" cy="4766223"/>
              </a:xfrm>
            </p:grpSpPr>
            <p:sp>
              <p:nvSpPr>
                <p:cNvPr id="724" name="Google Shape;724;p36"/>
                <p:cNvSpPr/>
                <p:nvPr/>
              </p:nvSpPr>
              <p:spPr>
                <a:xfrm>
                  <a:off x="3103303" y="233746"/>
                  <a:ext cx="123622" cy="1420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2" h="1772" extrusionOk="0">
                      <a:moveTo>
                        <a:pt x="730" y="0"/>
                      </a:moveTo>
                      <a:cubicBezTo>
                        <a:pt x="697" y="246"/>
                        <a:pt x="648" y="492"/>
                        <a:pt x="590" y="730"/>
                      </a:cubicBezTo>
                      <a:cubicBezTo>
                        <a:pt x="394" y="787"/>
                        <a:pt x="205" y="836"/>
                        <a:pt x="16" y="902"/>
                      </a:cubicBezTo>
                      <a:cubicBezTo>
                        <a:pt x="0" y="902"/>
                        <a:pt x="33" y="910"/>
                        <a:pt x="49" y="918"/>
                      </a:cubicBezTo>
                      <a:cubicBezTo>
                        <a:pt x="230" y="968"/>
                        <a:pt x="410" y="1009"/>
                        <a:pt x="590" y="1041"/>
                      </a:cubicBezTo>
                      <a:cubicBezTo>
                        <a:pt x="648" y="1279"/>
                        <a:pt x="689" y="1525"/>
                        <a:pt x="763" y="1771"/>
                      </a:cubicBezTo>
                      <a:cubicBezTo>
                        <a:pt x="812" y="1525"/>
                        <a:pt x="877" y="1287"/>
                        <a:pt x="959" y="1050"/>
                      </a:cubicBezTo>
                      <a:lnTo>
                        <a:pt x="1541" y="894"/>
                      </a:lnTo>
                      <a:cubicBezTo>
                        <a:pt x="1336" y="845"/>
                        <a:pt x="1123" y="804"/>
                        <a:pt x="918" y="754"/>
                      </a:cubicBezTo>
                      <a:cubicBezTo>
                        <a:pt x="861" y="508"/>
                        <a:pt x="787" y="238"/>
                        <a:pt x="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5" name="Google Shape;725;p36"/>
                <p:cNvSpPr/>
                <p:nvPr/>
              </p:nvSpPr>
              <p:spPr>
                <a:xfrm>
                  <a:off x="405100" y="319317"/>
                  <a:ext cx="85541" cy="9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2" extrusionOk="0">
                      <a:moveTo>
                        <a:pt x="509" y="0"/>
                      </a:moveTo>
                      <a:cubicBezTo>
                        <a:pt x="484" y="172"/>
                        <a:pt x="452" y="336"/>
                        <a:pt x="411" y="508"/>
                      </a:cubicBezTo>
                      <a:cubicBezTo>
                        <a:pt x="271" y="541"/>
                        <a:pt x="140" y="582"/>
                        <a:pt x="9" y="623"/>
                      </a:cubicBezTo>
                      <a:cubicBezTo>
                        <a:pt x="1" y="623"/>
                        <a:pt x="25" y="631"/>
                        <a:pt x="33" y="631"/>
                      </a:cubicBezTo>
                      <a:cubicBezTo>
                        <a:pt x="156" y="664"/>
                        <a:pt x="279" y="697"/>
                        <a:pt x="411" y="722"/>
                      </a:cubicBezTo>
                      <a:cubicBezTo>
                        <a:pt x="452" y="886"/>
                        <a:pt x="476" y="1058"/>
                        <a:pt x="525" y="1222"/>
                      </a:cubicBezTo>
                      <a:cubicBezTo>
                        <a:pt x="558" y="1050"/>
                        <a:pt x="607" y="886"/>
                        <a:pt x="665" y="722"/>
                      </a:cubicBezTo>
                      <a:lnTo>
                        <a:pt x="1067" y="615"/>
                      </a:lnTo>
                      <a:cubicBezTo>
                        <a:pt x="919" y="582"/>
                        <a:pt x="780" y="558"/>
                        <a:pt x="640" y="525"/>
                      </a:cubicBezTo>
                      <a:cubicBezTo>
                        <a:pt x="599" y="353"/>
                        <a:pt x="550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6" name="Google Shape;726;p36"/>
                <p:cNvSpPr/>
                <p:nvPr/>
              </p:nvSpPr>
              <p:spPr>
                <a:xfrm>
                  <a:off x="8738916" y="255756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7" name="Google Shape;727;p36"/>
                <p:cNvSpPr/>
                <p:nvPr/>
              </p:nvSpPr>
              <p:spPr>
                <a:xfrm>
                  <a:off x="6082879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8" name="Google Shape;728;p36"/>
                <p:cNvSpPr/>
                <p:nvPr/>
              </p:nvSpPr>
              <p:spPr>
                <a:xfrm>
                  <a:off x="184516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9" name="Google Shape;729;p36"/>
                <p:cNvSpPr/>
                <p:nvPr/>
              </p:nvSpPr>
              <p:spPr>
                <a:xfrm>
                  <a:off x="3520452" y="4820468"/>
                  <a:ext cx="157133" cy="17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0" h="2239" extrusionOk="0">
                      <a:moveTo>
                        <a:pt x="935" y="0"/>
                      </a:moveTo>
                      <a:cubicBezTo>
                        <a:pt x="886" y="312"/>
                        <a:pt x="828" y="623"/>
                        <a:pt x="754" y="927"/>
                      </a:cubicBezTo>
                      <a:cubicBezTo>
                        <a:pt x="508" y="1000"/>
                        <a:pt x="271" y="1066"/>
                        <a:pt x="25" y="1148"/>
                      </a:cubicBezTo>
                      <a:cubicBezTo>
                        <a:pt x="0" y="1148"/>
                        <a:pt x="49" y="1156"/>
                        <a:pt x="66" y="1164"/>
                      </a:cubicBezTo>
                      <a:cubicBezTo>
                        <a:pt x="295" y="1230"/>
                        <a:pt x="525" y="1279"/>
                        <a:pt x="754" y="1320"/>
                      </a:cubicBezTo>
                      <a:cubicBezTo>
                        <a:pt x="828" y="1623"/>
                        <a:pt x="877" y="1935"/>
                        <a:pt x="968" y="2238"/>
                      </a:cubicBezTo>
                      <a:cubicBezTo>
                        <a:pt x="1033" y="1935"/>
                        <a:pt x="1115" y="1623"/>
                        <a:pt x="1222" y="1328"/>
                      </a:cubicBezTo>
                      <a:lnTo>
                        <a:pt x="1960" y="1132"/>
                      </a:lnTo>
                      <a:cubicBezTo>
                        <a:pt x="1697" y="1074"/>
                        <a:pt x="1435" y="1017"/>
                        <a:pt x="1172" y="959"/>
                      </a:cubicBezTo>
                      <a:cubicBezTo>
                        <a:pt x="1099" y="648"/>
                        <a:pt x="1009" y="303"/>
                        <a:pt x="9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0" name="Google Shape;730;p36"/>
                <p:cNvSpPr/>
                <p:nvPr/>
              </p:nvSpPr>
              <p:spPr>
                <a:xfrm>
                  <a:off x="8653379" y="4820481"/>
                  <a:ext cx="85541" cy="98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7" h="1223" extrusionOk="0">
                      <a:moveTo>
                        <a:pt x="509" y="0"/>
                      </a:moveTo>
                      <a:cubicBezTo>
                        <a:pt x="476" y="173"/>
                        <a:pt x="452" y="337"/>
                        <a:pt x="411" y="509"/>
                      </a:cubicBezTo>
                      <a:cubicBezTo>
                        <a:pt x="272" y="542"/>
                        <a:pt x="140" y="583"/>
                        <a:pt x="9" y="624"/>
                      </a:cubicBezTo>
                      <a:cubicBezTo>
                        <a:pt x="1" y="624"/>
                        <a:pt x="26" y="632"/>
                        <a:pt x="34" y="632"/>
                      </a:cubicBezTo>
                      <a:cubicBezTo>
                        <a:pt x="157" y="673"/>
                        <a:pt x="280" y="697"/>
                        <a:pt x="411" y="722"/>
                      </a:cubicBezTo>
                      <a:cubicBezTo>
                        <a:pt x="444" y="894"/>
                        <a:pt x="476" y="1058"/>
                        <a:pt x="526" y="1222"/>
                      </a:cubicBezTo>
                      <a:cubicBezTo>
                        <a:pt x="558" y="1058"/>
                        <a:pt x="608" y="886"/>
                        <a:pt x="665" y="722"/>
                      </a:cubicBezTo>
                      <a:lnTo>
                        <a:pt x="1067" y="624"/>
                      </a:lnTo>
                      <a:cubicBezTo>
                        <a:pt x="919" y="583"/>
                        <a:pt x="780" y="558"/>
                        <a:pt x="632" y="525"/>
                      </a:cubicBezTo>
                      <a:cubicBezTo>
                        <a:pt x="591" y="353"/>
                        <a:pt x="542" y="164"/>
                        <a:pt x="5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1" name="Google Shape;731;p36"/>
              <p:cNvSpPr/>
              <p:nvPr/>
            </p:nvSpPr>
            <p:spPr>
              <a:xfrm>
                <a:off x="5982175" y="233742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32" name="Google Shape;732;p36"/>
            <p:cNvSpPr/>
            <p:nvPr/>
          </p:nvSpPr>
          <p:spPr>
            <a:xfrm>
              <a:off x="8252344" y="3702372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7039225" y="4106054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3676754" y="1131618"/>
              <a:ext cx="85541" cy="98048"/>
            </a:xfrm>
            <a:custGeom>
              <a:avLst/>
              <a:gdLst/>
              <a:ahLst/>
              <a:cxnLst/>
              <a:rect l="l" t="t" r="r" b="b"/>
              <a:pathLst>
                <a:path w="1067" h="1223" extrusionOk="0">
                  <a:moveTo>
                    <a:pt x="509" y="0"/>
                  </a:moveTo>
                  <a:cubicBezTo>
                    <a:pt x="476" y="173"/>
                    <a:pt x="452" y="337"/>
                    <a:pt x="411" y="509"/>
                  </a:cubicBezTo>
                  <a:cubicBezTo>
                    <a:pt x="272" y="542"/>
                    <a:pt x="140" y="583"/>
                    <a:pt x="9" y="624"/>
                  </a:cubicBezTo>
                  <a:cubicBezTo>
                    <a:pt x="1" y="624"/>
                    <a:pt x="26" y="632"/>
                    <a:pt x="34" y="632"/>
                  </a:cubicBezTo>
                  <a:cubicBezTo>
                    <a:pt x="157" y="673"/>
                    <a:pt x="280" y="697"/>
                    <a:pt x="411" y="722"/>
                  </a:cubicBezTo>
                  <a:cubicBezTo>
                    <a:pt x="444" y="894"/>
                    <a:pt x="476" y="1058"/>
                    <a:pt x="526" y="1222"/>
                  </a:cubicBezTo>
                  <a:cubicBezTo>
                    <a:pt x="558" y="1058"/>
                    <a:pt x="608" y="886"/>
                    <a:pt x="665" y="722"/>
                  </a:cubicBezTo>
                  <a:lnTo>
                    <a:pt x="1067" y="624"/>
                  </a:lnTo>
                  <a:cubicBezTo>
                    <a:pt x="919" y="583"/>
                    <a:pt x="780" y="558"/>
                    <a:pt x="632" y="525"/>
                  </a:cubicBezTo>
                  <a:cubicBezTo>
                    <a:pt x="591" y="353"/>
                    <a:pt x="542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7927443" y="1781694"/>
              <a:ext cx="110554" cy="126989"/>
            </a:xfrm>
            <a:custGeom>
              <a:avLst/>
              <a:gdLst/>
              <a:ahLst/>
              <a:cxnLst/>
              <a:rect l="l" t="t" r="r" b="b"/>
              <a:pathLst>
                <a:path w="1379" h="1584" extrusionOk="0">
                  <a:moveTo>
                    <a:pt x="657" y="1"/>
                  </a:moveTo>
                  <a:cubicBezTo>
                    <a:pt x="624" y="222"/>
                    <a:pt x="583" y="444"/>
                    <a:pt x="526" y="657"/>
                  </a:cubicBezTo>
                  <a:cubicBezTo>
                    <a:pt x="353" y="706"/>
                    <a:pt x="181" y="755"/>
                    <a:pt x="9" y="812"/>
                  </a:cubicBezTo>
                  <a:cubicBezTo>
                    <a:pt x="1" y="812"/>
                    <a:pt x="25" y="821"/>
                    <a:pt x="42" y="821"/>
                  </a:cubicBezTo>
                  <a:cubicBezTo>
                    <a:pt x="206" y="870"/>
                    <a:pt x="362" y="903"/>
                    <a:pt x="526" y="935"/>
                  </a:cubicBezTo>
                  <a:cubicBezTo>
                    <a:pt x="575" y="1157"/>
                    <a:pt x="616" y="1370"/>
                    <a:pt x="681" y="1583"/>
                  </a:cubicBezTo>
                  <a:cubicBezTo>
                    <a:pt x="722" y="1370"/>
                    <a:pt x="788" y="1149"/>
                    <a:pt x="853" y="944"/>
                  </a:cubicBezTo>
                  <a:lnTo>
                    <a:pt x="1378" y="804"/>
                  </a:lnTo>
                  <a:cubicBezTo>
                    <a:pt x="1190" y="763"/>
                    <a:pt x="1009" y="722"/>
                    <a:pt x="821" y="681"/>
                  </a:cubicBezTo>
                  <a:cubicBezTo>
                    <a:pt x="771" y="460"/>
                    <a:pt x="706" y="214"/>
                    <a:pt x="657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4333464" y="4204018"/>
              <a:ext cx="157133" cy="179501"/>
            </a:xfrm>
            <a:custGeom>
              <a:avLst/>
              <a:gdLst/>
              <a:ahLst/>
              <a:cxnLst/>
              <a:rect l="l" t="t" r="r" b="b"/>
              <a:pathLst>
                <a:path w="1960" h="2239" extrusionOk="0">
                  <a:moveTo>
                    <a:pt x="935" y="0"/>
                  </a:moveTo>
                  <a:cubicBezTo>
                    <a:pt x="886" y="312"/>
                    <a:pt x="828" y="623"/>
                    <a:pt x="754" y="927"/>
                  </a:cubicBezTo>
                  <a:cubicBezTo>
                    <a:pt x="508" y="1000"/>
                    <a:pt x="271" y="1066"/>
                    <a:pt x="25" y="1148"/>
                  </a:cubicBezTo>
                  <a:cubicBezTo>
                    <a:pt x="0" y="1148"/>
                    <a:pt x="49" y="1156"/>
                    <a:pt x="66" y="1164"/>
                  </a:cubicBezTo>
                  <a:cubicBezTo>
                    <a:pt x="295" y="1230"/>
                    <a:pt x="525" y="1279"/>
                    <a:pt x="754" y="1320"/>
                  </a:cubicBezTo>
                  <a:cubicBezTo>
                    <a:pt x="828" y="1623"/>
                    <a:pt x="877" y="1935"/>
                    <a:pt x="968" y="2238"/>
                  </a:cubicBezTo>
                  <a:cubicBezTo>
                    <a:pt x="1033" y="1935"/>
                    <a:pt x="1115" y="1623"/>
                    <a:pt x="1222" y="1328"/>
                  </a:cubicBezTo>
                  <a:lnTo>
                    <a:pt x="1960" y="1132"/>
                  </a:lnTo>
                  <a:cubicBezTo>
                    <a:pt x="1697" y="1074"/>
                    <a:pt x="1435" y="1017"/>
                    <a:pt x="1172" y="959"/>
                  </a:cubicBezTo>
                  <a:cubicBezTo>
                    <a:pt x="1099" y="648"/>
                    <a:pt x="1009" y="303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8513483" y="1244540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654615" y="2418358"/>
              <a:ext cx="123622" cy="142061"/>
            </a:xfrm>
            <a:custGeom>
              <a:avLst/>
              <a:gdLst/>
              <a:ahLst/>
              <a:cxnLst/>
              <a:rect l="l" t="t" r="r" b="b"/>
              <a:pathLst>
                <a:path w="1542" h="1772" extrusionOk="0">
                  <a:moveTo>
                    <a:pt x="730" y="0"/>
                  </a:moveTo>
                  <a:cubicBezTo>
                    <a:pt x="697" y="246"/>
                    <a:pt x="648" y="492"/>
                    <a:pt x="590" y="730"/>
                  </a:cubicBezTo>
                  <a:cubicBezTo>
                    <a:pt x="394" y="787"/>
                    <a:pt x="205" y="836"/>
                    <a:pt x="16" y="902"/>
                  </a:cubicBezTo>
                  <a:cubicBezTo>
                    <a:pt x="0" y="902"/>
                    <a:pt x="33" y="910"/>
                    <a:pt x="49" y="918"/>
                  </a:cubicBezTo>
                  <a:cubicBezTo>
                    <a:pt x="230" y="968"/>
                    <a:pt x="410" y="1009"/>
                    <a:pt x="590" y="1041"/>
                  </a:cubicBezTo>
                  <a:cubicBezTo>
                    <a:pt x="648" y="1279"/>
                    <a:pt x="689" y="1525"/>
                    <a:pt x="763" y="1771"/>
                  </a:cubicBezTo>
                  <a:cubicBezTo>
                    <a:pt x="812" y="1525"/>
                    <a:pt x="877" y="1287"/>
                    <a:pt x="959" y="1050"/>
                  </a:cubicBezTo>
                  <a:lnTo>
                    <a:pt x="1541" y="894"/>
                  </a:lnTo>
                  <a:cubicBezTo>
                    <a:pt x="1336" y="845"/>
                    <a:pt x="1123" y="804"/>
                    <a:pt x="918" y="754"/>
                  </a:cubicBezTo>
                  <a:cubicBezTo>
                    <a:pt x="861" y="508"/>
                    <a:pt x="787" y="238"/>
                    <a:pt x="73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1170394" y="4056747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5504308" y="836365"/>
              <a:ext cx="85541" cy="98689"/>
            </a:xfrm>
            <a:custGeom>
              <a:avLst/>
              <a:gdLst/>
              <a:ahLst/>
              <a:cxnLst/>
              <a:rect l="l" t="t" r="r" b="b"/>
              <a:pathLst>
                <a:path w="1067" h="1231" extrusionOk="0">
                  <a:moveTo>
                    <a:pt x="509" y="1"/>
                  </a:moveTo>
                  <a:cubicBezTo>
                    <a:pt x="484" y="173"/>
                    <a:pt x="452" y="345"/>
                    <a:pt x="411" y="517"/>
                  </a:cubicBezTo>
                  <a:cubicBezTo>
                    <a:pt x="271" y="550"/>
                    <a:pt x="140" y="591"/>
                    <a:pt x="9" y="632"/>
                  </a:cubicBezTo>
                  <a:cubicBezTo>
                    <a:pt x="1" y="632"/>
                    <a:pt x="25" y="640"/>
                    <a:pt x="34" y="640"/>
                  </a:cubicBezTo>
                  <a:cubicBezTo>
                    <a:pt x="157" y="681"/>
                    <a:pt x="279" y="706"/>
                    <a:pt x="411" y="730"/>
                  </a:cubicBezTo>
                  <a:cubicBezTo>
                    <a:pt x="443" y="894"/>
                    <a:pt x="476" y="1066"/>
                    <a:pt x="525" y="1230"/>
                  </a:cubicBezTo>
                  <a:cubicBezTo>
                    <a:pt x="558" y="1066"/>
                    <a:pt x="607" y="894"/>
                    <a:pt x="665" y="730"/>
                  </a:cubicBezTo>
                  <a:lnTo>
                    <a:pt x="1067" y="624"/>
                  </a:lnTo>
                  <a:cubicBezTo>
                    <a:pt x="919" y="591"/>
                    <a:pt x="780" y="558"/>
                    <a:pt x="640" y="525"/>
                  </a:cubicBezTo>
                  <a:cubicBezTo>
                    <a:pt x="599" y="361"/>
                    <a:pt x="550" y="173"/>
                    <a:pt x="50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1091944" y="935060"/>
              <a:ext cx="171644" cy="196577"/>
            </a:xfrm>
            <a:custGeom>
              <a:avLst/>
              <a:gdLst/>
              <a:ahLst/>
              <a:cxnLst/>
              <a:rect l="l" t="t" r="r" b="b"/>
              <a:pathLst>
                <a:path w="2141" h="2452" extrusionOk="0">
                  <a:moveTo>
                    <a:pt x="1017" y="0"/>
                  </a:moveTo>
                  <a:cubicBezTo>
                    <a:pt x="968" y="344"/>
                    <a:pt x="902" y="681"/>
                    <a:pt x="820" y="1017"/>
                  </a:cubicBezTo>
                  <a:cubicBezTo>
                    <a:pt x="550" y="1099"/>
                    <a:pt x="287" y="1164"/>
                    <a:pt x="25" y="1255"/>
                  </a:cubicBezTo>
                  <a:cubicBezTo>
                    <a:pt x="0" y="1263"/>
                    <a:pt x="50" y="1271"/>
                    <a:pt x="74" y="1271"/>
                  </a:cubicBezTo>
                  <a:cubicBezTo>
                    <a:pt x="320" y="1345"/>
                    <a:pt x="566" y="1402"/>
                    <a:pt x="820" y="1443"/>
                  </a:cubicBezTo>
                  <a:cubicBezTo>
                    <a:pt x="894" y="1787"/>
                    <a:pt x="951" y="2124"/>
                    <a:pt x="1050" y="2452"/>
                  </a:cubicBezTo>
                  <a:cubicBezTo>
                    <a:pt x="1124" y="2115"/>
                    <a:pt x="1222" y="1779"/>
                    <a:pt x="1329" y="1451"/>
                  </a:cubicBezTo>
                  <a:lnTo>
                    <a:pt x="2140" y="1238"/>
                  </a:lnTo>
                  <a:cubicBezTo>
                    <a:pt x="1845" y="1173"/>
                    <a:pt x="1566" y="1115"/>
                    <a:pt x="1279" y="1050"/>
                  </a:cubicBezTo>
                  <a:cubicBezTo>
                    <a:pt x="1189" y="713"/>
                    <a:pt x="1099" y="336"/>
                    <a:pt x="1017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42" name="Google Shape;742;p36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262050" y="281075"/>
            <a:ext cx="8619900" cy="4581300"/>
          </a:xfrm>
          <a:prstGeom prst="roundRect">
            <a:avLst>
              <a:gd name="adj" fmla="val 4863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5"/>
          <p:cNvPicPr preferRelativeResize="0"/>
          <p:nvPr/>
        </p:nvPicPr>
        <p:blipFill rotWithShape="1">
          <a:blip r:embed="rId2">
            <a:alphaModFix/>
          </a:blip>
          <a:srcRect l="-13830" r="13829"/>
          <a:stretch/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379450" y="379450"/>
            <a:ext cx="8385000" cy="4384500"/>
          </a:xfrm>
          <a:prstGeom prst="roundRect">
            <a:avLst>
              <a:gd name="adj" fmla="val 4863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1"/>
          </p:nvPr>
        </p:nvSpPr>
        <p:spPr>
          <a:xfrm>
            <a:off x="716425" y="147425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subTitle" idx="2"/>
          </p:nvPr>
        </p:nvSpPr>
        <p:spPr>
          <a:xfrm>
            <a:off x="716425" y="1894550"/>
            <a:ext cx="7342200" cy="9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ubTitle" idx="3"/>
          </p:nvPr>
        </p:nvSpPr>
        <p:spPr>
          <a:xfrm>
            <a:off x="719832" y="307110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ubTitle" idx="4"/>
          </p:nvPr>
        </p:nvSpPr>
        <p:spPr>
          <a:xfrm>
            <a:off x="719832" y="3491400"/>
            <a:ext cx="7342200" cy="9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5"/>
          <p:cNvGrpSpPr/>
          <p:nvPr/>
        </p:nvGrpSpPr>
        <p:grpSpPr>
          <a:xfrm flipH="1">
            <a:off x="176500" y="81342"/>
            <a:ext cx="8876558" cy="4994827"/>
            <a:chOff x="176500" y="81342"/>
            <a:chExt cx="8876558" cy="4994827"/>
          </a:xfrm>
        </p:grpSpPr>
        <p:grpSp>
          <p:nvGrpSpPr>
            <p:cNvPr id="73" name="Google Shape;73;p5"/>
            <p:cNvGrpSpPr/>
            <p:nvPr/>
          </p:nvGrpSpPr>
          <p:grpSpPr>
            <a:xfrm>
              <a:off x="176500" y="81346"/>
              <a:ext cx="8876558" cy="4994823"/>
              <a:chOff x="176500" y="81346"/>
              <a:chExt cx="8876558" cy="4994823"/>
            </a:xfrm>
          </p:grpSpPr>
          <p:sp>
            <p:nvSpPr>
              <p:cNvPr id="74" name="Google Shape;74;p5"/>
              <p:cNvSpPr/>
              <p:nvPr/>
            </p:nvSpPr>
            <p:spPr>
              <a:xfrm>
                <a:off x="3103303" y="81346"/>
                <a:ext cx="123622" cy="142061"/>
              </a:xfrm>
              <a:custGeom>
                <a:avLst/>
                <a:gdLst/>
                <a:ahLst/>
                <a:cxnLst/>
                <a:rect l="l" t="t" r="r" b="b"/>
                <a:pathLst>
                  <a:path w="1542" h="1772" extrusionOk="0">
                    <a:moveTo>
                      <a:pt x="730" y="0"/>
                    </a:moveTo>
                    <a:cubicBezTo>
                      <a:pt x="697" y="246"/>
                      <a:pt x="648" y="492"/>
                      <a:pt x="590" y="730"/>
                    </a:cubicBezTo>
                    <a:cubicBezTo>
                      <a:pt x="394" y="787"/>
                      <a:pt x="205" y="836"/>
                      <a:pt x="16" y="902"/>
                    </a:cubicBezTo>
                    <a:cubicBezTo>
                      <a:pt x="0" y="902"/>
                      <a:pt x="33" y="910"/>
                      <a:pt x="49" y="918"/>
                    </a:cubicBezTo>
                    <a:cubicBezTo>
                      <a:pt x="230" y="968"/>
                      <a:pt x="410" y="1009"/>
                      <a:pt x="590" y="1041"/>
                    </a:cubicBezTo>
                    <a:cubicBezTo>
                      <a:pt x="648" y="1279"/>
                      <a:pt x="689" y="1525"/>
                      <a:pt x="763" y="1771"/>
                    </a:cubicBezTo>
                    <a:cubicBezTo>
                      <a:pt x="812" y="1525"/>
                      <a:pt x="877" y="1287"/>
                      <a:pt x="959" y="1050"/>
                    </a:cubicBezTo>
                    <a:lnTo>
                      <a:pt x="1541" y="894"/>
                    </a:lnTo>
                    <a:cubicBezTo>
                      <a:pt x="1336" y="845"/>
                      <a:pt x="1123" y="804"/>
                      <a:pt x="918" y="754"/>
                    </a:cubicBezTo>
                    <a:cubicBezTo>
                      <a:pt x="861" y="508"/>
                      <a:pt x="787" y="238"/>
                      <a:pt x="7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76500" y="166917"/>
                <a:ext cx="85541" cy="9796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2" extrusionOk="0">
                    <a:moveTo>
                      <a:pt x="509" y="0"/>
                    </a:moveTo>
                    <a:cubicBezTo>
                      <a:pt x="484" y="172"/>
                      <a:pt x="452" y="336"/>
                      <a:pt x="411" y="508"/>
                    </a:cubicBezTo>
                    <a:cubicBezTo>
                      <a:pt x="271" y="541"/>
                      <a:pt x="140" y="582"/>
                      <a:pt x="9" y="623"/>
                    </a:cubicBezTo>
                    <a:cubicBezTo>
                      <a:pt x="1" y="623"/>
                      <a:pt x="25" y="631"/>
                      <a:pt x="33" y="631"/>
                    </a:cubicBezTo>
                    <a:cubicBezTo>
                      <a:pt x="156" y="664"/>
                      <a:pt x="279" y="697"/>
                      <a:pt x="411" y="722"/>
                    </a:cubicBezTo>
                    <a:cubicBezTo>
                      <a:pt x="452" y="886"/>
                      <a:pt x="476" y="1058"/>
                      <a:pt x="525" y="1222"/>
                    </a:cubicBezTo>
                    <a:cubicBezTo>
                      <a:pt x="558" y="1050"/>
                      <a:pt x="607" y="886"/>
                      <a:pt x="665" y="722"/>
                    </a:cubicBezTo>
                    <a:lnTo>
                      <a:pt x="1067" y="615"/>
                    </a:lnTo>
                    <a:cubicBezTo>
                      <a:pt x="919" y="582"/>
                      <a:pt x="780" y="558"/>
                      <a:pt x="640" y="525"/>
                    </a:cubicBezTo>
                    <a:cubicBezTo>
                      <a:pt x="599" y="353"/>
                      <a:pt x="550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8967516" y="10335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6082879" y="49728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184516" y="4820481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444252" y="4896668"/>
                <a:ext cx="157133" cy="179501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2239" extrusionOk="0">
                    <a:moveTo>
                      <a:pt x="935" y="0"/>
                    </a:moveTo>
                    <a:cubicBezTo>
                      <a:pt x="886" y="312"/>
                      <a:pt x="828" y="623"/>
                      <a:pt x="754" y="927"/>
                    </a:cubicBezTo>
                    <a:cubicBezTo>
                      <a:pt x="508" y="1000"/>
                      <a:pt x="271" y="1066"/>
                      <a:pt x="25" y="1148"/>
                    </a:cubicBezTo>
                    <a:cubicBezTo>
                      <a:pt x="0" y="1148"/>
                      <a:pt x="49" y="1156"/>
                      <a:pt x="66" y="1164"/>
                    </a:cubicBezTo>
                    <a:cubicBezTo>
                      <a:pt x="295" y="1230"/>
                      <a:pt x="525" y="1279"/>
                      <a:pt x="754" y="1320"/>
                    </a:cubicBezTo>
                    <a:cubicBezTo>
                      <a:pt x="828" y="1623"/>
                      <a:pt x="877" y="1935"/>
                      <a:pt x="968" y="2238"/>
                    </a:cubicBezTo>
                    <a:cubicBezTo>
                      <a:pt x="1033" y="1935"/>
                      <a:pt x="1115" y="1623"/>
                      <a:pt x="1222" y="1328"/>
                    </a:cubicBezTo>
                    <a:lnTo>
                      <a:pt x="1960" y="1132"/>
                    </a:lnTo>
                    <a:cubicBezTo>
                      <a:pt x="1697" y="1074"/>
                      <a:pt x="1435" y="1017"/>
                      <a:pt x="1172" y="959"/>
                    </a:cubicBezTo>
                    <a:cubicBezTo>
                      <a:pt x="1099" y="648"/>
                      <a:pt x="1009" y="303"/>
                      <a:pt x="93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729579" y="4937406"/>
                <a:ext cx="85541" cy="9804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1223" extrusionOk="0">
                    <a:moveTo>
                      <a:pt x="509" y="0"/>
                    </a:moveTo>
                    <a:cubicBezTo>
                      <a:pt x="476" y="173"/>
                      <a:pt x="452" y="337"/>
                      <a:pt x="411" y="509"/>
                    </a:cubicBezTo>
                    <a:cubicBezTo>
                      <a:pt x="272" y="542"/>
                      <a:pt x="140" y="583"/>
                      <a:pt x="9" y="624"/>
                    </a:cubicBezTo>
                    <a:cubicBezTo>
                      <a:pt x="1" y="624"/>
                      <a:pt x="26" y="632"/>
                      <a:pt x="34" y="632"/>
                    </a:cubicBezTo>
                    <a:cubicBezTo>
                      <a:pt x="157" y="673"/>
                      <a:pt x="280" y="697"/>
                      <a:pt x="411" y="722"/>
                    </a:cubicBezTo>
                    <a:cubicBezTo>
                      <a:pt x="444" y="894"/>
                      <a:pt x="476" y="1058"/>
                      <a:pt x="526" y="1222"/>
                    </a:cubicBezTo>
                    <a:cubicBezTo>
                      <a:pt x="558" y="1058"/>
                      <a:pt x="608" y="886"/>
                      <a:pt x="665" y="722"/>
                    </a:cubicBezTo>
                    <a:lnTo>
                      <a:pt x="1067" y="624"/>
                    </a:lnTo>
                    <a:cubicBezTo>
                      <a:pt x="919" y="583"/>
                      <a:pt x="780" y="558"/>
                      <a:pt x="632" y="525"/>
                    </a:cubicBezTo>
                    <a:cubicBezTo>
                      <a:pt x="591" y="353"/>
                      <a:pt x="542" y="164"/>
                      <a:pt x="50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81;p5"/>
            <p:cNvSpPr/>
            <p:nvPr/>
          </p:nvSpPr>
          <p:spPr>
            <a:xfrm>
              <a:off x="5982175" y="81342"/>
              <a:ext cx="85541" cy="97968"/>
            </a:xfrm>
            <a:custGeom>
              <a:avLst/>
              <a:gdLst/>
              <a:ahLst/>
              <a:cxnLst/>
              <a:rect l="l" t="t" r="r" b="b"/>
              <a:pathLst>
                <a:path w="1067" h="1222" extrusionOk="0">
                  <a:moveTo>
                    <a:pt x="509" y="0"/>
                  </a:moveTo>
                  <a:cubicBezTo>
                    <a:pt x="484" y="172"/>
                    <a:pt x="452" y="336"/>
                    <a:pt x="411" y="508"/>
                  </a:cubicBezTo>
                  <a:cubicBezTo>
                    <a:pt x="271" y="541"/>
                    <a:pt x="140" y="582"/>
                    <a:pt x="9" y="623"/>
                  </a:cubicBezTo>
                  <a:cubicBezTo>
                    <a:pt x="1" y="623"/>
                    <a:pt x="25" y="631"/>
                    <a:pt x="33" y="631"/>
                  </a:cubicBezTo>
                  <a:cubicBezTo>
                    <a:pt x="156" y="664"/>
                    <a:pt x="279" y="697"/>
                    <a:pt x="411" y="722"/>
                  </a:cubicBezTo>
                  <a:cubicBezTo>
                    <a:pt x="452" y="886"/>
                    <a:pt x="476" y="1058"/>
                    <a:pt x="525" y="1222"/>
                  </a:cubicBezTo>
                  <a:cubicBezTo>
                    <a:pt x="558" y="1050"/>
                    <a:pt x="607" y="886"/>
                    <a:pt x="665" y="722"/>
                  </a:cubicBezTo>
                  <a:lnTo>
                    <a:pt x="1067" y="615"/>
                  </a:lnTo>
                  <a:cubicBezTo>
                    <a:pt x="919" y="582"/>
                    <a:pt x="780" y="558"/>
                    <a:pt x="640" y="525"/>
                  </a:cubicBezTo>
                  <a:cubicBezTo>
                    <a:pt x="599" y="353"/>
                    <a:pt x="550" y="164"/>
                    <a:pt x="50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090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5">
                <a:lumMod val="0"/>
                <a:lumOff val="100000"/>
              </a:schemeClr>
            </a:gs>
            <a:gs pos="35000">
              <a:schemeClr val="accent5">
                <a:lumMod val="0"/>
                <a:lumOff val="100000"/>
              </a:schemeClr>
            </a:gs>
            <a:gs pos="100000">
              <a:schemeClr val="accent5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Font typeface="Chango"/>
              <a:buNone/>
              <a:defRPr sz="25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hango"/>
              <a:buNone/>
              <a:defRPr sz="2800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●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ntic"/>
              <a:buChar char="○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ntic"/>
              <a:buChar char="■"/>
              <a:defRPr>
                <a:solidFill>
                  <a:schemeClr val="lt2"/>
                </a:solidFill>
                <a:latin typeface="Antic"/>
                <a:ea typeface="Antic"/>
                <a:cs typeface="Antic"/>
                <a:sym typeface="Ant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8" r:id="rId5"/>
    <p:sldLayoutId id="2147483680" r:id="rId6"/>
    <p:sldLayoutId id="2147483681" r:id="rId7"/>
    <p:sldLayoutId id="2147483682" r:id="rId8"/>
    <p:sldLayoutId id="214748368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1">
          <p15:clr>
            <a:srgbClr val="EA4335"/>
          </p15:clr>
        </p15:guide>
        <p15:guide id="2" orient="horz" pos="341">
          <p15:clr>
            <a:srgbClr val="EA4335"/>
          </p15:clr>
        </p15:guide>
        <p15:guide id="3" pos="5309">
          <p15:clr>
            <a:srgbClr val="EA4335"/>
          </p15:clr>
        </p15:guide>
        <p15:guide id="4" orient="horz" pos="2899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stroSage AI (@astrosagedotcom) • Instagram photos and videos">
            <a:extLst>
              <a:ext uri="{FF2B5EF4-FFF2-40B4-BE49-F238E27FC236}">
                <a16:creationId xmlns:a16="http://schemas.microsoft.com/office/drawing/2014/main" id="{9F9CF84B-3B6B-7238-2BA7-2746A313F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93" t="9938" r="14936" b="8322"/>
          <a:stretch>
            <a:fillRect/>
          </a:stretch>
        </p:blipFill>
        <p:spPr bwMode="auto">
          <a:xfrm>
            <a:off x="3823856" y="3002781"/>
            <a:ext cx="1499618" cy="175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2" name="Google Shape;752;p39"/>
          <p:cNvSpPr txBox="1">
            <a:spLocks noGrp="1"/>
          </p:cNvSpPr>
          <p:nvPr>
            <p:ph type="ctrTitle"/>
          </p:nvPr>
        </p:nvSpPr>
        <p:spPr>
          <a:xfrm>
            <a:off x="410366" y="453035"/>
            <a:ext cx="8352634" cy="14578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 err="1">
                <a:latin typeface="Showcard Gothic" panose="04020904020102020604" pitchFamily="82" charset="0"/>
              </a:rPr>
              <a:t>AstroSage</a:t>
            </a:r>
            <a:r>
              <a:rPr lang="en-US" sz="3600" dirty="0">
                <a:latin typeface="Showcard Gothic" panose="04020904020102020604" pitchFamily="82" charset="0"/>
              </a:rPr>
              <a:t> Call Center Performance Analysis</a:t>
            </a:r>
            <a:endParaRPr sz="3600" dirty="0">
              <a:solidFill>
                <a:srgbClr val="FF0000"/>
              </a:solidFill>
              <a:latin typeface="Showcard Gothic" panose="04020904020102020604" pitchFamily="82" charset="0"/>
            </a:endParaRPr>
          </a:p>
        </p:txBody>
      </p:sp>
      <p:sp>
        <p:nvSpPr>
          <p:cNvPr id="753" name="Google Shape;753;p39"/>
          <p:cNvSpPr txBox="1">
            <a:spLocks noGrp="1"/>
          </p:cNvSpPr>
          <p:nvPr>
            <p:ph type="subTitle" idx="1"/>
          </p:nvPr>
        </p:nvSpPr>
        <p:spPr>
          <a:xfrm>
            <a:off x="709782" y="1878505"/>
            <a:ext cx="7626900" cy="1124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/>
              <a:t>Data – Driven Insights </a:t>
            </a:r>
            <a:r>
              <a:rPr lang="en-US" sz="1600"/>
              <a:t>&amp; Recommendations</a:t>
            </a:r>
            <a:endParaRPr lang="en-US" sz="1600" dirty="0"/>
          </a:p>
          <a:p>
            <a:r>
              <a:rPr lang="en-US" sz="1800" b="1" dirty="0"/>
              <a:t>Prepared by: Lakshya Hasija</a:t>
            </a:r>
          </a:p>
          <a:p>
            <a:endParaRPr lang="en-US" sz="1600" dirty="0"/>
          </a:p>
          <a:p>
            <a:r>
              <a:rPr lang="en-US" sz="1600" dirty="0"/>
              <a:t>Course name: Professional Certificate in Data Science – May 2025</a:t>
            </a:r>
          </a:p>
        </p:txBody>
      </p:sp>
      <p:grpSp>
        <p:nvGrpSpPr>
          <p:cNvPr id="837" name="Google Shape;837;p39"/>
          <p:cNvGrpSpPr/>
          <p:nvPr/>
        </p:nvGrpSpPr>
        <p:grpSpPr>
          <a:xfrm>
            <a:off x="441900" y="814969"/>
            <a:ext cx="549053" cy="1183690"/>
            <a:chOff x="-1910200" y="880155"/>
            <a:chExt cx="549053" cy="1183690"/>
          </a:xfrm>
        </p:grpSpPr>
        <p:sp>
          <p:nvSpPr>
            <p:cNvPr id="838" name="Google Shape;838;p39"/>
            <p:cNvSpPr/>
            <p:nvPr/>
          </p:nvSpPr>
          <p:spPr>
            <a:xfrm>
              <a:off x="-1903077" y="1152730"/>
              <a:ext cx="530888" cy="251839"/>
            </a:xfrm>
            <a:custGeom>
              <a:avLst/>
              <a:gdLst/>
              <a:ahLst/>
              <a:cxnLst/>
              <a:rect l="l" t="t" r="r" b="b"/>
              <a:pathLst>
                <a:path w="6708" h="3182" extrusionOk="0">
                  <a:moveTo>
                    <a:pt x="3354" y="0"/>
                  </a:moveTo>
                  <a:cubicBezTo>
                    <a:pt x="2780" y="0"/>
                    <a:pt x="1919" y="82"/>
                    <a:pt x="1263" y="746"/>
                  </a:cubicBezTo>
                  <a:cubicBezTo>
                    <a:pt x="608" y="1402"/>
                    <a:pt x="1" y="1550"/>
                    <a:pt x="1" y="1550"/>
                  </a:cubicBezTo>
                  <a:cubicBezTo>
                    <a:pt x="1" y="1550"/>
                    <a:pt x="1288" y="3181"/>
                    <a:pt x="3354" y="3181"/>
                  </a:cubicBezTo>
                  <a:cubicBezTo>
                    <a:pt x="5412" y="3181"/>
                    <a:pt x="6708" y="1542"/>
                    <a:pt x="6708" y="1542"/>
                  </a:cubicBezTo>
                  <a:cubicBezTo>
                    <a:pt x="6708" y="1542"/>
                    <a:pt x="6101" y="1402"/>
                    <a:pt x="5445" y="738"/>
                  </a:cubicBezTo>
                  <a:cubicBezTo>
                    <a:pt x="4789" y="82"/>
                    <a:pt x="3928" y="0"/>
                    <a:pt x="33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9"/>
            <p:cNvSpPr/>
            <p:nvPr/>
          </p:nvSpPr>
          <p:spPr>
            <a:xfrm>
              <a:off x="-1910200" y="1148140"/>
              <a:ext cx="544500" cy="259675"/>
            </a:xfrm>
            <a:custGeom>
              <a:avLst/>
              <a:gdLst/>
              <a:ahLst/>
              <a:cxnLst/>
              <a:rect l="l" t="t" r="r" b="b"/>
              <a:pathLst>
                <a:path w="6880" h="3281" extrusionOk="0">
                  <a:moveTo>
                    <a:pt x="3444" y="107"/>
                  </a:moveTo>
                  <a:cubicBezTo>
                    <a:pt x="4330" y="107"/>
                    <a:pt x="5002" y="345"/>
                    <a:pt x="5494" y="837"/>
                  </a:cubicBezTo>
                  <a:cubicBezTo>
                    <a:pt x="5830" y="1190"/>
                    <a:pt x="6240" y="1460"/>
                    <a:pt x="6699" y="1624"/>
                  </a:cubicBezTo>
                  <a:cubicBezTo>
                    <a:pt x="6445" y="1919"/>
                    <a:pt x="5232" y="3182"/>
                    <a:pt x="3444" y="3182"/>
                  </a:cubicBezTo>
                  <a:cubicBezTo>
                    <a:pt x="1649" y="3182"/>
                    <a:pt x="435" y="1919"/>
                    <a:pt x="181" y="1624"/>
                  </a:cubicBezTo>
                  <a:cubicBezTo>
                    <a:pt x="640" y="1460"/>
                    <a:pt x="1058" y="1190"/>
                    <a:pt x="1394" y="837"/>
                  </a:cubicBezTo>
                  <a:cubicBezTo>
                    <a:pt x="1886" y="345"/>
                    <a:pt x="2559" y="107"/>
                    <a:pt x="3444" y="107"/>
                  </a:cubicBezTo>
                  <a:close/>
                  <a:moveTo>
                    <a:pt x="3444" y="1"/>
                  </a:moveTo>
                  <a:cubicBezTo>
                    <a:pt x="2526" y="1"/>
                    <a:pt x="1829" y="247"/>
                    <a:pt x="1321" y="763"/>
                  </a:cubicBezTo>
                  <a:cubicBezTo>
                    <a:pt x="681" y="1403"/>
                    <a:pt x="91" y="1550"/>
                    <a:pt x="83" y="1550"/>
                  </a:cubicBezTo>
                  <a:lnTo>
                    <a:pt x="1" y="1567"/>
                  </a:lnTo>
                  <a:lnTo>
                    <a:pt x="50" y="1632"/>
                  </a:lnTo>
                  <a:cubicBezTo>
                    <a:pt x="66" y="1649"/>
                    <a:pt x="1378" y="3280"/>
                    <a:pt x="3444" y="3280"/>
                  </a:cubicBezTo>
                  <a:cubicBezTo>
                    <a:pt x="5502" y="3280"/>
                    <a:pt x="6814" y="1649"/>
                    <a:pt x="6830" y="1632"/>
                  </a:cubicBezTo>
                  <a:lnTo>
                    <a:pt x="6880" y="1567"/>
                  </a:lnTo>
                  <a:lnTo>
                    <a:pt x="6806" y="1550"/>
                  </a:lnTo>
                  <a:cubicBezTo>
                    <a:pt x="6798" y="1550"/>
                    <a:pt x="6207" y="1403"/>
                    <a:pt x="5568" y="763"/>
                  </a:cubicBezTo>
                  <a:cubicBezTo>
                    <a:pt x="5059" y="255"/>
                    <a:pt x="4362" y="1"/>
                    <a:pt x="3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9"/>
            <p:cNvSpPr/>
            <p:nvPr/>
          </p:nvSpPr>
          <p:spPr>
            <a:xfrm>
              <a:off x="-1738224" y="1171567"/>
              <a:ext cx="199281" cy="199287"/>
            </a:xfrm>
            <a:custGeom>
              <a:avLst/>
              <a:gdLst/>
              <a:ahLst/>
              <a:cxnLst/>
              <a:rect l="l" t="t" r="r" b="b"/>
              <a:pathLst>
                <a:path w="2518" h="2518" extrusionOk="0">
                  <a:moveTo>
                    <a:pt x="1263" y="0"/>
                  </a:moveTo>
                  <a:cubicBezTo>
                    <a:pt x="566" y="0"/>
                    <a:pt x="0" y="558"/>
                    <a:pt x="0" y="1254"/>
                  </a:cubicBezTo>
                  <a:cubicBezTo>
                    <a:pt x="0" y="1951"/>
                    <a:pt x="566" y="2517"/>
                    <a:pt x="1263" y="2517"/>
                  </a:cubicBezTo>
                  <a:cubicBezTo>
                    <a:pt x="1952" y="2517"/>
                    <a:pt x="2517" y="1951"/>
                    <a:pt x="2517" y="1254"/>
                  </a:cubicBezTo>
                  <a:cubicBezTo>
                    <a:pt x="2517" y="558"/>
                    <a:pt x="1952" y="0"/>
                    <a:pt x="1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9"/>
            <p:cNvSpPr/>
            <p:nvPr/>
          </p:nvSpPr>
          <p:spPr>
            <a:xfrm>
              <a:off x="-1777162" y="1167134"/>
              <a:ext cx="242730" cy="207597"/>
            </a:xfrm>
            <a:custGeom>
              <a:avLst/>
              <a:gdLst/>
              <a:ahLst/>
              <a:cxnLst/>
              <a:rect l="l" t="t" r="r" b="b"/>
              <a:pathLst>
                <a:path w="3067" h="2623" extrusionOk="0">
                  <a:moveTo>
                    <a:pt x="1755" y="105"/>
                  </a:moveTo>
                  <a:cubicBezTo>
                    <a:pt x="2419" y="105"/>
                    <a:pt x="2960" y="646"/>
                    <a:pt x="2960" y="1310"/>
                  </a:cubicBezTo>
                  <a:cubicBezTo>
                    <a:pt x="2960" y="2037"/>
                    <a:pt x="2367" y="2520"/>
                    <a:pt x="1747" y="2520"/>
                  </a:cubicBezTo>
                  <a:cubicBezTo>
                    <a:pt x="1451" y="2520"/>
                    <a:pt x="1149" y="2410"/>
                    <a:pt x="902" y="2163"/>
                  </a:cubicBezTo>
                  <a:cubicBezTo>
                    <a:pt x="140" y="1409"/>
                    <a:pt x="673" y="105"/>
                    <a:pt x="1755" y="105"/>
                  </a:cubicBezTo>
                  <a:close/>
                  <a:moveTo>
                    <a:pt x="1744" y="1"/>
                  </a:moveTo>
                  <a:cubicBezTo>
                    <a:pt x="1423" y="1"/>
                    <a:pt x="1096" y="119"/>
                    <a:pt x="829" y="384"/>
                  </a:cubicBezTo>
                  <a:cubicBezTo>
                    <a:pt x="0" y="1212"/>
                    <a:pt x="583" y="2622"/>
                    <a:pt x="1755" y="2622"/>
                  </a:cubicBezTo>
                  <a:cubicBezTo>
                    <a:pt x="2477" y="2622"/>
                    <a:pt x="3059" y="2040"/>
                    <a:pt x="3067" y="1310"/>
                  </a:cubicBezTo>
                  <a:cubicBezTo>
                    <a:pt x="3061" y="522"/>
                    <a:pt x="241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9"/>
            <p:cNvSpPr/>
            <p:nvPr/>
          </p:nvSpPr>
          <p:spPr>
            <a:xfrm>
              <a:off x="-1673327" y="1235753"/>
              <a:ext cx="70120" cy="70202"/>
            </a:xfrm>
            <a:custGeom>
              <a:avLst/>
              <a:gdLst/>
              <a:ahLst/>
              <a:cxnLst/>
              <a:rect l="l" t="t" r="r" b="b"/>
              <a:pathLst>
                <a:path w="886" h="887" extrusionOk="0">
                  <a:moveTo>
                    <a:pt x="443" y="1"/>
                  </a:moveTo>
                  <a:cubicBezTo>
                    <a:pt x="197" y="1"/>
                    <a:pt x="0" y="198"/>
                    <a:pt x="0" y="443"/>
                  </a:cubicBezTo>
                  <a:cubicBezTo>
                    <a:pt x="0" y="689"/>
                    <a:pt x="197" y="886"/>
                    <a:pt x="443" y="886"/>
                  </a:cubicBezTo>
                  <a:cubicBezTo>
                    <a:pt x="681" y="886"/>
                    <a:pt x="886" y="689"/>
                    <a:pt x="886" y="443"/>
                  </a:cubicBezTo>
                  <a:cubicBezTo>
                    <a:pt x="886" y="198"/>
                    <a:pt x="681" y="1"/>
                    <a:pt x="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-1740836" y="1222773"/>
              <a:ext cx="109058" cy="128611"/>
            </a:xfrm>
            <a:custGeom>
              <a:avLst/>
              <a:gdLst/>
              <a:ahLst/>
              <a:cxnLst/>
              <a:rect l="l" t="t" r="r" b="b"/>
              <a:pathLst>
                <a:path w="1378" h="1625" extrusionOk="0">
                  <a:moveTo>
                    <a:pt x="505" y="0"/>
                  </a:moveTo>
                  <a:cubicBezTo>
                    <a:pt x="488" y="0"/>
                    <a:pt x="470" y="9"/>
                    <a:pt x="460" y="25"/>
                  </a:cubicBezTo>
                  <a:cubicBezTo>
                    <a:pt x="1" y="706"/>
                    <a:pt x="492" y="1624"/>
                    <a:pt x="1312" y="1624"/>
                  </a:cubicBezTo>
                  <a:lnTo>
                    <a:pt x="1312" y="1616"/>
                  </a:lnTo>
                  <a:cubicBezTo>
                    <a:pt x="1378" y="1616"/>
                    <a:pt x="1378" y="1518"/>
                    <a:pt x="1312" y="1518"/>
                  </a:cubicBezTo>
                  <a:cubicBezTo>
                    <a:pt x="804" y="1518"/>
                    <a:pt x="386" y="1099"/>
                    <a:pt x="386" y="591"/>
                  </a:cubicBezTo>
                  <a:cubicBezTo>
                    <a:pt x="394" y="411"/>
                    <a:pt x="443" y="230"/>
                    <a:pt x="550" y="83"/>
                  </a:cubicBezTo>
                  <a:cubicBezTo>
                    <a:pt x="566" y="58"/>
                    <a:pt x="558" y="25"/>
                    <a:pt x="533" y="9"/>
                  </a:cubicBezTo>
                  <a:cubicBezTo>
                    <a:pt x="525" y="3"/>
                    <a:pt x="515" y="0"/>
                    <a:pt x="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9"/>
            <p:cNvSpPr/>
            <p:nvPr/>
          </p:nvSpPr>
          <p:spPr>
            <a:xfrm>
              <a:off x="-1903077" y="1152730"/>
              <a:ext cx="530255" cy="144123"/>
            </a:xfrm>
            <a:custGeom>
              <a:avLst/>
              <a:gdLst/>
              <a:ahLst/>
              <a:cxnLst/>
              <a:rect l="l" t="t" r="r" b="b"/>
              <a:pathLst>
                <a:path w="6700" h="1821" extrusionOk="0">
                  <a:moveTo>
                    <a:pt x="3354" y="0"/>
                  </a:moveTo>
                  <a:cubicBezTo>
                    <a:pt x="2805" y="0"/>
                    <a:pt x="1993" y="74"/>
                    <a:pt x="1345" y="664"/>
                  </a:cubicBezTo>
                  <a:cubicBezTo>
                    <a:pt x="1288" y="714"/>
                    <a:pt x="1231" y="763"/>
                    <a:pt x="1173" y="812"/>
                  </a:cubicBezTo>
                  <a:cubicBezTo>
                    <a:pt x="804" y="1091"/>
                    <a:pt x="411" y="1337"/>
                    <a:pt x="1" y="1550"/>
                  </a:cubicBezTo>
                  <a:lnTo>
                    <a:pt x="263" y="1820"/>
                  </a:lnTo>
                  <a:cubicBezTo>
                    <a:pt x="263" y="1820"/>
                    <a:pt x="1616" y="492"/>
                    <a:pt x="3354" y="492"/>
                  </a:cubicBezTo>
                  <a:cubicBezTo>
                    <a:pt x="5084" y="492"/>
                    <a:pt x="6445" y="1820"/>
                    <a:pt x="6445" y="1820"/>
                  </a:cubicBezTo>
                  <a:lnTo>
                    <a:pt x="6699" y="1550"/>
                  </a:lnTo>
                  <a:cubicBezTo>
                    <a:pt x="6347" y="1460"/>
                    <a:pt x="5724" y="976"/>
                    <a:pt x="5511" y="804"/>
                  </a:cubicBezTo>
                  <a:cubicBezTo>
                    <a:pt x="5470" y="771"/>
                    <a:pt x="5429" y="730"/>
                    <a:pt x="5379" y="689"/>
                  </a:cubicBezTo>
                  <a:cubicBezTo>
                    <a:pt x="4732" y="82"/>
                    <a:pt x="3904" y="0"/>
                    <a:pt x="33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9"/>
            <p:cNvSpPr/>
            <p:nvPr/>
          </p:nvSpPr>
          <p:spPr>
            <a:xfrm>
              <a:off x="-1905647" y="1147510"/>
              <a:ext cx="544500" cy="154570"/>
            </a:xfrm>
            <a:custGeom>
              <a:avLst/>
              <a:gdLst/>
              <a:ahLst/>
              <a:cxnLst/>
              <a:rect l="l" t="t" r="r" b="b"/>
              <a:pathLst>
                <a:path w="6880" h="1953" extrusionOk="0">
                  <a:moveTo>
                    <a:pt x="3436" y="107"/>
                  </a:moveTo>
                  <a:cubicBezTo>
                    <a:pt x="4289" y="107"/>
                    <a:pt x="4945" y="329"/>
                    <a:pt x="5429" y="780"/>
                  </a:cubicBezTo>
                  <a:cubicBezTo>
                    <a:pt x="5470" y="821"/>
                    <a:pt x="5519" y="862"/>
                    <a:pt x="5560" y="895"/>
                  </a:cubicBezTo>
                  <a:cubicBezTo>
                    <a:pt x="5789" y="1083"/>
                    <a:pt x="6322" y="1493"/>
                    <a:pt x="6691" y="1624"/>
                  </a:cubicBezTo>
                  <a:lnTo>
                    <a:pt x="6519" y="1805"/>
                  </a:lnTo>
                  <a:cubicBezTo>
                    <a:pt x="6289" y="1591"/>
                    <a:pt x="5010" y="501"/>
                    <a:pt x="3436" y="501"/>
                  </a:cubicBezTo>
                  <a:cubicBezTo>
                    <a:pt x="1862" y="501"/>
                    <a:pt x="583" y="1600"/>
                    <a:pt x="345" y="1805"/>
                  </a:cubicBezTo>
                  <a:lnTo>
                    <a:pt x="165" y="1616"/>
                  </a:lnTo>
                  <a:cubicBezTo>
                    <a:pt x="558" y="1411"/>
                    <a:pt x="927" y="1173"/>
                    <a:pt x="1288" y="911"/>
                  </a:cubicBezTo>
                  <a:cubicBezTo>
                    <a:pt x="1345" y="870"/>
                    <a:pt x="1395" y="821"/>
                    <a:pt x="1452" y="772"/>
                  </a:cubicBezTo>
                  <a:lnTo>
                    <a:pt x="1460" y="755"/>
                  </a:lnTo>
                  <a:cubicBezTo>
                    <a:pt x="1944" y="321"/>
                    <a:pt x="2575" y="107"/>
                    <a:pt x="3436" y="107"/>
                  </a:cubicBezTo>
                  <a:close/>
                  <a:moveTo>
                    <a:pt x="3436" y="1"/>
                  </a:moveTo>
                  <a:cubicBezTo>
                    <a:pt x="2567" y="1"/>
                    <a:pt x="1895" y="222"/>
                    <a:pt x="1395" y="681"/>
                  </a:cubicBezTo>
                  <a:lnTo>
                    <a:pt x="1378" y="690"/>
                  </a:lnTo>
                  <a:cubicBezTo>
                    <a:pt x="1329" y="739"/>
                    <a:pt x="1280" y="788"/>
                    <a:pt x="1222" y="829"/>
                  </a:cubicBezTo>
                  <a:cubicBezTo>
                    <a:pt x="854" y="1100"/>
                    <a:pt x="468" y="1346"/>
                    <a:pt x="66" y="1550"/>
                  </a:cubicBezTo>
                  <a:lnTo>
                    <a:pt x="1" y="1583"/>
                  </a:lnTo>
                  <a:lnTo>
                    <a:pt x="345" y="1952"/>
                  </a:lnTo>
                  <a:lnTo>
                    <a:pt x="378" y="1919"/>
                  </a:lnTo>
                  <a:cubicBezTo>
                    <a:pt x="394" y="1903"/>
                    <a:pt x="1739" y="599"/>
                    <a:pt x="3436" y="599"/>
                  </a:cubicBezTo>
                  <a:cubicBezTo>
                    <a:pt x="5125" y="599"/>
                    <a:pt x="6478" y="1903"/>
                    <a:pt x="6486" y="1919"/>
                  </a:cubicBezTo>
                  <a:lnTo>
                    <a:pt x="6527" y="1952"/>
                  </a:lnTo>
                  <a:lnTo>
                    <a:pt x="6880" y="1575"/>
                  </a:lnTo>
                  <a:lnTo>
                    <a:pt x="6798" y="1550"/>
                  </a:lnTo>
                  <a:cubicBezTo>
                    <a:pt x="6445" y="1469"/>
                    <a:pt x="5814" y="968"/>
                    <a:pt x="5625" y="821"/>
                  </a:cubicBezTo>
                  <a:cubicBezTo>
                    <a:pt x="5584" y="780"/>
                    <a:pt x="5543" y="747"/>
                    <a:pt x="5502" y="706"/>
                  </a:cubicBezTo>
                  <a:cubicBezTo>
                    <a:pt x="4994" y="230"/>
                    <a:pt x="4305" y="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-1641591" y="880155"/>
              <a:ext cx="5936" cy="228492"/>
            </a:xfrm>
            <a:custGeom>
              <a:avLst/>
              <a:gdLst/>
              <a:ahLst/>
              <a:cxnLst/>
              <a:rect l="l" t="t" r="r" b="b"/>
              <a:pathLst>
                <a:path w="75" h="2887" extrusionOk="0">
                  <a:moveTo>
                    <a:pt x="42" y="1"/>
                  </a:moveTo>
                  <a:cubicBezTo>
                    <a:pt x="17" y="1"/>
                    <a:pt x="1" y="17"/>
                    <a:pt x="1" y="42"/>
                  </a:cubicBezTo>
                  <a:lnTo>
                    <a:pt x="1" y="2854"/>
                  </a:lnTo>
                  <a:cubicBezTo>
                    <a:pt x="1" y="2870"/>
                    <a:pt x="17" y="2887"/>
                    <a:pt x="42" y="2887"/>
                  </a:cubicBezTo>
                  <a:cubicBezTo>
                    <a:pt x="58" y="2887"/>
                    <a:pt x="75" y="2870"/>
                    <a:pt x="75" y="2854"/>
                  </a:cubicBezTo>
                  <a:lnTo>
                    <a:pt x="75" y="42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9"/>
            <p:cNvSpPr/>
            <p:nvPr/>
          </p:nvSpPr>
          <p:spPr>
            <a:xfrm>
              <a:off x="-1702531" y="939197"/>
              <a:ext cx="6569" cy="181163"/>
            </a:xfrm>
            <a:custGeom>
              <a:avLst/>
              <a:gdLst/>
              <a:ahLst/>
              <a:cxnLst/>
              <a:rect l="l" t="t" r="r" b="b"/>
              <a:pathLst>
                <a:path w="83" h="2289" extrusionOk="0">
                  <a:moveTo>
                    <a:pt x="41" y="1"/>
                  </a:moveTo>
                  <a:cubicBezTo>
                    <a:pt x="17" y="1"/>
                    <a:pt x="0" y="17"/>
                    <a:pt x="0" y="42"/>
                  </a:cubicBezTo>
                  <a:lnTo>
                    <a:pt x="0" y="2247"/>
                  </a:lnTo>
                  <a:cubicBezTo>
                    <a:pt x="0" y="2272"/>
                    <a:pt x="17" y="2288"/>
                    <a:pt x="41" y="2288"/>
                  </a:cubicBezTo>
                  <a:cubicBezTo>
                    <a:pt x="66" y="2288"/>
                    <a:pt x="82" y="2264"/>
                    <a:pt x="82" y="2247"/>
                  </a:cubicBezTo>
                  <a:lnTo>
                    <a:pt x="82" y="42"/>
                  </a:lnTo>
                  <a:cubicBezTo>
                    <a:pt x="82" y="17"/>
                    <a:pt x="66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9"/>
            <p:cNvSpPr/>
            <p:nvPr/>
          </p:nvSpPr>
          <p:spPr>
            <a:xfrm>
              <a:off x="-1759038" y="1004729"/>
              <a:ext cx="5936" cy="133122"/>
            </a:xfrm>
            <a:custGeom>
              <a:avLst/>
              <a:gdLst/>
              <a:ahLst/>
              <a:cxnLst/>
              <a:rect l="l" t="t" r="r" b="b"/>
              <a:pathLst>
                <a:path w="75" h="1682" extrusionOk="0">
                  <a:moveTo>
                    <a:pt x="42" y="1"/>
                  </a:moveTo>
                  <a:cubicBezTo>
                    <a:pt x="17" y="1"/>
                    <a:pt x="1" y="17"/>
                    <a:pt x="1" y="34"/>
                  </a:cubicBezTo>
                  <a:lnTo>
                    <a:pt x="1" y="1649"/>
                  </a:lnTo>
                  <a:cubicBezTo>
                    <a:pt x="1" y="1665"/>
                    <a:pt x="17" y="1682"/>
                    <a:pt x="42" y="1682"/>
                  </a:cubicBezTo>
                  <a:cubicBezTo>
                    <a:pt x="58" y="1682"/>
                    <a:pt x="75" y="1665"/>
                    <a:pt x="75" y="1649"/>
                  </a:cubicBezTo>
                  <a:lnTo>
                    <a:pt x="75" y="34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-1809610" y="1093688"/>
              <a:ext cx="5936" cy="64266"/>
            </a:xfrm>
            <a:custGeom>
              <a:avLst/>
              <a:gdLst/>
              <a:ahLst/>
              <a:cxnLst/>
              <a:rect l="l" t="t" r="r" b="b"/>
              <a:pathLst>
                <a:path w="75" h="812" extrusionOk="0">
                  <a:moveTo>
                    <a:pt x="33" y="0"/>
                  </a:moveTo>
                  <a:cubicBezTo>
                    <a:pt x="17" y="0"/>
                    <a:pt x="0" y="17"/>
                    <a:pt x="0" y="33"/>
                  </a:cubicBezTo>
                  <a:lnTo>
                    <a:pt x="0" y="771"/>
                  </a:lnTo>
                  <a:cubicBezTo>
                    <a:pt x="0" y="795"/>
                    <a:pt x="17" y="812"/>
                    <a:pt x="33" y="812"/>
                  </a:cubicBezTo>
                  <a:cubicBezTo>
                    <a:pt x="58" y="812"/>
                    <a:pt x="74" y="795"/>
                    <a:pt x="74" y="771"/>
                  </a:cubicBezTo>
                  <a:lnTo>
                    <a:pt x="74" y="33"/>
                  </a:lnTo>
                  <a:cubicBezTo>
                    <a:pt x="74" y="17"/>
                    <a:pt x="58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9"/>
            <p:cNvSpPr/>
            <p:nvPr/>
          </p:nvSpPr>
          <p:spPr>
            <a:xfrm>
              <a:off x="-1580256" y="939514"/>
              <a:ext cx="7202" cy="180846"/>
            </a:xfrm>
            <a:custGeom>
              <a:avLst/>
              <a:gdLst/>
              <a:ahLst/>
              <a:cxnLst/>
              <a:rect l="l" t="t" r="r" b="b"/>
              <a:pathLst>
                <a:path w="91" h="2285" extrusionOk="0">
                  <a:moveTo>
                    <a:pt x="46" y="1"/>
                  </a:moveTo>
                  <a:cubicBezTo>
                    <a:pt x="23" y="1"/>
                    <a:pt x="1" y="13"/>
                    <a:pt x="5" y="38"/>
                  </a:cubicBezTo>
                  <a:lnTo>
                    <a:pt x="5" y="2243"/>
                  </a:lnTo>
                  <a:cubicBezTo>
                    <a:pt x="5" y="2268"/>
                    <a:pt x="21" y="2284"/>
                    <a:pt x="46" y="2284"/>
                  </a:cubicBezTo>
                  <a:cubicBezTo>
                    <a:pt x="70" y="2284"/>
                    <a:pt x="87" y="2260"/>
                    <a:pt x="87" y="2243"/>
                  </a:cubicBezTo>
                  <a:lnTo>
                    <a:pt x="87" y="38"/>
                  </a:lnTo>
                  <a:cubicBezTo>
                    <a:pt x="91" y="13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9"/>
            <p:cNvSpPr/>
            <p:nvPr/>
          </p:nvSpPr>
          <p:spPr>
            <a:xfrm>
              <a:off x="-1522798" y="1004888"/>
              <a:ext cx="5936" cy="132964"/>
            </a:xfrm>
            <a:custGeom>
              <a:avLst/>
              <a:gdLst/>
              <a:ahLst/>
              <a:cxnLst/>
              <a:rect l="l" t="t" r="r" b="b"/>
              <a:pathLst>
                <a:path w="75" h="1680" extrusionOk="0">
                  <a:moveTo>
                    <a:pt x="34" y="1"/>
                  </a:moveTo>
                  <a:cubicBezTo>
                    <a:pt x="17" y="1"/>
                    <a:pt x="0" y="11"/>
                    <a:pt x="0" y="32"/>
                  </a:cubicBezTo>
                  <a:lnTo>
                    <a:pt x="0" y="1647"/>
                  </a:lnTo>
                  <a:cubicBezTo>
                    <a:pt x="0" y="1663"/>
                    <a:pt x="17" y="1680"/>
                    <a:pt x="33" y="1680"/>
                  </a:cubicBezTo>
                  <a:cubicBezTo>
                    <a:pt x="58" y="1680"/>
                    <a:pt x="74" y="1663"/>
                    <a:pt x="74" y="1647"/>
                  </a:cubicBezTo>
                  <a:lnTo>
                    <a:pt x="74" y="32"/>
                  </a:lnTo>
                  <a:cubicBezTo>
                    <a:pt x="70" y="11"/>
                    <a:pt x="52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9"/>
            <p:cNvSpPr/>
            <p:nvPr/>
          </p:nvSpPr>
          <p:spPr>
            <a:xfrm>
              <a:off x="-1472226" y="1093846"/>
              <a:ext cx="5936" cy="64107"/>
            </a:xfrm>
            <a:custGeom>
              <a:avLst/>
              <a:gdLst/>
              <a:ahLst/>
              <a:cxnLst/>
              <a:rect l="l" t="t" r="r" b="b"/>
              <a:pathLst>
                <a:path w="75" h="810" extrusionOk="0">
                  <a:moveTo>
                    <a:pt x="38" y="0"/>
                  </a:moveTo>
                  <a:cubicBezTo>
                    <a:pt x="21" y="0"/>
                    <a:pt x="5" y="10"/>
                    <a:pt x="1" y="31"/>
                  </a:cubicBezTo>
                  <a:lnTo>
                    <a:pt x="1" y="769"/>
                  </a:lnTo>
                  <a:cubicBezTo>
                    <a:pt x="1" y="793"/>
                    <a:pt x="17" y="810"/>
                    <a:pt x="42" y="810"/>
                  </a:cubicBezTo>
                  <a:cubicBezTo>
                    <a:pt x="58" y="810"/>
                    <a:pt x="75" y="793"/>
                    <a:pt x="75" y="769"/>
                  </a:cubicBezTo>
                  <a:lnTo>
                    <a:pt x="75" y="31"/>
                  </a:lnTo>
                  <a:cubicBezTo>
                    <a:pt x="71" y="10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9"/>
            <p:cNvSpPr/>
            <p:nvPr/>
          </p:nvSpPr>
          <p:spPr>
            <a:xfrm>
              <a:off x="-1672694" y="1906109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45"/>
                    <a:pt x="66" y="1345"/>
                  </a:cubicBezTo>
                  <a:cubicBezTo>
                    <a:pt x="66" y="1673"/>
                    <a:pt x="271" y="1943"/>
                    <a:pt x="517" y="1943"/>
                  </a:cubicBezTo>
                  <a:cubicBezTo>
                    <a:pt x="771" y="1943"/>
                    <a:pt x="976" y="1673"/>
                    <a:pt x="976" y="1345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9"/>
            <p:cNvSpPr/>
            <p:nvPr/>
          </p:nvSpPr>
          <p:spPr>
            <a:xfrm>
              <a:off x="-1676572" y="1901519"/>
              <a:ext cx="86344" cy="162326"/>
            </a:xfrm>
            <a:custGeom>
              <a:avLst/>
              <a:gdLst/>
              <a:ahLst/>
              <a:cxnLst/>
              <a:rect l="l" t="t" r="r" b="b"/>
              <a:pathLst>
                <a:path w="1091" h="2051" extrusionOk="0">
                  <a:moveTo>
                    <a:pt x="566" y="108"/>
                  </a:moveTo>
                  <a:cubicBezTo>
                    <a:pt x="582" y="116"/>
                    <a:pt x="599" y="124"/>
                    <a:pt x="599" y="140"/>
                  </a:cubicBezTo>
                  <a:cubicBezTo>
                    <a:pt x="853" y="509"/>
                    <a:pt x="984" y="952"/>
                    <a:pt x="976" y="1403"/>
                  </a:cubicBezTo>
                  <a:cubicBezTo>
                    <a:pt x="976" y="1698"/>
                    <a:pt x="804" y="1944"/>
                    <a:pt x="574" y="1944"/>
                  </a:cubicBezTo>
                  <a:cubicBezTo>
                    <a:pt x="345" y="1944"/>
                    <a:pt x="164" y="1698"/>
                    <a:pt x="164" y="1387"/>
                  </a:cubicBezTo>
                  <a:cubicBezTo>
                    <a:pt x="156" y="944"/>
                    <a:pt x="287" y="501"/>
                    <a:pt x="533" y="132"/>
                  </a:cubicBezTo>
                  <a:cubicBezTo>
                    <a:pt x="541" y="116"/>
                    <a:pt x="558" y="108"/>
                    <a:pt x="566" y="108"/>
                  </a:cubicBezTo>
                  <a:close/>
                  <a:moveTo>
                    <a:pt x="566" y="1"/>
                  </a:moveTo>
                  <a:cubicBezTo>
                    <a:pt x="517" y="9"/>
                    <a:pt x="476" y="34"/>
                    <a:pt x="451" y="75"/>
                  </a:cubicBezTo>
                  <a:cubicBezTo>
                    <a:pt x="0" y="780"/>
                    <a:pt x="66" y="1378"/>
                    <a:pt x="66" y="1395"/>
                  </a:cubicBezTo>
                  <a:cubicBezTo>
                    <a:pt x="66" y="1756"/>
                    <a:pt x="287" y="2051"/>
                    <a:pt x="566" y="2051"/>
                  </a:cubicBezTo>
                  <a:cubicBezTo>
                    <a:pt x="853" y="2051"/>
                    <a:pt x="1074" y="1756"/>
                    <a:pt x="1074" y="1403"/>
                  </a:cubicBezTo>
                  <a:cubicBezTo>
                    <a:pt x="1091" y="927"/>
                    <a:pt x="951" y="468"/>
                    <a:pt x="689" y="75"/>
                  </a:cubicBezTo>
                  <a:cubicBezTo>
                    <a:pt x="664" y="34"/>
                    <a:pt x="615" y="9"/>
                    <a:pt x="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9"/>
            <p:cNvSpPr/>
            <p:nvPr/>
          </p:nvSpPr>
          <p:spPr>
            <a:xfrm>
              <a:off x="-1672694" y="1691310"/>
              <a:ext cx="78589" cy="153225"/>
            </a:xfrm>
            <a:custGeom>
              <a:avLst/>
              <a:gdLst/>
              <a:ahLst/>
              <a:cxnLst/>
              <a:rect l="l" t="t" r="r" b="b"/>
              <a:pathLst>
                <a:path w="993" h="1936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37"/>
                    <a:pt x="66" y="1337"/>
                  </a:cubicBezTo>
                  <a:cubicBezTo>
                    <a:pt x="66" y="1673"/>
                    <a:pt x="271" y="1935"/>
                    <a:pt x="517" y="1935"/>
                  </a:cubicBezTo>
                  <a:cubicBezTo>
                    <a:pt x="771" y="1935"/>
                    <a:pt x="976" y="1673"/>
                    <a:pt x="976" y="1337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9"/>
            <p:cNvSpPr/>
            <p:nvPr/>
          </p:nvSpPr>
          <p:spPr>
            <a:xfrm>
              <a:off x="-1676572" y="1686799"/>
              <a:ext cx="86344" cy="162247"/>
            </a:xfrm>
            <a:custGeom>
              <a:avLst/>
              <a:gdLst/>
              <a:ahLst/>
              <a:cxnLst/>
              <a:rect l="l" t="t" r="r" b="b"/>
              <a:pathLst>
                <a:path w="1091" h="2050" extrusionOk="0">
                  <a:moveTo>
                    <a:pt x="566" y="98"/>
                  </a:moveTo>
                  <a:lnTo>
                    <a:pt x="566" y="107"/>
                  </a:lnTo>
                  <a:cubicBezTo>
                    <a:pt x="582" y="107"/>
                    <a:pt x="599" y="115"/>
                    <a:pt x="607" y="123"/>
                  </a:cubicBezTo>
                  <a:cubicBezTo>
                    <a:pt x="861" y="500"/>
                    <a:pt x="992" y="943"/>
                    <a:pt x="976" y="1394"/>
                  </a:cubicBezTo>
                  <a:cubicBezTo>
                    <a:pt x="976" y="1689"/>
                    <a:pt x="804" y="1943"/>
                    <a:pt x="574" y="1943"/>
                  </a:cubicBezTo>
                  <a:cubicBezTo>
                    <a:pt x="345" y="1943"/>
                    <a:pt x="164" y="1689"/>
                    <a:pt x="164" y="1386"/>
                  </a:cubicBezTo>
                  <a:cubicBezTo>
                    <a:pt x="156" y="935"/>
                    <a:pt x="287" y="500"/>
                    <a:pt x="533" y="123"/>
                  </a:cubicBezTo>
                  <a:cubicBezTo>
                    <a:pt x="550" y="107"/>
                    <a:pt x="558" y="98"/>
                    <a:pt x="566" y="98"/>
                  </a:cubicBezTo>
                  <a:close/>
                  <a:moveTo>
                    <a:pt x="566" y="0"/>
                  </a:moveTo>
                  <a:cubicBezTo>
                    <a:pt x="517" y="8"/>
                    <a:pt x="476" y="33"/>
                    <a:pt x="451" y="74"/>
                  </a:cubicBezTo>
                  <a:cubicBezTo>
                    <a:pt x="0" y="779"/>
                    <a:pt x="66" y="1377"/>
                    <a:pt x="66" y="1394"/>
                  </a:cubicBezTo>
                  <a:cubicBezTo>
                    <a:pt x="66" y="1755"/>
                    <a:pt x="287" y="2050"/>
                    <a:pt x="566" y="2050"/>
                  </a:cubicBezTo>
                  <a:cubicBezTo>
                    <a:pt x="853" y="2050"/>
                    <a:pt x="1074" y="1763"/>
                    <a:pt x="1074" y="1402"/>
                  </a:cubicBezTo>
                  <a:cubicBezTo>
                    <a:pt x="1091" y="927"/>
                    <a:pt x="951" y="467"/>
                    <a:pt x="689" y="74"/>
                  </a:cubicBezTo>
                  <a:cubicBezTo>
                    <a:pt x="664" y="33"/>
                    <a:pt x="615" y="8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9"/>
            <p:cNvSpPr/>
            <p:nvPr/>
          </p:nvSpPr>
          <p:spPr>
            <a:xfrm>
              <a:off x="-1672694" y="1475878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46"/>
                    <a:pt x="66" y="1345"/>
                    <a:pt x="66" y="1345"/>
                  </a:cubicBezTo>
                  <a:cubicBezTo>
                    <a:pt x="66" y="1673"/>
                    <a:pt x="271" y="1944"/>
                    <a:pt x="517" y="1944"/>
                  </a:cubicBezTo>
                  <a:cubicBezTo>
                    <a:pt x="771" y="1944"/>
                    <a:pt x="976" y="1673"/>
                    <a:pt x="976" y="1345"/>
                  </a:cubicBezTo>
                  <a:cubicBezTo>
                    <a:pt x="993" y="886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9"/>
            <p:cNvSpPr/>
            <p:nvPr/>
          </p:nvSpPr>
          <p:spPr>
            <a:xfrm>
              <a:off x="-1676572" y="1472000"/>
              <a:ext cx="86344" cy="161614"/>
            </a:xfrm>
            <a:custGeom>
              <a:avLst/>
              <a:gdLst/>
              <a:ahLst/>
              <a:cxnLst/>
              <a:rect l="l" t="t" r="r" b="b"/>
              <a:pathLst>
                <a:path w="1091" h="2042" extrusionOk="0">
                  <a:moveTo>
                    <a:pt x="566" y="99"/>
                  </a:moveTo>
                  <a:cubicBezTo>
                    <a:pt x="582" y="107"/>
                    <a:pt x="599" y="115"/>
                    <a:pt x="599" y="131"/>
                  </a:cubicBezTo>
                  <a:cubicBezTo>
                    <a:pt x="853" y="509"/>
                    <a:pt x="984" y="951"/>
                    <a:pt x="976" y="1402"/>
                  </a:cubicBezTo>
                  <a:cubicBezTo>
                    <a:pt x="976" y="1697"/>
                    <a:pt x="804" y="1935"/>
                    <a:pt x="574" y="1935"/>
                  </a:cubicBezTo>
                  <a:cubicBezTo>
                    <a:pt x="345" y="1935"/>
                    <a:pt x="164" y="1689"/>
                    <a:pt x="164" y="1386"/>
                  </a:cubicBezTo>
                  <a:cubicBezTo>
                    <a:pt x="156" y="935"/>
                    <a:pt x="287" y="492"/>
                    <a:pt x="533" y="123"/>
                  </a:cubicBezTo>
                  <a:cubicBezTo>
                    <a:pt x="550" y="107"/>
                    <a:pt x="558" y="99"/>
                    <a:pt x="566" y="99"/>
                  </a:cubicBezTo>
                  <a:close/>
                  <a:moveTo>
                    <a:pt x="566" y="0"/>
                  </a:moveTo>
                  <a:cubicBezTo>
                    <a:pt x="517" y="0"/>
                    <a:pt x="476" y="33"/>
                    <a:pt x="451" y="74"/>
                  </a:cubicBezTo>
                  <a:cubicBezTo>
                    <a:pt x="0" y="771"/>
                    <a:pt x="66" y="1378"/>
                    <a:pt x="66" y="1394"/>
                  </a:cubicBezTo>
                  <a:cubicBezTo>
                    <a:pt x="66" y="1755"/>
                    <a:pt x="287" y="2042"/>
                    <a:pt x="566" y="2042"/>
                  </a:cubicBezTo>
                  <a:cubicBezTo>
                    <a:pt x="853" y="2042"/>
                    <a:pt x="1074" y="1755"/>
                    <a:pt x="1074" y="1402"/>
                  </a:cubicBezTo>
                  <a:cubicBezTo>
                    <a:pt x="1091" y="927"/>
                    <a:pt x="951" y="459"/>
                    <a:pt x="689" y="74"/>
                  </a:cubicBezTo>
                  <a:cubicBezTo>
                    <a:pt x="664" y="33"/>
                    <a:pt x="615" y="0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39"/>
          <p:cNvGrpSpPr/>
          <p:nvPr/>
        </p:nvGrpSpPr>
        <p:grpSpPr>
          <a:xfrm>
            <a:off x="8153050" y="814969"/>
            <a:ext cx="549053" cy="1183690"/>
            <a:chOff x="-1910200" y="880155"/>
            <a:chExt cx="549053" cy="1183690"/>
          </a:xfrm>
        </p:grpSpPr>
        <p:sp>
          <p:nvSpPr>
            <p:cNvPr id="863" name="Google Shape;863;p39"/>
            <p:cNvSpPr/>
            <p:nvPr/>
          </p:nvSpPr>
          <p:spPr>
            <a:xfrm>
              <a:off x="-1903077" y="1152730"/>
              <a:ext cx="530888" cy="251839"/>
            </a:xfrm>
            <a:custGeom>
              <a:avLst/>
              <a:gdLst/>
              <a:ahLst/>
              <a:cxnLst/>
              <a:rect l="l" t="t" r="r" b="b"/>
              <a:pathLst>
                <a:path w="6708" h="3182" extrusionOk="0">
                  <a:moveTo>
                    <a:pt x="3354" y="0"/>
                  </a:moveTo>
                  <a:cubicBezTo>
                    <a:pt x="2780" y="0"/>
                    <a:pt x="1919" y="82"/>
                    <a:pt x="1263" y="746"/>
                  </a:cubicBezTo>
                  <a:cubicBezTo>
                    <a:pt x="608" y="1402"/>
                    <a:pt x="1" y="1550"/>
                    <a:pt x="1" y="1550"/>
                  </a:cubicBezTo>
                  <a:cubicBezTo>
                    <a:pt x="1" y="1550"/>
                    <a:pt x="1288" y="3181"/>
                    <a:pt x="3354" y="3181"/>
                  </a:cubicBezTo>
                  <a:cubicBezTo>
                    <a:pt x="5412" y="3181"/>
                    <a:pt x="6708" y="1542"/>
                    <a:pt x="6708" y="1542"/>
                  </a:cubicBezTo>
                  <a:cubicBezTo>
                    <a:pt x="6708" y="1542"/>
                    <a:pt x="6101" y="1402"/>
                    <a:pt x="5445" y="738"/>
                  </a:cubicBezTo>
                  <a:cubicBezTo>
                    <a:pt x="4789" y="82"/>
                    <a:pt x="3928" y="0"/>
                    <a:pt x="3354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-1910200" y="1148140"/>
              <a:ext cx="544500" cy="259675"/>
            </a:xfrm>
            <a:custGeom>
              <a:avLst/>
              <a:gdLst/>
              <a:ahLst/>
              <a:cxnLst/>
              <a:rect l="l" t="t" r="r" b="b"/>
              <a:pathLst>
                <a:path w="6880" h="3281" extrusionOk="0">
                  <a:moveTo>
                    <a:pt x="3444" y="107"/>
                  </a:moveTo>
                  <a:cubicBezTo>
                    <a:pt x="4330" y="107"/>
                    <a:pt x="5002" y="345"/>
                    <a:pt x="5494" y="837"/>
                  </a:cubicBezTo>
                  <a:cubicBezTo>
                    <a:pt x="5830" y="1190"/>
                    <a:pt x="6240" y="1460"/>
                    <a:pt x="6699" y="1624"/>
                  </a:cubicBezTo>
                  <a:cubicBezTo>
                    <a:pt x="6445" y="1919"/>
                    <a:pt x="5232" y="3182"/>
                    <a:pt x="3444" y="3182"/>
                  </a:cubicBezTo>
                  <a:cubicBezTo>
                    <a:pt x="1649" y="3182"/>
                    <a:pt x="435" y="1919"/>
                    <a:pt x="181" y="1624"/>
                  </a:cubicBezTo>
                  <a:cubicBezTo>
                    <a:pt x="640" y="1460"/>
                    <a:pt x="1058" y="1190"/>
                    <a:pt x="1394" y="837"/>
                  </a:cubicBezTo>
                  <a:cubicBezTo>
                    <a:pt x="1886" y="345"/>
                    <a:pt x="2559" y="107"/>
                    <a:pt x="3444" y="107"/>
                  </a:cubicBezTo>
                  <a:close/>
                  <a:moveTo>
                    <a:pt x="3444" y="1"/>
                  </a:moveTo>
                  <a:cubicBezTo>
                    <a:pt x="2526" y="1"/>
                    <a:pt x="1829" y="247"/>
                    <a:pt x="1321" y="763"/>
                  </a:cubicBezTo>
                  <a:cubicBezTo>
                    <a:pt x="681" y="1403"/>
                    <a:pt x="91" y="1550"/>
                    <a:pt x="83" y="1550"/>
                  </a:cubicBezTo>
                  <a:lnTo>
                    <a:pt x="1" y="1567"/>
                  </a:lnTo>
                  <a:lnTo>
                    <a:pt x="50" y="1632"/>
                  </a:lnTo>
                  <a:cubicBezTo>
                    <a:pt x="66" y="1649"/>
                    <a:pt x="1378" y="3280"/>
                    <a:pt x="3444" y="3280"/>
                  </a:cubicBezTo>
                  <a:cubicBezTo>
                    <a:pt x="5502" y="3280"/>
                    <a:pt x="6814" y="1649"/>
                    <a:pt x="6830" y="1632"/>
                  </a:cubicBezTo>
                  <a:lnTo>
                    <a:pt x="6880" y="1567"/>
                  </a:lnTo>
                  <a:lnTo>
                    <a:pt x="6806" y="1550"/>
                  </a:lnTo>
                  <a:cubicBezTo>
                    <a:pt x="6798" y="1550"/>
                    <a:pt x="6207" y="1403"/>
                    <a:pt x="5568" y="763"/>
                  </a:cubicBezTo>
                  <a:cubicBezTo>
                    <a:pt x="5059" y="255"/>
                    <a:pt x="4362" y="1"/>
                    <a:pt x="3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9"/>
            <p:cNvSpPr/>
            <p:nvPr/>
          </p:nvSpPr>
          <p:spPr>
            <a:xfrm>
              <a:off x="-1738224" y="1171567"/>
              <a:ext cx="199281" cy="199287"/>
            </a:xfrm>
            <a:custGeom>
              <a:avLst/>
              <a:gdLst/>
              <a:ahLst/>
              <a:cxnLst/>
              <a:rect l="l" t="t" r="r" b="b"/>
              <a:pathLst>
                <a:path w="2518" h="2518" extrusionOk="0">
                  <a:moveTo>
                    <a:pt x="1263" y="0"/>
                  </a:moveTo>
                  <a:cubicBezTo>
                    <a:pt x="566" y="0"/>
                    <a:pt x="0" y="558"/>
                    <a:pt x="0" y="1254"/>
                  </a:cubicBezTo>
                  <a:cubicBezTo>
                    <a:pt x="0" y="1951"/>
                    <a:pt x="566" y="2517"/>
                    <a:pt x="1263" y="2517"/>
                  </a:cubicBezTo>
                  <a:cubicBezTo>
                    <a:pt x="1952" y="2517"/>
                    <a:pt x="2517" y="1951"/>
                    <a:pt x="2517" y="1254"/>
                  </a:cubicBezTo>
                  <a:cubicBezTo>
                    <a:pt x="2517" y="558"/>
                    <a:pt x="1952" y="0"/>
                    <a:pt x="12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9"/>
            <p:cNvSpPr/>
            <p:nvPr/>
          </p:nvSpPr>
          <p:spPr>
            <a:xfrm>
              <a:off x="-1777162" y="1167134"/>
              <a:ext cx="242730" cy="207597"/>
            </a:xfrm>
            <a:custGeom>
              <a:avLst/>
              <a:gdLst/>
              <a:ahLst/>
              <a:cxnLst/>
              <a:rect l="l" t="t" r="r" b="b"/>
              <a:pathLst>
                <a:path w="3067" h="2623" extrusionOk="0">
                  <a:moveTo>
                    <a:pt x="1755" y="105"/>
                  </a:moveTo>
                  <a:cubicBezTo>
                    <a:pt x="2419" y="105"/>
                    <a:pt x="2960" y="646"/>
                    <a:pt x="2960" y="1310"/>
                  </a:cubicBezTo>
                  <a:cubicBezTo>
                    <a:pt x="2960" y="2037"/>
                    <a:pt x="2367" y="2520"/>
                    <a:pt x="1747" y="2520"/>
                  </a:cubicBezTo>
                  <a:cubicBezTo>
                    <a:pt x="1451" y="2520"/>
                    <a:pt x="1149" y="2410"/>
                    <a:pt x="902" y="2163"/>
                  </a:cubicBezTo>
                  <a:cubicBezTo>
                    <a:pt x="140" y="1409"/>
                    <a:pt x="673" y="105"/>
                    <a:pt x="1755" y="105"/>
                  </a:cubicBezTo>
                  <a:close/>
                  <a:moveTo>
                    <a:pt x="1744" y="1"/>
                  </a:moveTo>
                  <a:cubicBezTo>
                    <a:pt x="1423" y="1"/>
                    <a:pt x="1096" y="119"/>
                    <a:pt x="829" y="384"/>
                  </a:cubicBezTo>
                  <a:cubicBezTo>
                    <a:pt x="0" y="1212"/>
                    <a:pt x="583" y="2622"/>
                    <a:pt x="1755" y="2622"/>
                  </a:cubicBezTo>
                  <a:cubicBezTo>
                    <a:pt x="2477" y="2622"/>
                    <a:pt x="3059" y="2040"/>
                    <a:pt x="3067" y="1310"/>
                  </a:cubicBezTo>
                  <a:cubicBezTo>
                    <a:pt x="3061" y="522"/>
                    <a:pt x="2417" y="1"/>
                    <a:pt x="17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9"/>
            <p:cNvSpPr/>
            <p:nvPr/>
          </p:nvSpPr>
          <p:spPr>
            <a:xfrm>
              <a:off x="-1673327" y="1235753"/>
              <a:ext cx="70120" cy="70202"/>
            </a:xfrm>
            <a:custGeom>
              <a:avLst/>
              <a:gdLst/>
              <a:ahLst/>
              <a:cxnLst/>
              <a:rect l="l" t="t" r="r" b="b"/>
              <a:pathLst>
                <a:path w="886" h="887" extrusionOk="0">
                  <a:moveTo>
                    <a:pt x="443" y="1"/>
                  </a:moveTo>
                  <a:cubicBezTo>
                    <a:pt x="197" y="1"/>
                    <a:pt x="0" y="198"/>
                    <a:pt x="0" y="443"/>
                  </a:cubicBezTo>
                  <a:cubicBezTo>
                    <a:pt x="0" y="689"/>
                    <a:pt x="197" y="886"/>
                    <a:pt x="443" y="886"/>
                  </a:cubicBezTo>
                  <a:cubicBezTo>
                    <a:pt x="681" y="886"/>
                    <a:pt x="886" y="689"/>
                    <a:pt x="886" y="443"/>
                  </a:cubicBezTo>
                  <a:cubicBezTo>
                    <a:pt x="886" y="198"/>
                    <a:pt x="681" y="1"/>
                    <a:pt x="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9"/>
            <p:cNvSpPr/>
            <p:nvPr/>
          </p:nvSpPr>
          <p:spPr>
            <a:xfrm>
              <a:off x="-1740836" y="1222773"/>
              <a:ext cx="109058" cy="128611"/>
            </a:xfrm>
            <a:custGeom>
              <a:avLst/>
              <a:gdLst/>
              <a:ahLst/>
              <a:cxnLst/>
              <a:rect l="l" t="t" r="r" b="b"/>
              <a:pathLst>
                <a:path w="1378" h="1625" extrusionOk="0">
                  <a:moveTo>
                    <a:pt x="505" y="0"/>
                  </a:moveTo>
                  <a:cubicBezTo>
                    <a:pt x="488" y="0"/>
                    <a:pt x="470" y="9"/>
                    <a:pt x="460" y="25"/>
                  </a:cubicBezTo>
                  <a:cubicBezTo>
                    <a:pt x="1" y="706"/>
                    <a:pt x="492" y="1624"/>
                    <a:pt x="1312" y="1624"/>
                  </a:cubicBezTo>
                  <a:lnTo>
                    <a:pt x="1312" y="1616"/>
                  </a:lnTo>
                  <a:cubicBezTo>
                    <a:pt x="1378" y="1616"/>
                    <a:pt x="1378" y="1518"/>
                    <a:pt x="1312" y="1518"/>
                  </a:cubicBezTo>
                  <a:cubicBezTo>
                    <a:pt x="804" y="1518"/>
                    <a:pt x="386" y="1099"/>
                    <a:pt x="386" y="591"/>
                  </a:cubicBezTo>
                  <a:cubicBezTo>
                    <a:pt x="394" y="411"/>
                    <a:pt x="443" y="230"/>
                    <a:pt x="550" y="83"/>
                  </a:cubicBezTo>
                  <a:cubicBezTo>
                    <a:pt x="566" y="58"/>
                    <a:pt x="558" y="25"/>
                    <a:pt x="533" y="9"/>
                  </a:cubicBezTo>
                  <a:cubicBezTo>
                    <a:pt x="525" y="3"/>
                    <a:pt x="515" y="0"/>
                    <a:pt x="50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>
              <a:off x="-1903077" y="1152730"/>
              <a:ext cx="530255" cy="144123"/>
            </a:xfrm>
            <a:custGeom>
              <a:avLst/>
              <a:gdLst/>
              <a:ahLst/>
              <a:cxnLst/>
              <a:rect l="l" t="t" r="r" b="b"/>
              <a:pathLst>
                <a:path w="6700" h="1821" extrusionOk="0">
                  <a:moveTo>
                    <a:pt x="3354" y="0"/>
                  </a:moveTo>
                  <a:cubicBezTo>
                    <a:pt x="2805" y="0"/>
                    <a:pt x="1993" y="74"/>
                    <a:pt x="1345" y="664"/>
                  </a:cubicBezTo>
                  <a:cubicBezTo>
                    <a:pt x="1288" y="714"/>
                    <a:pt x="1231" y="763"/>
                    <a:pt x="1173" y="812"/>
                  </a:cubicBezTo>
                  <a:cubicBezTo>
                    <a:pt x="804" y="1091"/>
                    <a:pt x="411" y="1337"/>
                    <a:pt x="1" y="1550"/>
                  </a:cubicBezTo>
                  <a:lnTo>
                    <a:pt x="263" y="1820"/>
                  </a:lnTo>
                  <a:cubicBezTo>
                    <a:pt x="263" y="1820"/>
                    <a:pt x="1616" y="492"/>
                    <a:pt x="3354" y="492"/>
                  </a:cubicBezTo>
                  <a:cubicBezTo>
                    <a:pt x="5084" y="492"/>
                    <a:pt x="6445" y="1820"/>
                    <a:pt x="6445" y="1820"/>
                  </a:cubicBezTo>
                  <a:lnTo>
                    <a:pt x="6699" y="1550"/>
                  </a:lnTo>
                  <a:cubicBezTo>
                    <a:pt x="6347" y="1460"/>
                    <a:pt x="5724" y="976"/>
                    <a:pt x="5511" y="804"/>
                  </a:cubicBezTo>
                  <a:cubicBezTo>
                    <a:pt x="5470" y="771"/>
                    <a:pt x="5429" y="730"/>
                    <a:pt x="5379" y="689"/>
                  </a:cubicBezTo>
                  <a:cubicBezTo>
                    <a:pt x="4732" y="82"/>
                    <a:pt x="3904" y="0"/>
                    <a:pt x="33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9"/>
            <p:cNvSpPr/>
            <p:nvPr/>
          </p:nvSpPr>
          <p:spPr>
            <a:xfrm>
              <a:off x="-1905647" y="1147510"/>
              <a:ext cx="544500" cy="154570"/>
            </a:xfrm>
            <a:custGeom>
              <a:avLst/>
              <a:gdLst/>
              <a:ahLst/>
              <a:cxnLst/>
              <a:rect l="l" t="t" r="r" b="b"/>
              <a:pathLst>
                <a:path w="6880" h="1953" extrusionOk="0">
                  <a:moveTo>
                    <a:pt x="3436" y="107"/>
                  </a:moveTo>
                  <a:cubicBezTo>
                    <a:pt x="4289" y="107"/>
                    <a:pt x="4945" y="329"/>
                    <a:pt x="5429" y="780"/>
                  </a:cubicBezTo>
                  <a:cubicBezTo>
                    <a:pt x="5470" y="821"/>
                    <a:pt x="5519" y="862"/>
                    <a:pt x="5560" y="895"/>
                  </a:cubicBezTo>
                  <a:cubicBezTo>
                    <a:pt x="5789" y="1083"/>
                    <a:pt x="6322" y="1493"/>
                    <a:pt x="6691" y="1624"/>
                  </a:cubicBezTo>
                  <a:lnTo>
                    <a:pt x="6519" y="1805"/>
                  </a:lnTo>
                  <a:cubicBezTo>
                    <a:pt x="6289" y="1591"/>
                    <a:pt x="5010" y="501"/>
                    <a:pt x="3436" y="501"/>
                  </a:cubicBezTo>
                  <a:cubicBezTo>
                    <a:pt x="1862" y="501"/>
                    <a:pt x="583" y="1600"/>
                    <a:pt x="345" y="1805"/>
                  </a:cubicBezTo>
                  <a:lnTo>
                    <a:pt x="165" y="1616"/>
                  </a:lnTo>
                  <a:cubicBezTo>
                    <a:pt x="558" y="1411"/>
                    <a:pt x="927" y="1173"/>
                    <a:pt x="1288" y="911"/>
                  </a:cubicBezTo>
                  <a:cubicBezTo>
                    <a:pt x="1345" y="870"/>
                    <a:pt x="1395" y="821"/>
                    <a:pt x="1452" y="772"/>
                  </a:cubicBezTo>
                  <a:lnTo>
                    <a:pt x="1460" y="755"/>
                  </a:lnTo>
                  <a:cubicBezTo>
                    <a:pt x="1944" y="321"/>
                    <a:pt x="2575" y="107"/>
                    <a:pt x="3436" y="107"/>
                  </a:cubicBezTo>
                  <a:close/>
                  <a:moveTo>
                    <a:pt x="3436" y="1"/>
                  </a:moveTo>
                  <a:cubicBezTo>
                    <a:pt x="2567" y="1"/>
                    <a:pt x="1895" y="222"/>
                    <a:pt x="1395" y="681"/>
                  </a:cubicBezTo>
                  <a:lnTo>
                    <a:pt x="1378" y="690"/>
                  </a:lnTo>
                  <a:cubicBezTo>
                    <a:pt x="1329" y="739"/>
                    <a:pt x="1280" y="788"/>
                    <a:pt x="1222" y="829"/>
                  </a:cubicBezTo>
                  <a:cubicBezTo>
                    <a:pt x="854" y="1100"/>
                    <a:pt x="468" y="1346"/>
                    <a:pt x="66" y="1550"/>
                  </a:cubicBezTo>
                  <a:lnTo>
                    <a:pt x="1" y="1583"/>
                  </a:lnTo>
                  <a:lnTo>
                    <a:pt x="345" y="1952"/>
                  </a:lnTo>
                  <a:lnTo>
                    <a:pt x="378" y="1919"/>
                  </a:lnTo>
                  <a:cubicBezTo>
                    <a:pt x="394" y="1903"/>
                    <a:pt x="1739" y="599"/>
                    <a:pt x="3436" y="599"/>
                  </a:cubicBezTo>
                  <a:cubicBezTo>
                    <a:pt x="5125" y="599"/>
                    <a:pt x="6478" y="1903"/>
                    <a:pt x="6486" y="1919"/>
                  </a:cubicBezTo>
                  <a:lnTo>
                    <a:pt x="6527" y="1952"/>
                  </a:lnTo>
                  <a:lnTo>
                    <a:pt x="6880" y="1575"/>
                  </a:lnTo>
                  <a:lnTo>
                    <a:pt x="6798" y="1550"/>
                  </a:lnTo>
                  <a:cubicBezTo>
                    <a:pt x="6445" y="1469"/>
                    <a:pt x="5814" y="968"/>
                    <a:pt x="5625" y="821"/>
                  </a:cubicBezTo>
                  <a:cubicBezTo>
                    <a:pt x="5584" y="780"/>
                    <a:pt x="5543" y="747"/>
                    <a:pt x="5502" y="706"/>
                  </a:cubicBezTo>
                  <a:cubicBezTo>
                    <a:pt x="4994" y="230"/>
                    <a:pt x="4305" y="1"/>
                    <a:pt x="34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9"/>
            <p:cNvSpPr/>
            <p:nvPr/>
          </p:nvSpPr>
          <p:spPr>
            <a:xfrm>
              <a:off x="-1641591" y="880155"/>
              <a:ext cx="5936" cy="228492"/>
            </a:xfrm>
            <a:custGeom>
              <a:avLst/>
              <a:gdLst/>
              <a:ahLst/>
              <a:cxnLst/>
              <a:rect l="l" t="t" r="r" b="b"/>
              <a:pathLst>
                <a:path w="75" h="2887" extrusionOk="0">
                  <a:moveTo>
                    <a:pt x="42" y="1"/>
                  </a:moveTo>
                  <a:cubicBezTo>
                    <a:pt x="17" y="1"/>
                    <a:pt x="1" y="17"/>
                    <a:pt x="1" y="42"/>
                  </a:cubicBezTo>
                  <a:lnTo>
                    <a:pt x="1" y="2854"/>
                  </a:lnTo>
                  <a:cubicBezTo>
                    <a:pt x="1" y="2870"/>
                    <a:pt x="17" y="2887"/>
                    <a:pt x="42" y="2887"/>
                  </a:cubicBezTo>
                  <a:cubicBezTo>
                    <a:pt x="58" y="2887"/>
                    <a:pt x="75" y="2870"/>
                    <a:pt x="75" y="2854"/>
                  </a:cubicBezTo>
                  <a:lnTo>
                    <a:pt x="75" y="42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9"/>
            <p:cNvSpPr/>
            <p:nvPr/>
          </p:nvSpPr>
          <p:spPr>
            <a:xfrm>
              <a:off x="-1702531" y="939197"/>
              <a:ext cx="6569" cy="181163"/>
            </a:xfrm>
            <a:custGeom>
              <a:avLst/>
              <a:gdLst/>
              <a:ahLst/>
              <a:cxnLst/>
              <a:rect l="l" t="t" r="r" b="b"/>
              <a:pathLst>
                <a:path w="83" h="2289" extrusionOk="0">
                  <a:moveTo>
                    <a:pt x="41" y="1"/>
                  </a:moveTo>
                  <a:cubicBezTo>
                    <a:pt x="17" y="1"/>
                    <a:pt x="0" y="17"/>
                    <a:pt x="0" y="42"/>
                  </a:cubicBezTo>
                  <a:lnTo>
                    <a:pt x="0" y="2247"/>
                  </a:lnTo>
                  <a:cubicBezTo>
                    <a:pt x="0" y="2272"/>
                    <a:pt x="17" y="2288"/>
                    <a:pt x="41" y="2288"/>
                  </a:cubicBezTo>
                  <a:cubicBezTo>
                    <a:pt x="66" y="2288"/>
                    <a:pt x="82" y="2264"/>
                    <a:pt x="82" y="2247"/>
                  </a:cubicBezTo>
                  <a:lnTo>
                    <a:pt x="82" y="42"/>
                  </a:lnTo>
                  <a:cubicBezTo>
                    <a:pt x="82" y="17"/>
                    <a:pt x="66" y="1"/>
                    <a:pt x="41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9"/>
            <p:cNvSpPr/>
            <p:nvPr/>
          </p:nvSpPr>
          <p:spPr>
            <a:xfrm>
              <a:off x="-1759038" y="1004729"/>
              <a:ext cx="5936" cy="133122"/>
            </a:xfrm>
            <a:custGeom>
              <a:avLst/>
              <a:gdLst/>
              <a:ahLst/>
              <a:cxnLst/>
              <a:rect l="l" t="t" r="r" b="b"/>
              <a:pathLst>
                <a:path w="75" h="1682" extrusionOk="0">
                  <a:moveTo>
                    <a:pt x="42" y="1"/>
                  </a:moveTo>
                  <a:cubicBezTo>
                    <a:pt x="17" y="1"/>
                    <a:pt x="1" y="17"/>
                    <a:pt x="1" y="34"/>
                  </a:cubicBezTo>
                  <a:lnTo>
                    <a:pt x="1" y="1649"/>
                  </a:lnTo>
                  <a:cubicBezTo>
                    <a:pt x="1" y="1665"/>
                    <a:pt x="17" y="1682"/>
                    <a:pt x="42" y="1682"/>
                  </a:cubicBezTo>
                  <a:cubicBezTo>
                    <a:pt x="58" y="1682"/>
                    <a:pt x="75" y="1665"/>
                    <a:pt x="75" y="1649"/>
                  </a:cubicBezTo>
                  <a:lnTo>
                    <a:pt x="75" y="34"/>
                  </a:lnTo>
                  <a:cubicBezTo>
                    <a:pt x="75" y="17"/>
                    <a:pt x="58" y="1"/>
                    <a:pt x="42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9"/>
            <p:cNvSpPr/>
            <p:nvPr/>
          </p:nvSpPr>
          <p:spPr>
            <a:xfrm>
              <a:off x="-1809610" y="1093688"/>
              <a:ext cx="5936" cy="64266"/>
            </a:xfrm>
            <a:custGeom>
              <a:avLst/>
              <a:gdLst/>
              <a:ahLst/>
              <a:cxnLst/>
              <a:rect l="l" t="t" r="r" b="b"/>
              <a:pathLst>
                <a:path w="75" h="812" extrusionOk="0">
                  <a:moveTo>
                    <a:pt x="33" y="0"/>
                  </a:moveTo>
                  <a:cubicBezTo>
                    <a:pt x="17" y="0"/>
                    <a:pt x="0" y="17"/>
                    <a:pt x="0" y="33"/>
                  </a:cubicBezTo>
                  <a:lnTo>
                    <a:pt x="0" y="771"/>
                  </a:lnTo>
                  <a:cubicBezTo>
                    <a:pt x="0" y="795"/>
                    <a:pt x="17" y="812"/>
                    <a:pt x="33" y="812"/>
                  </a:cubicBezTo>
                  <a:cubicBezTo>
                    <a:pt x="58" y="812"/>
                    <a:pt x="74" y="795"/>
                    <a:pt x="74" y="771"/>
                  </a:cubicBezTo>
                  <a:lnTo>
                    <a:pt x="74" y="33"/>
                  </a:lnTo>
                  <a:cubicBezTo>
                    <a:pt x="74" y="17"/>
                    <a:pt x="58" y="0"/>
                    <a:pt x="33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9"/>
            <p:cNvSpPr/>
            <p:nvPr/>
          </p:nvSpPr>
          <p:spPr>
            <a:xfrm>
              <a:off x="-1580256" y="939514"/>
              <a:ext cx="7202" cy="180846"/>
            </a:xfrm>
            <a:custGeom>
              <a:avLst/>
              <a:gdLst/>
              <a:ahLst/>
              <a:cxnLst/>
              <a:rect l="l" t="t" r="r" b="b"/>
              <a:pathLst>
                <a:path w="91" h="2285" extrusionOk="0">
                  <a:moveTo>
                    <a:pt x="46" y="1"/>
                  </a:moveTo>
                  <a:cubicBezTo>
                    <a:pt x="23" y="1"/>
                    <a:pt x="1" y="13"/>
                    <a:pt x="5" y="38"/>
                  </a:cubicBezTo>
                  <a:lnTo>
                    <a:pt x="5" y="2243"/>
                  </a:lnTo>
                  <a:cubicBezTo>
                    <a:pt x="5" y="2268"/>
                    <a:pt x="21" y="2284"/>
                    <a:pt x="46" y="2284"/>
                  </a:cubicBezTo>
                  <a:cubicBezTo>
                    <a:pt x="70" y="2284"/>
                    <a:pt x="87" y="2260"/>
                    <a:pt x="87" y="2243"/>
                  </a:cubicBezTo>
                  <a:lnTo>
                    <a:pt x="87" y="38"/>
                  </a:lnTo>
                  <a:cubicBezTo>
                    <a:pt x="91" y="13"/>
                    <a:pt x="68" y="1"/>
                    <a:pt x="46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9"/>
            <p:cNvSpPr/>
            <p:nvPr/>
          </p:nvSpPr>
          <p:spPr>
            <a:xfrm>
              <a:off x="-1522798" y="1004888"/>
              <a:ext cx="5936" cy="132964"/>
            </a:xfrm>
            <a:custGeom>
              <a:avLst/>
              <a:gdLst/>
              <a:ahLst/>
              <a:cxnLst/>
              <a:rect l="l" t="t" r="r" b="b"/>
              <a:pathLst>
                <a:path w="75" h="1680" extrusionOk="0">
                  <a:moveTo>
                    <a:pt x="34" y="1"/>
                  </a:moveTo>
                  <a:cubicBezTo>
                    <a:pt x="17" y="1"/>
                    <a:pt x="0" y="11"/>
                    <a:pt x="0" y="32"/>
                  </a:cubicBezTo>
                  <a:lnTo>
                    <a:pt x="0" y="1647"/>
                  </a:lnTo>
                  <a:cubicBezTo>
                    <a:pt x="0" y="1663"/>
                    <a:pt x="17" y="1680"/>
                    <a:pt x="33" y="1680"/>
                  </a:cubicBezTo>
                  <a:cubicBezTo>
                    <a:pt x="58" y="1680"/>
                    <a:pt x="74" y="1663"/>
                    <a:pt x="74" y="1647"/>
                  </a:cubicBezTo>
                  <a:lnTo>
                    <a:pt x="74" y="32"/>
                  </a:lnTo>
                  <a:cubicBezTo>
                    <a:pt x="70" y="11"/>
                    <a:pt x="52" y="1"/>
                    <a:pt x="3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-1472226" y="1093846"/>
              <a:ext cx="5936" cy="64107"/>
            </a:xfrm>
            <a:custGeom>
              <a:avLst/>
              <a:gdLst/>
              <a:ahLst/>
              <a:cxnLst/>
              <a:rect l="l" t="t" r="r" b="b"/>
              <a:pathLst>
                <a:path w="75" h="810" extrusionOk="0">
                  <a:moveTo>
                    <a:pt x="38" y="0"/>
                  </a:moveTo>
                  <a:cubicBezTo>
                    <a:pt x="21" y="0"/>
                    <a:pt x="5" y="10"/>
                    <a:pt x="1" y="31"/>
                  </a:cubicBezTo>
                  <a:lnTo>
                    <a:pt x="1" y="769"/>
                  </a:lnTo>
                  <a:cubicBezTo>
                    <a:pt x="1" y="793"/>
                    <a:pt x="17" y="810"/>
                    <a:pt x="42" y="810"/>
                  </a:cubicBezTo>
                  <a:cubicBezTo>
                    <a:pt x="58" y="810"/>
                    <a:pt x="75" y="793"/>
                    <a:pt x="75" y="769"/>
                  </a:cubicBezTo>
                  <a:lnTo>
                    <a:pt x="75" y="31"/>
                  </a:lnTo>
                  <a:cubicBezTo>
                    <a:pt x="71" y="10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-1672694" y="1906109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45"/>
                    <a:pt x="66" y="1345"/>
                  </a:cubicBezTo>
                  <a:cubicBezTo>
                    <a:pt x="66" y="1673"/>
                    <a:pt x="271" y="1943"/>
                    <a:pt x="517" y="1943"/>
                  </a:cubicBezTo>
                  <a:cubicBezTo>
                    <a:pt x="771" y="1943"/>
                    <a:pt x="976" y="1673"/>
                    <a:pt x="976" y="1345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9"/>
            <p:cNvSpPr/>
            <p:nvPr/>
          </p:nvSpPr>
          <p:spPr>
            <a:xfrm>
              <a:off x="-1676572" y="1901519"/>
              <a:ext cx="86344" cy="162326"/>
            </a:xfrm>
            <a:custGeom>
              <a:avLst/>
              <a:gdLst/>
              <a:ahLst/>
              <a:cxnLst/>
              <a:rect l="l" t="t" r="r" b="b"/>
              <a:pathLst>
                <a:path w="1091" h="2051" extrusionOk="0">
                  <a:moveTo>
                    <a:pt x="566" y="108"/>
                  </a:moveTo>
                  <a:cubicBezTo>
                    <a:pt x="582" y="116"/>
                    <a:pt x="599" y="124"/>
                    <a:pt x="599" y="140"/>
                  </a:cubicBezTo>
                  <a:cubicBezTo>
                    <a:pt x="853" y="509"/>
                    <a:pt x="984" y="952"/>
                    <a:pt x="976" y="1403"/>
                  </a:cubicBezTo>
                  <a:cubicBezTo>
                    <a:pt x="976" y="1698"/>
                    <a:pt x="804" y="1944"/>
                    <a:pt x="574" y="1944"/>
                  </a:cubicBezTo>
                  <a:cubicBezTo>
                    <a:pt x="345" y="1944"/>
                    <a:pt x="164" y="1698"/>
                    <a:pt x="164" y="1387"/>
                  </a:cubicBezTo>
                  <a:cubicBezTo>
                    <a:pt x="156" y="944"/>
                    <a:pt x="287" y="501"/>
                    <a:pt x="533" y="132"/>
                  </a:cubicBezTo>
                  <a:cubicBezTo>
                    <a:pt x="541" y="116"/>
                    <a:pt x="558" y="108"/>
                    <a:pt x="566" y="108"/>
                  </a:cubicBezTo>
                  <a:close/>
                  <a:moveTo>
                    <a:pt x="566" y="1"/>
                  </a:moveTo>
                  <a:cubicBezTo>
                    <a:pt x="517" y="9"/>
                    <a:pt x="476" y="34"/>
                    <a:pt x="451" y="75"/>
                  </a:cubicBezTo>
                  <a:cubicBezTo>
                    <a:pt x="0" y="780"/>
                    <a:pt x="66" y="1378"/>
                    <a:pt x="66" y="1395"/>
                  </a:cubicBezTo>
                  <a:cubicBezTo>
                    <a:pt x="66" y="1756"/>
                    <a:pt x="287" y="2051"/>
                    <a:pt x="566" y="2051"/>
                  </a:cubicBezTo>
                  <a:cubicBezTo>
                    <a:pt x="853" y="2051"/>
                    <a:pt x="1074" y="1756"/>
                    <a:pt x="1074" y="1403"/>
                  </a:cubicBezTo>
                  <a:cubicBezTo>
                    <a:pt x="1091" y="927"/>
                    <a:pt x="951" y="468"/>
                    <a:pt x="689" y="75"/>
                  </a:cubicBezTo>
                  <a:cubicBezTo>
                    <a:pt x="664" y="34"/>
                    <a:pt x="615" y="9"/>
                    <a:pt x="5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9"/>
            <p:cNvSpPr/>
            <p:nvPr/>
          </p:nvSpPr>
          <p:spPr>
            <a:xfrm>
              <a:off x="-1672694" y="1691310"/>
              <a:ext cx="78589" cy="153225"/>
            </a:xfrm>
            <a:custGeom>
              <a:avLst/>
              <a:gdLst/>
              <a:ahLst/>
              <a:cxnLst/>
              <a:rect l="l" t="t" r="r" b="b"/>
              <a:pathLst>
                <a:path w="993" h="1936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38"/>
                    <a:pt x="66" y="1337"/>
                    <a:pt x="66" y="1337"/>
                  </a:cubicBezTo>
                  <a:cubicBezTo>
                    <a:pt x="66" y="1673"/>
                    <a:pt x="271" y="1935"/>
                    <a:pt x="517" y="1935"/>
                  </a:cubicBezTo>
                  <a:cubicBezTo>
                    <a:pt x="771" y="1935"/>
                    <a:pt x="976" y="1673"/>
                    <a:pt x="976" y="1337"/>
                  </a:cubicBezTo>
                  <a:cubicBezTo>
                    <a:pt x="993" y="878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9"/>
            <p:cNvSpPr/>
            <p:nvPr/>
          </p:nvSpPr>
          <p:spPr>
            <a:xfrm>
              <a:off x="-1676572" y="1686799"/>
              <a:ext cx="86344" cy="162247"/>
            </a:xfrm>
            <a:custGeom>
              <a:avLst/>
              <a:gdLst/>
              <a:ahLst/>
              <a:cxnLst/>
              <a:rect l="l" t="t" r="r" b="b"/>
              <a:pathLst>
                <a:path w="1091" h="2050" extrusionOk="0">
                  <a:moveTo>
                    <a:pt x="566" y="98"/>
                  </a:moveTo>
                  <a:lnTo>
                    <a:pt x="566" y="107"/>
                  </a:lnTo>
                  <a:cubicBezTo>
                    <a:pt x="582" y="107"/>
                    <a:pt x="599" y="115"/>
                    <a:pt x="607" y="123"/>
                  </a:cubicBezTo>
                  <a:cubicBezTo>
                    <a:pt x="861" y="500"/>
                    <a:pt x="992" y="943"/>
                    <a:pt x="976" y="1394"/>
                  </a:cubicBezTo>
                  <a:cubicBezTo>
                    <a:pt x="976" y="1689"/>
                    <a:pt x="804" y="1943"/>
                    <a:pt x="574" y="1943"/>
                  </a:cubicBezTo>
                  <a:cubicBezTo>
                    <a:pt x="345" y="1943"/>
                    <a:pt x="164" y="1689"/>
                    <a:pt x="164" y="1386"/>
                  </a:cubicBezTo>
                  <a:cubicBezTo>
                    <a:pt x="156" y="935"/>
                    <a:pt x="287" y="500"/>
                    <a:pt x="533" y="123"/>
                  </a:cubicBezTo>
                  <a:cubicBezTo>
                    <a:pt x="550" y="107"/>
                    <a:pt x="558" y="98"/>
                    <a:pt x="566" y="98"/>
                  </a:cubicBezTo>
                  <a:close/>
                  <a:moveTo>
                    <a:pt x="566" y="0"/>
                  </a:moveTo>
                  <a:cubicBezTo>
                    <a:pt x="517" y="8"/>
                    <a:pt x="476" y="33"/>
                    <a:pt x="451" y="74"/>
                  </a:cubicBezTo>
                  <a:cubicBezTo>
                    <a:pt x="0" y="779"/>
                    <a:pt x="66" y="1377"/>
                    <a:pt x="66" y="1394"/>
                  </a:cubicBezTo>
                  <a:cubicBezTo>
                    <a:pt x="66" y="1755"/>
                    <a:pt x="287" y="2050"/>
                    <a:pt x="566" y="2050"/>
                  </a:cubicBezTo>
                  <a:cubicBezTo>
                    <a:pt x="853" y="2050"/>
                    <a:pt x="1074" y="1763"/>
                    <a:pt x="1074" y="1402"/>
                  </a:cubicBezTo>
                  <a:cubicBezTo>
                    <a:pt x="1091" y="927"/>
                    <a:pt x="951" y="467"/>
                    <a:pt x="689" y="74"/>
                  </a:cubicBezTo>
                  <a:cubicBezTo>
                    <a:pt x="664" y="33"/>
                    <a:pt x="615" y="8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9"/>
            <p:cNvSpPr/>
            <p:nvPr/>
          </p:nvSpPr>
          <p:spPr>
            <a:xfrm>
              <a:off x="-1672694" y="1475878"/>
              <a:ext cx="78589" cy="153858"/>
            </a:xfrm>
            <a:custGeom>
              <a:avLst/>
              <a:gdLst/>
              <a:ahLst/>
              <a:cxnLst/>
              <a:rect l="l" t="t" r="r" b="b"/>
              <a:pathLst>
                <a:path w="993" h="1944" extrusionOk="0">
                  <a:moveTo>
                    <a:pt x="521" y="0"/>
                  </a:moveTo>
                  <a:cubicBezTo>
                    <a:pt x="490" y="0"/>
                    <a:pt x="460" y="17"/>
                    <a:pt x="443" y="50"/>
                  </a:cubicBezTo>
                  <a:cubicBezTo>
                    <a:pt x="0" y="746"/>
                    <a:pt x="66" y="1345"/>
                    <a:pt x="66" y="1345"/>
                  </a:cubicBezTo>
                  <a:cubicBezTo>
                    <a:pt x="66" y="1673"/>
                    <a:pt x="271" y="1944"/>
                    <a:pt x="517" y="1944"/>
                  </a:cubicBezTo>
                  <a:cubicBezTo>
                    <a:pt x="771" y="1944"/>
                    <a:pt x="976" y="1673"/>
                    <a:pt x="976" y="1345"/>
                  </a:cubicBezTo>
                  <a:cubicBezTo>
                    <a:pt x="993" y="886"/>
                    <a:pt x="853" y="427"/>
                    <a:pt x="599" y="50"/>
                  </a:cubicBezTo>
                  <a:cubicBezTo>
                    <a:pt x="583" y="17"/>
                    <a:pt x="552" y="0"/>
                    <a:pt x="5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9"/>
            <p:cNvSpPr/>
            <p:nvPr/>
          </p:nvSpPr>
          <p:spPr>
            <a:xfrm>
              <a:off x="-1676572" y="1472000"/>
              <a:ext cx="86344" cy="161614"/>
            </a:xfrm>
            <a:custGeom>
              <a:avLst/>
              <a:gdLst/>
              <a:ahLst/>
              <a:cxnLst/>
              <a:rect l="l" t="t" r="r" b="b"/>
              <a:pathLst>
                <a:path w="1091" h="2042" extrusionOk="0">
                  <a:moveTo>
                    <a:pt x="566" y="99"/>
                  </a:moveTo>
                  <a:cubicBezTo>
                    <a:pt x="582" y="107"/>
                    <a:pt x="599" y="115"/>
                    <a:pt x="599" y="131"/>
                  </a:cubicBezTo>
                  <a:cubicBezTo>
                    <a:pt x="853" y="509"/>
                    <a:pt x="984" y="951"/>
                    <a:pt x="976" y="1402"/>
                  </a:cubicBezTo>
                  <a:cubicBezTo>
                    <a:pt x="976" y="1697"/>
                    <a:pt x="804" y="1935"/>
                    <a:pt x="574" y="1935"/>
                  </a:cubicBezTo>
                  <a:cubicBezTo>
                    <a:pt x="345" y="1935"/>
                    <a:pt x="164" y="1689"/>
                    <a:pt x="164" y="1386"/>
                  </a:cubicBezTo>
                  <a:cubicBezTo>
                    <a:pt x="156" y="935"/>
                    <a:pt x="287" y="492"/>
                    <a:pt x="533" y="123"/>
                  </a:cubicBezTo>
                  <a:cubicBezTo>
                    <a:pt x="550" y="107"/>
                    <a:pt x="558" y="99"/>
                    <a:pt x="566" y="99"/>
                  </a:cubicBezTo>
                  <a:close/>
                  <a:moveTo>
                    <a:pt x="566" y="0"/>
                  </a:moveTo>
                  <a:cubicBezTo>
                    <a:pt x="517" y="0"/>
                    <a:pt x="476" y="33"/>
                    <a:pt x="451" y="74"/>
                  </a:cubicBezTo>
                  <a:cubicBezTo>
                    <a:pt x="0" y="771"/>
                    <a:pt x="66" y="1378"/>
                    <a:pt x="66" y="1394"/>
                  </a:cubicBezTo>
                  <a:cubicBezTo>
                    <a:pt x="66" y="1755"/>
                    <a:pt x="287" y="2042"/>
                    <a:pt x="566" y="2042"/>
                  </a:cubicBezTo>
                  <a:cubicBezTo>
                    <a:pt x="853" y="2042"/>
                    <a:pt x="1074" y="1755"/>
                    <a:pt x="1074" y="1402"/>
                  </a:cubicBezTo>
                  <a:cubicBezTo>
                    <a:pt x="1091" y="927"/>
                    <a:pt x="951" y="459"/>
                    <a:pt x="689" y="74"/>
                  </a:cubicBezTo>
                  <a:cubicBezTo>
                    <a:pt x="664" y="33"/>
                    <a:pt x="615" y="0"/>
                    <a:pt x="5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39"/>
          <p:cNvSpPr/>
          <p:nvPr/>
        </p:nvSpPr>
        <p:spPr>
          <a:xfrm>
            <a:off x="8341744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39"/>
          <p:cNvSpPr/>
          <p:nvPr/>
        </p:nvSpPr>
        <p:spPr>
          <a:xfrm>
            <a:off x="6168425" y="3379542"/>
            <a:ext cx="85541" cy="97968"/>
          </a:xfrm>
          <a:custGeom>
            <a:avLst/>
            <a:gdLst/>
            <a:ahLst/>
            <a:cxnLst/>
            <a:rect l="l" t="t" r="r" b="b"/>
            <a:pathLst>
              <a:path w="1067" h="1222" extrusionOk="0">
                <a:moveTo>
                  <a:pt x="509" y="0"/>
                </a:moveTo>
                <a:cubicBezTo>
                  <a:pt x="484" y="172"/>
                  <a:pt x="452" y="336"/>
                  <a:pt x="411" y="508"/>
                </a:cubicBezTo>
                <a:cubicBezTo>
                  <a:pt x="271" y="541"/>
                  <a:pt x="140" y="582"/>
                  <a:pt x="9" y="623"/>
                </a:cubicBezTo>
                <a:cubicBezTo>
                  <a:pt x="1" y="623"/>
                  <a:pt x="25" y="631"/>
                  <a:pt x="33" y="631"/>
                </a:cubicBezTo>
                <a:cubicBezTo>
                  <a:pt x="156" y="664"/>
                  <a:pt x="279" y="697"/>
                  <a:pt x="411" y="722"/>
                </a:cubicBezTo>
                <a:cubicBezTo>
                  <a:pt x="452" y="886"/>
                  <a:pt x="476" y="1058"/>
                  <a:pt x="525" y="1222"/>
                </a:cubicBezTo>
                <a:cubicBezTo>
                  <a:pt x="558" y="1050"/>
                  <a:pt x="607" y="886"/>
                  <a:pt x="665" y="722"/>
                </a:cubicBezTo>
                <a:lnTo>
                  <a:pt x="1067" y="615"/>
                </a:lnTo>
                <a:cubicBezTo>
                  <a:pt x="919" y="582"/>
                  <a:pt x="780" y="558"/>
                  <a:pt x="640" y="525"/>
                </a:cubicBezTo>
                <a:cubicBezTo>
                  <a:pt x="599" y="353"/>
                  <a:pt x="550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39"/>
          <p:cNvSpPr/>
          <p:nvPr/>
        </p:nvSpPr>
        <p:spPr>
          <a:xfrm>
            <a:off x="441900" y="1469657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1" y="1"/>
                </a:moveTo>
                <a:cubicBezTo>
                  <a:pt x="476" y="173"/>
                  <a:pt x="451" y="345"/>
                  <a:pt x="410" y="518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17" y="641"/>
                  <a:pt x="33" y="641"/>
                </a:cubicBezTo>
                <a:cubicBezTo>
                  <a:pt x="156" y="681"/>
                  <a:pt x="279" y="706"/>
                  <a:pt x="410" y="731"/>
                </a:cubicBezTo>
                <a:cubicBezTo>
                  <a:pt x="443" y="895"/>
                  <a:pt x="468" y="1067"/>
                  <a:pt x="525" y="1231"/>
                </a:cubicBezTo>
                <a:cubicBezTo>
                  <a:pt x="558" y="1067"/>
                  <a:pt x="607" y="895"/>
                  <a:pt x="656" y="731"/>
                </a:cubicBezTo>
                <a:lnTo>
                  <a:pt x="1066" y="624"/>
                </a:lnTo>
                <a:cubicBezTo>
                  <a:pt x="919" y="591"/>
                  <a:pt x="779" y="559"/>
                  <a:pt x="632" y="526"/>
                </a:cubicBezTo>
                <a:cubicBezTo>
                  <a:pt x="591" y="362"/>
                  <a:pt x="542" y="173"/>
                  <a:pt x="501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39"/>
          <p:cNvSpPr/>
          <p:nvPr/>
        </p:nvSpPr>
        <p:spPr>
          <a:xfrm>
            <a:off x="2984302" y="4174643"/>
            <a:ext cx="157133" cy="179501"/>
          </a:xfrm>
          <a:custGeom>
            <a:avLst/>
            <a:gdLst/>
            <a:ahLst/>
            <a:cxnLst/>
            <a:rect l="l" t="t" r="r" b="b"/>
            <a:pathLst>
              <a:path w="1960" h="2239" extrusionOk="0">
                <a:moveTo>
                  <a:pt x="935" y="0"/>
                </a:moveTo>
                <a:cubicBezTo>
                  <a:pt x="886" y="312"/>
                  <a:pt x="828" y="623"/>
                  <a:pt x="754" y="927"/>
                </a:cubicBezTo>
                <a:cubicBezTo>
                  <a:pt x="508" y="1000"/>
                  <a:pt x="271" y="1066"/>
                  <a:pt x="25" y="1148"/>
                </a:cubicBezTo>
                <a:cubicBezTo>
                  <a:pt x="0" y="1148"/>
                  <a:pt x="49" y="1156"/>
                  <a:pt x="66" y="1164"/>
                </a:cubicBezTo>
                <a:cubicBezTo>
                  <a:pt x="295" y="1230"/>
                  <a:pt x="525" y="1279"/>
                  <a:pt x="754" y="1320"/>
                </a:cubicBezTo>
                <a:cubicBezTo>
                  <a:pt x="828" y="1623"/>
                  <a:pt x="877" y="1935"/>
                  <a:pt x="968" y="2238"/>
                </a:cubicBezTo>
                <a:cubicBezTo>
                  <a:pt x="1033" y="1935"/>
                  <a:pt x="1115" y="1623"/>
                  <a:pt x="1222" y="1328"/>
                </a:cubicBezTo>
                <a:lnTo>
                  <a:pt x="1960" y="1132"/>
                </a:lnTo>
                <a:cubicBezTo>
                  <a:pt x="1697" y="1074"/>
                  <a:pt x="1435" y="1017"/>
                  <a:pt x="1172" y="959"/>
                </a:cubicBezTo>
                <a:cubicBezTo>
                  <a:pt x="1099" y="648"/>
                  <a:pt x="1009" y="303"/>
                  <a:pt x="935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39"/>
          <p:cNvSpPr/>
          <p:nvPr/>
        </p:nvSpPr>
        <p:spPr>
          <a:xfrm>
            <a:off x="1801945" y="998390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39"/>
          <p:cNvSpPr/>
          <p:nvPr/>
        </p:nvSpPr>
        <p:spPr>
          <a:xfrm>
            <a:off x="2766428" y="738096"/>
            <a:ext cx="123622" cy="142061"/>
          </a:xfrm>
          <a:custGeom>
            <a:avLst/>
            <a:gdLst/>
            <a:ahLst/>
            <a:cxnLst/>
            <a:rect l="l" t="t" r="r" b="b"/>
            <a:pathLst>
              <a:path w="1542" h="1772" extrusionOk="0">
                <a:moveTo>
                  <a:pt x="730" y="0"/>
                </a:moveTo>
                <a:cubicBezTo>
                  <a:pt x="697" y="246"/>
                  <a:pt x="648" y="492"/>
                  <a:pt x="590" y="730"/>
                </a:cubicBezTo>
                <a:cubicBezTo>
                  <a:pt x="394" y="787"/>
                  <a:pt x="205" y="836"/>
                  <a:pt x="16" y="902"/>
                </a:cubicBezTo>
                <a:cubicBezTo>
                  <a:pt x="0" y="902"/>
                  <a:pt x="33" y="910"/>
                  <a:pt x="49" y="918"/>
                </a:cubicBezTo>
                <a:cubicBezTo>
                  <a:pt x="230" y="968"/>
                  <a:pt x="410" y="1009"/>
                  <a:pt x="590" y="1041"/>
                </a:cubicBezTo>
                <a:cubicBezTo>
                  <a:pt x="648" y="1279"/>
                  <a:pt x="689" y="1525"/>
                  <a:pt x="763" y="1771"/>
                </a:cubicBezTo>
                <a:cubicBezTo>
                  <a:pt x="812" y="1525"/>
                  <a:pt x="877" y="1287"/>
                  <a:pt x="959" y="1050"/>
                </a:cubicBezTo>
                <a:lnTo>
                  <a:pt x="1541" y="894"/>
                </a:lnTo>
                <a:cubicBezTo>
                  <a:pt x="1336" y="845"/>
                  <a:pt x="1123" y="804"/>
                  <a:pt x="918" y="754"/>
                </a:cubicBezTo>
                <a:cubicBezTo>
                  <a:pt x="861" y="508"/>
                  <a:pt x="787" y="238"/>
                  <a:pt x="730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39"/>
          <p:cNvSpPr/>
          <p:nvPr/>
        </p:nvSpPr>
        <p:spPr>
          <a:xfrm>
            <a:off x="5795219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39"/>
          <p:cNvSpPr/>
          <p:nvPr/>
        </p:nvSpPr>
        <p:spPr>
          <a:xfrm>
            <a:off x="2890050" y="3413867"/>
            <a:ext cx="85541" cy="97968"/>
          </a:xfrm>
          <a:custGeom>
            <a:avLst/>
            <a:gdLst/>
            <a:ahLst/>
            <a:cxnLst/>
            <a:rect l="l" t="t" r="r" b="b"/>
            <a:pathLst>
              <a:path w="1067" h="1222" extrusionOk="0">
                <a:moveTo>
                  <a:pt x="509" y="0"/>
                </a:moveTo>
                <a:cubicBezTo>
                  <a:pt x="484" y="172"/>
                  <a:pt x="452" y="336"/>
                  <a:pt x="411" y="508"/>
                </a:cubicBezTo>
                <a:cubicBezTo>
                  <a:pt x="271" y="541"/>
                  <a:pt x="140" y="582"/>
                  <a:pt x="9" y="623"/>
                </a:cubicBezTo>
                <a:cubicBezTo>
                  <a:pt x="1" y="623"/>
                  <a:pt x="25" y="631"/>
                  <a:pt x="33" y="631"/>
                </a:cubicBezTo>
                <a:cubicBezTo>
                  <a:pt x="156" y="664"/>
                  <a:pt x="279" y="697"/>
                  <a:pt x="411" y="722"/>
                </a:cubicBezTo>
                <a:cubicBezTo>
                  <a:pt x="452" y="886"/>
                  <a:pt x="476" y="1058"/>
                  <a:pt x="525" y="1222"/>
                </a:cubicBezTo>
                <a:cubicBezTo>
                  <a:pt x="558" y="1050"/>
                  <a:pt x="607" y="886"/>
                  <a:pt x="665" y="722"/>
                </a:cubicBezTo>
                <a:lnTo>
                  <a:pt x="1067" y="615"/>
                </a:lnTo>
                <a:cubicBezTo>
                  <a:pt x="919" y="582"/>
                  <a:pt x="780" y="558"/>
                  <a:pt x="640" y="525"/>
                </a:cubicBezTo>
                <a:cubicBezTo>
                  <a:pt x="599" y="353"/>
                  <a:pt x="550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39"/>
          <p:cNvSpPr/>
          <p:nvPr/>
        </p:nvSpPr>
        <p:spPr>
          <a:xfrm>
            <a:off x="6082883" y="759777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8" name="Google Shape;978;p39"/>
          <p:cNvSpPr/>
          <p:nvPr/>
        </p:nvSpPr>
        <p:spPr>
          <a:xfrm>
            <a:off x="630619" y="4166110"/>
            <a:ext cx="171644" cy="196577"/>
          </a:xfrm>
          <a:custGeom>
            <a:avLst/>
            <a:gdLst/>
            <a:ahLst/>
            <a:cxnLst/>
            <a:rect l="l" t="t" r="r" b="b"/>
            <a:pathLst>
              <a:path w="2141" h="2452" extrusionOk="0">
                <a:moveTo>
                  <a:pt x="1017" y="0"/>
                </a:moveTo>
                <a:cubicBezTo>
                  <a:pt x="968" y="344"/>
                  <a:pt x="902" y="681"/>
                  <a:pt x="820" y="1017"/>
                </a:cubicBezTo>
                <a:cubicBezTo>
                  <a:pt x="550" y="1099"/>
                  <a:pt x="287" y="1164"/>
                  <a:pt x="25" y="1255"/>
                </a:cubicBezTo>
                <a:cubicBezTo>
                  <a:pt x="0" y="1263"/>
                  <a:pt x="50" y="1271"/>
                  <a:pt x="74" y="1271"/>
                </a:cubicBezTo>
                <a:cubicBezTo>
                  <a:pt x="320" y="1345"/>
                  <a:pt x="566" y="1402"/>
                  <a:pt x="820" y="1443"/>
                </a:cubicBezTo>
                <a:cubicBezTo>
                  <a:pt x="894" y="1787"/>
                  <a:pt x="951" y="2124"/>
                  <a:pt x="1050" y="2452"/>
                </a:cubicBezTo>
                <a:cubicBezTo>
                  <a:pt x="1124" y="2115"/>
                  <a:pt x="1222" y="1779"/>
                  <a:pt x="1329" y="1451"/>
                </a:cubicBezTo>
                <a:lnTo>
                  <a:pt x="2140" y="1238"/>
                </a:lnTo>
                <a:cubicBezTo>
                  <a:pt x="1845" y="1173"/>
                  <a:pt x="1566" y="1115"/>
                  <a:pt x="1279" y="1050"/>
                </a:cubicBezTo>
                <a:cubicBezTo>
                  <a:pt x="1189" y="713"/>
                  <a:pt x="1099" y="336"/>
                  <a:pt x="1017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39"/>
          <p:cNvSpPr/>
          <p:nvPr/>
        </p:nvSpPr>
        <p:spPr>
          <a:xfrm>
            <a:off x="139054" y="4918531"/>
            <a:ext cx="85541" cy="98048"/>
          </a:xfrm>
          <a:custGeom>
            <a:avLst/>
            <a:gdLst/>
            <a:ahLst/>
            <a:cxnLst/>
            <a:rect l="l" t="t" r="r" b="b"/>
            <a:pathLst>
              <a:path w="1067" h="1223" extrusionOk="0">
                <a:moveTo>
                  <a:pt x="509" y="0"/>
                </a:moveTo>
                <a:cubicBezTo>
                  <a:pt x="476" y="173"/>
                  <a:pt x="452" y="337"/>
                  <a:pt x="411" y="509"/>
                </a:cubicBezTo>
                <a:cubicBezTo>
                  <a:pt x="272" y="542"/>
                  <a:pt x="140" y="583"/>
                  <a:pt x="9" y="624"/>
                </a:cubicBezTo>
                <a:cubicBezTo>
                  <a:pt x="1" y="624"/>
                  <a:pt x="26" y="632"/>
                  <a:pt x="34" y="632"/>
                </a:cubicBezTo>
                <a:cubicBezTo>
                  <a:pt x="157" y="673"/>
                  <a:pt x="280" y="697"/>
                  <a:pt x="411" y="722"/>
                </a:cubicBezTo>
                <a:cubicBezTo>
                  <a:pt x="444" y="894"/>
                  <a:pt x="476" y="1058"/>
                  <a:pt x="526" y="1222"/>
                </a:cubicBezTo>
                <a:cubicBezTo>
                  <a:pt x="558" y="1058"/>
                  <a:pt x="608" y="886"/>
                  <a:pt x="665" y="722"/>
                </a:cubicBezTo>
                <a:lnTo>
                  <a:pt x="1067" y="624"/>
                </a:lnTo>
                <a:cubicBezTo>
                  <a:pt x="919" y="583"/>
                  <a:pt x="780" y="558"/>
                  <a:pt x="632" y="525"/>
                </a:cubicBezTo>
                <a:cubicBezTo>
                  <a:pt x="591" y="353"/>
                  <a:pt x="542" y="164"/>
                  <a:pt x="509" y="0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0"/>
          <p:cNvSpPr txBox="1">
            <a:spLocks noGrp="1"/>
          </p:cNvSpPr>
          <p:nvPr>
            <p:ph type="title"/>
          </p:nvPr>
        </p:nvSpPr>
        <p:spPr>
          <a:xfrm>
            <a:off x="720000" y="423614"/>
            <a:ext cx="7707600" cy="7141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Problem Statement</a:t>
            </a:r>
            <a:endParaRPr sz="2800" dirty="0"/>
          </a:p>
        </p:txBody>
      </p:sp>
      <p:grpSp>
        <p:nvGrpSpPr>
          <p:cNvPr id="2" name="Google Shape;1184;p43">
            <a:extLst>
              <a:ext uri="{FF2B5EF4-FFF2-40B4-BE49-F238E27FC236}">
                <a16:creationId xmlns:a16="http://schemas.microsoft.com/office/drawing/2014/main" id="{E5E17C98-F4F8-CCAD-8E31-009565B50084}"/>
              </a:ext>
            </a:extLst>
          </p:cNvPr>
          <p:cNvGrpSpPr/>
          <p:nvPr/>
        </p:nvGrpSpPr>
        <p:grpSpPr>
          <a:xfrm>
            <a:off x="7327290" y="3552329"/>
            <a:ext cx="1178342" cy="1167556"/>
            <a:chOff x="2384375" y="283525"/>
            <a:chExt cx="1550075" cy="1630425"/>
          </a:xfrm>
        </p:grpSpPr>
        <p:sp>
          <p:nvSpPr>
            <p:cNvPr id="3" name="Google Shape;1185;p43">
              <a:extLst>
                <a:ext uri="{FF2B5EF4-FFF2-40B4-BE49-F238E27FC236}">
                  <a16:creationId xmlns:a16="http://schemas.microsoft.com/office/drawing/2014/main" id="{28813216-B547-A3AD-E6A6-56EF0D16F352}"/>
                </a:ext>
              </a:extLst>
            </p:cNvPr>
            <p:cNvSpPr/>
            <p:nvPr/>
          </p:nvSpPr>
          <p:spPr>
            <a:xfrm>
              <a:off x="2387875" y="283525"/>
              <a:ext cx="1546575" cy="1534350"/>
            </a:xfrm>
            <a:custGeom>
              <a:avLst/>
              <a:gdLst/>
              <a:ahLst/>
              <a:cxnLst/>
              <a:rect l="l" t="t" r="r" b="b"/>
              <a:pathLst>
                <a:path w="61863" h="61374" extrusionOk="0">
                  <a:moveTo>
                    <a:pt x="33673" y="0"/>
                  </a:moveTo>
                  <a:lnTo>
                    <a:pt x="0" y="17501"/>
                  </a:lnTo>
                  <a:lnTo>
                    <a:pt x="22565" y="60186"/>
                  </a:lnTo>
                  <a:lnTo>
                    <a:pt x="30215" y="61374"/>
                  </a:lnTo>
                  <a:lnTo>
                    <a:pt x="61863" y="46074"/>
                  </a:lnTo>
                  <a:lnTo>
                    <a:pt x="41917" y="2131"/>
                  </a:lnTo>
                  <a:lnTo>
                    <a:pt x="336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186;p43">
              <a:extLst>
                <a:ext uri="{FF2B5EF4-FFF2-40B4-BE49-F238E27FC236}">
                  <a16:creationId xmlns:a16="http://schemas.microsoft.com/office/drawing/2014/main" id="{FCA688FE-2630-649A-EB80-90AD73BA0F09}"/>
                </a:ext>
              </a:extLst>
            </p:cNvPr>
            <p:cNvSpPr/>
            <p:nvPr/>
          </p:nvSpPr>
          <p:spPr>
            <a:xfrm>
              <a:off x="2384375" y="718075"/>
              <a:ext cx="762400" cy="1103300"/>
            </a:xfrm>
            <a:custGeom>
              <a:avLst/>
              <a:gdLst/>
              <a:ahLst/>
              <a:cxnLst/>
              <a:rect l="l" t="t" r="r" b="b"/>
              <a:pathLst>
                <a:path w="30496" h="44132" extrusionOk="0">
                  <a:moveTo>
                    <a:pt x="107" y="0"/>
                  </a:moveTo>
                  <a:cubicBezTo>
                    <a:pt x="73" y="0"/>
                    <a:pt x="35" y="33"/>
                    <a:pt x="35" y="84"/>
                  </a:cubicBezTo>
                  <a:cubicBezTo>
                    <a:pt x="0" y="154"/>
                    <a:pt x="35" y="189"/>
                    <a:pt x="105" y="224"/>
                  </a:cubicBezTo>
                  <a:lnTo>
                    <a:pt x="8524" y="1900"/>
                  </a:lnTo>
                  <a:lnTo>
                    <a:pt x="30251" y="44062"/>
                  </a:lnTo>
                  <a:cubicBezTo>
                    <a:pt x="30251" y="44097"/>
                    <a:pt x="30285" y="44132"/>
                    <a:pt x="30355" y="44132"/>
                  </a:cubicBezTo>
                  <a:cubicBezTo>
                    <a:pt x="30355" y="44132"/>
                    <a:pt x="30390" y="44097"/>
                    <a:pt x="30425" y="44097"/>
                  </a:cubicBezTo>
                  <a:cubicBezTo>
                    <a:pt x="30460" y="44062"/>
                    <a:pt x="30495" y="43992"/>
                    <a:pt x="30460" y="43957"/>
                  </a:cubicBezTo>
                  <a:lnTo>
                    <a:pt x="8733" y="1760"/>
                  </a:lnTo>
                  <a:cubicBezTo>
                    <a:pt x="8698" y="1726"/>
                    <a:pt x="8663" y="1691"/>
                    <a:pt x="8628" y="1691"/>
                  </a:cubicBezTo>
                  <a:lnTo>
                    <a:pt x="140" y="14"/>
                  </a:lnTo>
                  <a:cubicBezTo>
                    <a:pt x="131" y="5"/>
                    <a:pt x="119" y="0"/>
                    <a:pt x="1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187;p43">
              <a:extLst>
                <a:ext uri="{FF2B5EF4-FFF2-40B4-BE49-F238E27FC236}">
                  <a16:creationId xmlns:a16="http://schemas.microsoft.com/office/drawing/2014/main" id="{E206FA96-885C-4DAE-7F5E-5D06202A41FE}"/>
                </a:ext>
              </a:extLst>
            </p:cNvPr>
            <p:cNvSpPr/>
            <p:nvPr/>
          </p:nvSpPr>
          <p:spPr>
            <a:xfrm>
              <a:off x="2596575" y="334675"/>
              <a:ext cx="842725" cy="430925"/>
            </a:xfrm>
            <a:custGeom>
              <a:avLst/>
              <a:gdLst/>
              <a:ahLst/>
              <a:cxnLst/>
              <a:rect l="l" t="t" r="r" b="b"/>
              <a:pathLst>
                <a:path w="33709" h="17237" extrusionOk="0">
                  <a:moveTo>
                    <a:pt x="33572" y="1"/>
                  </a:moveTo>
                  <a:cubicBezTo>
                    <a:pt x="33558" y="1"/>
                    <a:pt x="33544" y="5"/>
                    <a:pt x="33534" y="15"/>
                  </a:cubicBezTo>
                  <a:lnTo>
                    <a:pt x="71" y="17027"/>
                  </a:lnTo>
                  <a:cubicBezTo>
                    <a:pt x="1" y="17062"/>
                    <a:pt x="1" y="17131"/>
                    <a:pt x="1" y="17201"/>
                  </a:cubicBezTo>
                  <a:cubicBezTo>
                    <a:pt x="36" y="17236"/>
                    <a:pt x="71" y="17236"/>
                    <a:pt x="105" y="17236"/>
                  </a:cubicBezTo>
                  <a:lnTo>
                    <a:pt x="175" y="17236"/>
                  </a:lnTo>
                  <a:lnTo>
                    <a:pt x="33639" y="190"/>
                  </a:lnTo>
                  <a:cubicBezTo>
                    <a:pt x="33674" y="190"/>
                    <a:pt x="33709" y="120"/>
                    <a:pt x="33674" y="50"/>
                  </a:cubicBezTo>
                  <a:cubicBezTo>
                    <a:pt x="33649" y="26"/>
                    <a:pt x="33607" y="1"/>
                    <a:pt x="33572" y="1"/>
                  </a:cubicBezTo>
                  <a:close/>
                </a:path>
              </a:pathLst>
            </a:custGeom>
            <a:solidFill>
              <a:srgbClr val="C7A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88;p43">
              <a:extLst>
                <a:ext uri="{FF2B5EF4-FFF2-40B4-BE49-F238E27FC236}">
                  <a16:creationId xmlns:a16="http://schemas.microsoft.com/office/drawing/2014/main" id="{6927956E-A381-8363-7273-B39E47F019FB}"/>
                </a:ext>
              </a:extLst>
            </p:cNvPr>
            <p:cNvSpPr/>
            <p:nvPr/>
          </p:nvSpPr>
          <p:spPr>
            <a:xfrm>
              <a:off x="2414075" y="287900"/>
              <a:ext cx="1021750" cy="475075"/>
            </a:xfrm>
            <a:custGeom>
              <a:avLst/>
              <a:gdLst/>
              <a:ahLst/>
              <a:cxnLst/>
              <a:rect l="l" t="t" r="r" b="b"/>
              <a:pathLst>
                <a:path w="40870" h="19003" extrusionOk="0">
                  <a:moveTo>
                    <a:pt x="33045" y="0"/>
                  </a:moveTo>
                  <a:lnTo>
                    <a:pt x="0" y="17500"/>
                  </a:lnTo>
                  <a:lnTo>
                    <a:pt x="7405" y="19002"/>
                  </a:lnTo>
                  <a:lnTo>
                    <a:pt x="40869" y="1956"/>
                  </a:lnTo>
                  <a:lnTo>
                    <a:pt x="330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89;p43">
              <a:extLst>
                <a:ext uri="{FF2B5EF4-FFF2-40B4-BE49-F238E27FC236}">
                  <a16:creationId xmlns:a16="http://schemas.microsoft.com/office/drawing/2014/main" id="{D1E8F236-FCAA-357D-4B56-3161C911E0F0}"/>
                </a:ext>
              </a:extLst>
            </p:cNvPr>
            <p:cNvSpPr/>
            <p:nvPr/>
          </p:nvSpPr>
          <p:spPr>
            <a:xfrm>
              <a:off x="2453375" y="289275"/>
              <a:ext cx="812150" cy="434400"/>
            </a:xfrm>
            <a:custGeom>
              <a:avLst/>
              <a:gdLst/>
              <a:ahLst/>
              <a:cxnLst/>
              <a:rect l="l" t="t" r="r" b="b"/>
              <a:pathLst>
                <a:path w="32486" h="17376" extrusionOk="0">
                  <a:moveTo>
                    <a:pt x="32349" y="0"/>
                  </a:moveTo>
                  <a:cubicBezTo>
                    <a:pt x="32334" y="0"/>
                    <a:pt x="32321" y="5"/>
                    <a:pt x="32311" y="15"/>
                  </a:cubicBezTo>
                  <a:lnTo>
                    <a:pt x="70" y="17166"/>
                  </a:lnTo>
                  <a:cubicBezTo>
                    <a:pt x="0" y="17201"/>
                    <a:pt x="0" y="17271"/>
                    <a:pt x="35" y="17306"/>
                  </a:cubicBezTo>
                  <a:cubicBezTo>
                    <a:pt x="35" y="17341"/>
                    <a:pt x="70" y="17376"/>
                    <a:pt x="105" y="17376"/>
                  </a:cubicBezTo>
                  <a:cubicBezTo>
                    <a:pt x="140" y="17376"/>
                    <a:pt x="140" y="17376"/>
                    <a:pt x="175" y="17341"/>
                  </a:cubicBezTo>
                  <a:lnTo>
                    <a:pt x="32416" y="190"/>
                  </a:lnTo>
                  <a:cubicBezTo>
                    <a:pt x="32451" y="190"/>
                    <a:pt x="32486" y="120"/>
                    <a:pt x="32451" y="50"/>
                  </a:cubicBezTo>
                  <a:cubicBezTo>
                    <a:pt x="32426" y="25"/>
                    <a:pt x="32384" y="0"/>
                    <a:pt x="323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0;p43">
              <a:extLst>
                <a:ext uri="{FF2B5EF4-FFF2-40B4-BE49-F238E27FC236}">
                  <a16:creationId xmlns:a16="http://schemas.microsoft.com/office/drawing/2014/main" id="{92BC12DE-22F2-CBC2-E088-790F7496BF37}"/>
                </a:ext>
              </a:extLst>
            </p:cNvPr>
            <p:cNvSpPr/>
            <p:nvPr/>
          </p:nvSpPr>
          <p:spPr>
            <a:xfrm>
              <a:off x="2486550" y="295175"/>
              <a:ext cx="801675" cy="428500"/>
            </a:xfrm>
            <a:custGeom>
              <a:avLst/>
              <a:gdLst/>
              <a:ahLst/>
              <a:cxnLst/>
              <a:rect l="l" t="t" r="r" b="b"/>
              <a:pathLst>
                <a:path w="32067" h="17140" extrusionOk="0">
                  <a:moveTo>
                    <a:pt x="31949" y="0"/>
                  </a:moveTo>
                  <a:cubicBezTo>
                    <a:pt x="31927" y="0"/>
                    <a:pt x="31907" y="9"/>
                    <a:pt x="31892" y="23"/>
                  </a:cubicBezTo>
                  <a:lnTo>
                    <a:pt x="105" y="16930"/>
                  </a:lnTo>
                  <a:cubicBezTo>
                    <a:pt x="35" y="16965"/>
                    <a:pt x="0" y="17035"/>
                    <a:pt x="35" y="17070"/>
                  </a:cubicBezTo>
                  <a:cubicBezTo>
                    <a:pt x="70" y="17105"/>
                    <a:pt x="105" y="17140"/>
                    <a:pt x="140" y="17140"/>
                  </a:cubicBezTo>
                  <a:cubicBezTo>
                    <a:pt x="175" y="17140"/>
                    <a:pt x="175" y="17140"/>
                    <a:pt x="210" y="17105"/>
                  </a:cubicBezTo>
                  <a:lnTo>
                    <a:pt x="31997" y="198"/>
                  </a:lnTo>
                  <a:cubicBezTo>
                    <a:pt x="32032" y="163"/>
                    <a:pt x="32067" y="128"/>
                    <a:pt x="32032" y="58"/>
                  </a:cubicBezTo>
                  <a:cubicBezTo>
                    <a:pt x="32011" y="17"/>
                    <a:pt x="31979" y="0"/>
                    <a:pt x="319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1;p43">
              <a:extLst>
                <a:ext uri="{FF2B5EF4-FFF2-40B4-BE49-F238E27FC236}">
                  <a16:creationId xmlns:a16="http://schemas.microsoft.com/office/drawing/2014/main" id="{ACEACF85-1407-1A9D-289C-667D6BA7D829}"/>
                </a:ext>
              </a:extLst>
            </p:cNvPr>
            <p:cNvSpPr/>
            <p:nvPr/>
          </p:nvSpPr>
          <p:spPr>
            <a:xfrm>
              <a:off x="2501400" y="303250"/>
              <a:ext cx="813025" cy="434400"/>
            </a:xfrm>
            <a:custGeom>
              <a:avLst/>
              <a:gdLst/>
              <a:ahLst/>
              <a:cxnLst/>
              <a:rect l="l" t="t" r="r" b="b"/>
              <a:pathLst>
                <a:path w="32521" h="17376" extrusionOk="0">
                  <a:moveTo>
                    <a:pt x="32419" y="0"/>
                  </a:moveTo>
                  <a:cubicBezTo>
                    <a:pt x="32405" y="0"/>
                    <a:pt x="32391" y="5"/>
                    <a:pt x="32381" y="15"/>
                  </a:cubicBezTo>
                  <a:lnTo>
                    <a:pt x="70" y="17166"/>
                  </a:lnTo>
                  <a:cubicBezTo>
                    <a:pt x="35" y="17201"/>
                    <a:pt x="0" y="17271"/>
                    <a:pt x="35" y="17341"/>
                  </a:cubicBezTo>
                  <a:cubicBezTo>
                    <a:pt x="70" y="17375"/>
                    <a:pt x="105" y="17375"/>
                    <a:pt x="140" y="17375"/>
                  </a:cubicBezTo>
                  <a:lnTo>
                    <a:pt x="175" y="17375"/>
                  </a:lnTo>
                  <a:lnTo>
                    <a:pt x="32451" y="224"/>
                  </a:lnTo>
                  <a:cubicBezTo>
                    <a:pt x="32521" y="189"/>
                    <a:pt x="32521" y="120"/>
                    <a:pt x="32521" y="50"/>
                  </a:cubicBezTo>
                  <a:cubicBezTo>
                    <a:pt x="32496" y="25"/>
                    <a:pt x="32454" y="0"/>
                    <a:pt x="324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2;p43">
              <a:extLst>
                <a:ext uri="{FF2B5EF4-FFF2-40B4-BE49-F238E27FC236}">
                  <a16:creationId xmlns:a16="http://schemas.microsoft.com/office/drawing/2014/main" id="{E1B5191C-371F-2BED-9DBA-511CB4363850}"/>
                </a:ext>
              </a:extLst>
            </p:cNvPr>
            <p:cNvSpPr/>
            <p:nvPr/>
          </p:nvSpPr>
          <p:spPr>
            <a:xfrm>
              <a:off x="2532825" y="307975"/>
              <a:ext cx="805175" cy="429675"/>
            </a:xfrm>
            <a:custGeom>
              <a:avLst/>
              <a:gdLst/>
              <a:ahLst/>
              <a:cxnLst/>
              <a:rect l="l" t="t" r="r" b="b"/>
              <a:pathLst>
                <a:path w="32207" h="17187" extrusionOk="0">
                  <a:moveTo>
                    <a:pt x="32032" y="0"/>
                  </a:moveTo>
                  <a:lnTo>
                    <a:pt x="71" y="16977"/>
                  </a:lnTo>
                  <a:cubicBezTo>
                    <a:pt x="36" y="17012"/>
                    <a:pt x="1" y="17082"/>
                    <a:pt x="36" y="17152"/>
                  </a:cubicBezTo>
                  <a:cubicBezTo>
                    <a:pt x="71" y="17186"/>
                    <a:pt x="106" y="17186"/>
                    <a:pt x="140" y="17186"/>
                  </a:cubicBezTo>
                  <a:lnTo>
                    <a:pt x="175" y="17186"/>
                  </a:lnTo>
                  <a:lnTo>
                    <a:pt x="32137" y="210"/>
                  </a:lnTo>
                  <a:cubicBezTo>
                    <a:pt x="32172" y="175"/>
                    <a:pt x="32207" y="105"/>
                    <a:pt x="32172" y="70"/>
                  </a:cubicBezTo>
                  <a:cubicBezTo>
                    <a:pt x="32137" y="0"/>
                    <a:pt x="32102" y="0"/>
                    <a:pt x="320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3;p43">
              <a:extLst>
                <a:ext uri="{FF2B5EF4-FFF2-40B4-BE49-F238E27FC236}">
                  <a16:creationId xmlns:a16="http://schemas.microsoft.com/office/drawing/2014/main" id="{1B60E086-D062-0E7B-CFA0-01D2D1B95244}"/>
                </a:ext>
              </a:extLst>
            </p:cNvPr>
            <p:cNvSpPr/>
            <p:nvPr/>
          </p:nvSpPr>
          <p:spPr>
            <a:xfrm>
              <a:off x="2547675" y="318100"/>
              <a:ext cx="828750" cy="435275"/>
            </a:xfrm>
            <a:custGeom>
              <a:avLst/>
              <a:gdLst/>
              <a:ahLst/>
              <a:cxnLst/>
              <a:rect l="l" t="t" r="r" b="b"/>
              <a:pathLst>
                <a:path w="33150" h="17411" extrusionOk="0">
                  <a:moveTo>
                    <a:pt x="33035" y="0"/>
                  </a:moveTo>
                  <a:cubicBezTo>
                    <a:pt x="33016" y="0"/>
                    <a:pt x="32996" y="4"/>
                    <a:pt x="32975" y="15"/>
                  </a:cubicBezTo>
                  <a:lnTo>
                    <a:pt x="105" y="17201"/>
                  </a:lnTo>
                  <a:cubicBezTo>
                    <a:pt x="1" y="17270"/>
                    <a:pt x="35" y="17410"/>
                    <a:pt x="140" y="17410"/>
                  </a:cubicBezTo>
                  <a:lnTo>
                    <a:pt x="210" y="17410"/>
                  </a:lnTo>
                  <a:lnTo>
                    <a:pt x="33080" y="224"/>
                  </a:lnTo>
                  <a:cubicBezTo>
                    <a:pt x="33150" y="189"/>
                    <a:pt x="33150" y="119"/>
                    <a:pt x="33115" y="50"/>
                  </a:cubicBezTo>
                  <a:cubicBezTo>
                    <a:pt x="33115" y="25"/>
                    <a:pt x="33080" y="0"/>
                    <a:pt x="330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94;p43">
              <a:extLst>
                <a:ext uri="{FF2B5EF4-FFF2-40B4-BE49-F238E27FC236}">
                  <a16:creationId xmlns:a16="http://schemas.microsoft.com/office/drawing/2014/main" id="{DC053BE4-7B88-3E71-8D33-AAA03EFF0710}"/>
                </a:ext>
              </a:extLst>
            </p:cNvPr>
            <p:cNvSpPr/>
            <p:nvPr/>
          </p:nvSpPr>
          <p:spPr>
            <a:xfrm>
              <a:off x="2586100" y="327700"/>
              <a:ext cx="828275" cy="425675"/>
            </a:xfrm>
            <a:custGeom>
              <a:avLst/>
              <a:gdLst/>
              <a:ahLst/>
              <a:cxnLst/>
              <a:rect l="l" t="t" r="r" b="b"/>
              <a:pathLst>
                <a:path w="33131" h="17027" extrusionOk="0">
                  <a:moveTo>
                    <a:pt x="32961" y="1"/>
                  </a:moveTo>
                  <a:cubicBezTo>
                    <a:pt x="32944" y="1"/>
                    <a:pt x="32925" y="5"/>
                    <a:pt x="32905" y="15"/>
                  </a:cubicBezTo>
                  <a:lnTo>
                    <a:pt x="70" y="16817"/>
                  </a:lnTo>
                  <a:cubicBezTo>
                    <a:pt x="35" y="16852"/>
                    <a:pt x="0" y="16921"/>
                    <a:pt x="35" y="16956"/>
                  </a:cubicBezTo>
                  <a:cubicBezTo>
                    <a:pt x="70" y="16991"/>
                    <a:pt x="105" y="17026"/>
                    <a:pt x="140" y="17026"/>
                  </a:cubicBezTo>
                  <a:lnTo>
                    <a:pt x="175" y="17026"/>
                  </a:lnTo>
                  <a:lnTo>
                    <a:pt x="33010" y="224"/>
                  </a:lnTo>
                  <a:cubicBezTo>
                    <a:pt x="33130" y="164"/>
                    <a:pt x="33070" y="1"/>
                    <a:pt x="329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95;p43">
              <a:extLst>
                <a:ext uri="{FF2B5EF4-FFF2-40B4-BE49-F238E27FC236}">
                  <a16:creationId xmlns:a16="http://schemas.microsoft.com/office/drawing/2014/main" id="{8027E8B3-6856-CE0A-FE13-DB78A8365F64}"/>
                </a:ext>
              </a:extLst>
            </p:cNvPr>
            <p:cNvSpPr/>
            <p:nvPr/>
          </p:nvSpPr>
          <p:spPr>
            <a:xfrm>
              <a:off x="3299550" y="336800"/>
              <a:ext cx="206125" cy="154575"/>
            </a:xfrm>
            <a:custGeom>
              <a:avLst/>
              <a:gdLst/>
              <a:ahLst/>
              <a:cxnLst/>
              <a:rect l="l" t="t" r="r" b="b"/>
              <a:pathLst>
                <a:path w="8245" h="6183" extrusionOk="0">
                  <a:moveTo>
                    <a:pt x="5450" y="0"/>
                  </a:moveTo>
                  <a:lnTo>
                    <a:pt x="1" y="2795"/>
                  </a:lnTo>
                  <a:lnTo>
                    <a:pt x="8245" y="6183"/>
                  </a:lnTo>
                  <a:lnTo>
                    <a:pt x="54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96;p43">
              <a:extLst>
                <a:ext uri="{FF2B5EF4-FFF2-40B4-BE49-F238E27FC236}">
                  <a16:creationId xmlns:a16="http://schemas.microsoft.com/office/drawing/2014/main" id="{C46D7DD8-2BFC-586A-A699-8CDC2AEEEF26}"/>
                </a:ext>
              </a:extLst>
            </p:cNvPr>
            <p:cNvSpPr/>
            <p:nvPr/>
          </p:nvSpPr>
          <p:spPr>
            <a:xfrm>
              <a:off x="3055050" y="1646700"/>
              <a:ext cx="287325" cy="171175"/>
            </a:xfrm>
            <a:custGeom>
              <a:avLst/>
              <a:gdLst/>
              <a:ahLst/>
              <a:cxnLst/>
              <a:rect l="l" t="t" r="r" b="b"/>
              <a:pathLst>
                <a:path w="11493" h="6847" extrusionOk="0">
                  <a:moveTo>
                    <a:pt x="0" y="0"/>
                  </a:moveTo>
                  <a:lnTo>
                    <a:pt x="3528" y="6847"/>
                  </a:lnTo>
                  <a:lnTo>
                    <a:pt x="11493" y="3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97;p43">
              <a:extLst>
                <a:ext uri="{FF2B5EF4-FFF2-40B4-BE49-F238E27FC236}">
                  <a16:creationId xmlns:a16="http://schemas.microsoft.com/office/drawing/2014/main" id="{A70606C2-ED70-E17E-9CB3-AF268D2BF86A}"/>
                </a:ext>
              </a:extLst>
            </p:cNvPr>
            <p:cNvSpPr/>
            <p:nvPr/>
          </p:nvSpPr>
          <p:spPr>
            <a:xfrm>
              <a:off x="2599200" y="686975"/>
              <a:ext cx="149350" cy="225325"/>
            </a:xfrm>
            <a:custGeom>
              <a:avLst/>
              <a:gdLst/>
              <a:ahLst/>
              <a:cxnLst/>
              <a:rect l="l" t="t" r="r" b="b"/>
              <a:pathLst>
                <a:path w="5974" h="9013" extrusionOk="0">
                  <a:moveTo>
                    <a:pt x="5974" y="0"/>
                  </a:moveTo>
                  <a:lnTo>
                    <a:pt x="0" y="3039"/>
                  </a:lnTo>
                  <a:lnTo>
                    <a:pt x="3074" y="9013"/>
                  </a:lnTo>
                  <a:lnTo>
                    <a:pt x="597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98;p43">
              <a:extLst>
                <a:ext uri="{FF2B5EF4-FFF2-40B4-BE49-F238E27FC236}">
                  <a16:creationId xmlns:a16="http://schemas.microsoft.com/office/drawing/2014/main" id="{B53CB343-68D0-5EBD-6DE5-1534535D43FA}"/>
                </a:ext>
              </a:extLst>
            </p:cNvPr>
            <p:cNvSpPr/>
            <p:nvPr/>
          </p:nvSpPr>
          <p:spPr>
            <a:xfrm>
              <a:off x="3220350" y="494700"/>
              <a:ext cx="577875" cy="906625"/>
            </a:xfrm>
            <a:custGeom>
              <a:avLst/>
              <a:gdLst/>
              <a:ahLst/>
              <a:cxnLst/>
              <a:rect l="l" t="t" r="r" b="b"/>
              <a:pathLst>
                <a:path w="23115" h="36265" extrusionOk="0">
                  <a:moveTo>
                    <a:pt x="6522" y="216"/>
                  </a:moveTo>
                  <a:cubicBezTo>
                    <a:pt x="6767" y="216"/>
                    <a:pt x="7011" y="321"/>
                    <a:pt x="7186" y="496"/>
                  </a:cubicBezTo>
                  <a:cubicBezTo>
                    <a:pt x="7500" y="775"/>
                    <a:pt x="7675" y="1124"/>
                    <a:pt x="7710" y="1544"/>
                  </a:cubicBezTo>
                  <a:cubicBezTo>
                    <a:pt x="7710" y="2242"/>
                    <a:pt x="7361" y="2906"/>
                    <a:pt x="6802" y="3325"/>
                  </a:cubicBezTo>
                  <a:cubicBezTo>
                    <a:pt x="6557" y="3500"/>
                    <a:pt x="6313" y="3674"/>
                    <a:pt x="6033" y="3779"/>
                  </a:cubicBezTo>
                  <a:cubicBezTo>
                    <a:pt x="5649" y="3185"/>
                    <a:pt x="5439" y="2487"/>
                    <a:pt x="5370" y="1753"/>
                  </a:cubicBezTo>
                  <a:cubicBezTo>
                    <a:pt x="5370" y="1090"/>
                    <a:pt x="5754" y="321"/>
                    <a:pt x="6418" y="216"/>
                  </a:cubicBezTo>
                  <a:close/>
                  <a:moveTo>
                    <a:pt x="14651" y="13587"/>
                  </a:moveTo>
                  <a:cubicBezTo>
                    <a:pt x="14753" y="13587"/>
                    <a:pt x="14851" y="13611"/>
                    <a:pt x="14941" y="13665"/>
                  </a:cubicBezTo>
                  <a:cubicBezTo>
                    <a:pt x="15045" y="13734"/>
                    <a:pt x="15150" y="13874"/>
                    <a:pt x="15185" y="14049"/>
                  </a:cubicBezTo>
                  <a:cubicBezTo>
                    <a:pt x="15220" y="14363"/>
                    <a:pt x="15150" y="14678"/>
                    <a:pt x="14976" y="14957"/>
                  </a:cubicBezTo>
                  <a:cubicBezTo>
                    <a:pt x="14628" y="15420"/>
                    <a:pt x="14089" y="15691"/>
                    <a:pt x="13517" y="15691"/>
                  </a:cubicBezTo>
                  <a:cubicBezTo>
                    <a:pt x="13399" y="15691"/>
                    <a:pt x="13279" y="15680"/>
                    <a:pt x="13159" y="15656"/>
                  </a:cubicBezTo>
                  <a:cubicBezTo>
                    <a:pt x="13229" y="15062"/>
                    <a:pt x="13439" y="14503"/>
                    <a:pt x="13823" y="14049"/>
                  </a:cubicBezTo>
                  <a:cubicBezTo>
                    <a:pt x="14031" y="13789"/>
                    <a:pt x="14355" y="13587"/>
                    <a:pt x="14651" y="13587"/>
                  </a:cubicBezTo>
                  <a:close/>
                  <a:moveTo>
                    <a:pt x="21977" y="30866"/>
                  </a:moveTo>
                  <a:cubicBezTo>
                    <a:pt x="22086" y="30866"/>
                    <a:pt x="22199" y="30883"/>
                    <a:pt x="22311" y="30920"/>
                  </a:cubicBezTo>
                  <a:cubicBezTo>
                    <a:pt x="22521" y="31025"/>
                    <a:pt x="22695" y="31200"/>
                    <a:pt x="22765" y="31444"/>
                  </a:cubicBezTo>
                  <a:cubicBezTo>
                    <a:pt x="22870" y="31759"/>
                    <a:pt x="22835" y="32108"/>
                    <a:pt x="22660" y="32388"/>
                  </a:cubicBezTo>
                  <a:cubicBezTo>
                    <a:pt x="22399" y="32794"/>
                    <a:pt x="21920" y="33008"/>
                    <a:pt x="21445" y="33008"/>
                  </a:cubicBezTo>
                  <a:cubicBezTo>
                    <a:pt x="21348" y="33008"/>
                    <a:pt x="21252" y="32999"/>
                    <a:pt x="21158" y="32981"/>
                  </a:cubicBezTo>
                  <a:cubicBezTo>
                    <a:pt x="20809" y="32877"/>
                    <a:pt x="20460" y="32737"/>
                    <a:pt x="20180" y="32527"/>
                  </a:cubicBezTo>
                  <a:lnTo>
                    <a:pt x="20355" y="32318"/>
                  </a:lnTo>
                  <a:cubicBezTo>
                    <a:pt x="20425" y="32213"/>
                    <a:pt x="20460" y="32108"/>
                    <a:pt x="20530" y="32003"/>
                  </a:cubicBezTo>
                  <a:cubicBezTo>
                    <a:pt x="20704" y="31724"/>
                    <a:pt x="20914" y="31444"/>
                    <a:pt x="21193" y="31200"/>
                  </a:cubicBezTo>
                  <a:cubicBezTo>
                    <a:pt x="21398" y="30995"/>
                    <a:pt x="21677" y="30866"/>
                    <a:pt x="21977" y="30866"/>
                  </a:cubicBezTo>
                  <a:close/>
                  <a:moveTo>
                    <a:pt x="6513" y="0"/>
                  </a:moveTo>
                  <a:cubicBezTo>
                    <a:pt x="6470" y="0"/>
                    <a:pt x="6426" y="2"/>
                    <a:pt x="6383" y="7"/>
                  </a:cubicBezTo>
                  <a:cubicBezTo>
                    <a:pt x="5579" y="146"/>
                    <a:pt x="5125" y="1020"/>
                    <a:pt x="5125" y="1788"/>
                  </a:cubicBezTo>
                  <a:cubicBezTo>
                    <a:pt x="5195" y="2557"/>
                    <a:pt x="5439" y="3290"/>
                    <a:pt x="5824" y="3919"/>
                  </a:cubicBezTo>
                  <a:cubicBezTo>
                    <a:pt x="5509" y="4094"/>
                    <a:pt x="5195" y="4198"/>
                    <a:pt x="4881" y="4303"/>
                  </a:cubicBezTo>
                  <a:lnTo>
                    <a:pt x="130" y="6050"/>
                  </a:lnTo>
                  <a:cubicBezTo>
                    <a:pt x="1" y="6114"/>
                    <a:pt x="51" y="6298"/>
                    <a:pt x="169" y="6298"/>
                  </a:cubicBezTo>
                  <a:cubicBezTo>
                    <a:pt x="179" y="6298"/>
                    <a:pt x="189" y="6297"/>
                    <a:pt x="200" y="6294"/>
                  </a:cubicBezTo>
                  <a:lnTo>
                    <a:pt x="4950" y="4548"/>
                  </a:lnTo>
                  <a:cubicBezTo>
                    <a:pt x="5300" y="4408"/>
                    <a:pt x="5614" y="4303"/>
                    <a:pt x="5928" y="4163"/>
                  </a:cubicBezTo>
                  <a:lnTo>
                    <a:pt x="10819" y="13490"/>
                  </a:lnTo>
                  <a:cubicBezTo>
                    <a:pt x="11308" y="14468"/>
                    <a:pt x="11937" y="15481"/>
                    <a:pt x="12880" y="15830"/>
                  </a:cubicBezTo>
                  <a:cubicBezTo>
                    <a:pt x="12845" y="16983"/>
                    <a:pt x="13019" y="18101"/>
                    <a:pt x="13404" y="19184"/>
                  </a:cubicBezTo>
                  <a:cubicBezTo>
                    <a:pt x="14487" y="22712"/>
                    <a:pt x="15884" y="26135"/>
                    <a:pt x="17595" y="29418"/>
                  </a:cubicBezTo>
                  <a:cubicBezTo>
                    <a:pt x="18084" y="30396"/>
                    <a:pt x="18713" y="31340"/>
                    <a:pt x="19447" y="32178"/>
                  </a:cubicBezTo>
                  <a:cubicBezTo>
                    <a:pt x="19586" y="32318"/>
                    <a:pt x="19691" y="32422"/>
                    <a:pt x="19831" y="32562"/>
                  </a:cubicBezTo>
                  <a:cubicBezTo>
                    <a:pt x="18469" y="34274"/>
                    <a:pt x="16268" y="35217"/>
                    <a:pt x="14521" y="36020"/>
                  </a:cubicBezTo>
                  <a:cubicBezTo>
                    <a:pt x="14452" y="36055"/>
                    <a:pt x="14452" y="36125"/>
                    <a:pt x="14487" y="36195"/>
                  </a:cubicBezTo>
                  <a:cubicBezTo>
                    <a:pt x="14487" y="36230"/>
                    <a:pt x="14521" y="36265"/>
                    <a:pt x="14591" y="36265"/>
                  </a:cubicBezTo>
                  <a:lnTo>
                    <a:pt x="14661" y="36265"/>
                  </a:lnTo>
                  <a:cubicBezTo>
                    <a:pt x="16443" y="35461"/>
                    <a:pt x="18608" y="34483"/>
                    <a:pt x="20041" y="32737"/>
                  </a:cubicBezTo>
                  <a:cubicBezTo>
                    <a:pt x="20355" y="32981"/>
                    <a:pt x="20739" y="33121"/>
                    <a:pt x="21123" y="33226"/>
                  </a:cubicBezTo>
                  <a:cubicBezTo>
                    <a:pt x="21237" y="33250"/>
                    <a:pt x="21352" y="33261"/>
                    <a:pt x="21466" y="33261"/>
                  </a:cubicBezTo>
                  <a:cubicBezTo>
                    <a:pt x="22018" y="33261"/>
                    <a:pt x="22552" y="32990"/>
                    <a:pt x="22870" y="32527"/>
                  </a:cubicBezTo>
                  <a:cubicBezTo>
                    <a:pt x="23080" y="32178"/>
                    <a:pt x="23114" y="31759"/>
                    <a:pt x="22975" y="31375"/>
                  </a:cubicBezTo>
                  <a:cubicBezTo>
                    <a:pt x="22905" y="31060"/>
                    <a:pt x="22695" y="30816"/>
                    <a:pt x="22381" y="30676"/>
                  </a:cubicBezTo>
                  <a:cubicBezTo>
                    <a:pt x="22255" y="30640"/>
                    <a:pt x="22126" y="30622"/>
                    <a:pt x="21999" y="30622"/>
                  </a:cubicBezTo>
                  <a:cubicBezTo>
                    <a:pt x="21633" y="30622"/>
                    <a:pt x="21278" y="30766"/>
                    <a:pt x="21019" y="31025"/>
                  </a:cubicBezTo>
                  <a:cubicBezTo>
                    <a:pt x="20774" y="31305"/>
                    <a:pt x="20530" y="31584"/>
                    <a:pt x="20320" y="31899"/>
                  </a:cubicBezTo>
                  <a:cubicBezTo>
                    <a:pt x="20285" y="32003"/>
                    <a:pt x="20215" y="32108"/>
                    <a:pt x="20145" y="32178"/>
                  </a:cubicBezTo>
                  <a:lnTo>
                    <a:pt x="20006" y="32388"/>
                  </a:lnTo>
                  <a:cubicBezTo>
                    <a:pt x="19866" y="32283"/>
                    <a:pt x="19761" y="32178"/>
                    <a:pt x="19621" y="32038"/>
                  </a:cubicBezTo>
                  <a:cubicBezTo>
                    <a:pt x="18888" y="31235"/>
                    <a:pt x="18294" y="30292"/>
                    <a:pt x="17805" y="29314"/>
                  </a:cubicBezTo>
                  <a:cubicBezTo>
                    <a:pt x="16093" y="26065"/>
                    <a:pt x="14696" y="22677"/>
                    <a:pt x="13613" y="19149"/>
                  </a:cubicBezTo>
                  <a:cubicBezTo>
                    <a:pt x="13264" y="18101"/>
                    <a:pt x="13089" y="17018"/>
                    <a:pt x="13124" y="15900"/>
                  </a:cubicBezTo>
                  <a:lnTo>
                    <a:pt x="13124" y="15900"/>
                  </a:lnTo>
                  <a:cubicBezTo>
                    <a:pt x="13258" y="15931"/>
                    <a:pt x="13392" y="15945"/>
                    <a:pt x="13526" y="15945"/>
                  </a:cubicBezTo>
                  <a:cubicBezTo>
                    <a:pt x="14161" y="15945"/>
                    <a:pt x="14775" y="15616"/>
                    <a:pt x="15150" y="15097"/>
                  </a:cubicBezTo>
                  <a:cubicBezTo>
                    <a:pt x="15360" y="14782"/>
                    <a:pt x="15465" y="14398"/>
                    <a:pt x="15395" y="14014"/>
                  </a:cubicBezTo>
                  <a:cubicBezTo>
                    <a:pt x="15360" y="13804"/>
                    <a:pt x="15255" y="13595"/>
                    <a:pt x="15045" y="13455"/>
                  </a:cubicBezTo>
                  <a:cubicBezTo>
                    <a:pt x="14920" y="13378"/>
                    <a:pt x="14784" y="13343"/>
                    <a:pt x="14645" y="13343"/>
                  </a:cubicBezTo>
                  <a:cubicBezTo>
                    <a:pt x="14279" y="13343"/>
                    <a:pt x="13891" y="13580"/>
                    <a:pt x="13613" y="13909"/>
                  </a:cubicBezTo>
                  <a:cubicBezTo>
                    <a:pt x="13229" y="14398"/>
                    <a:pt x="12985" y="14992"/>
                    <a:pt x="12915" y="15586"/>
                  </a:cubicBezTo>
                  <a:cubicBezTo>
                    <a:pt x="12076" y="15271"/>
                    <a:pt x="11482" y="14293"/>
                    <a:pt x="11028" y="13420"/>
                  </a:cubicBezTo>
                  <a:lnTo>
                    <a:pt x="6138" y="4059"/>
                  </a:lnTo>
                  <a:cubicBezTo>
                    <a:pt x="6452" y="3919"/>
                    <a:pt x="6697" y="3744"/>
                    <a:pt x="6941" y="3535"/>
                  </a:cubicBezTo>
                  <a:cubicBezTo>
                    <a:pt x="7570" y="3046"/>
                    <a:pt x="7954" y="2312"/>
                    <a:pt x="7954" y="1509"/>
                  </a:cubicBezTo>
                  <a:cubicBezTo>
                    <a:pt x="7920" y="1055"/>
                    <a:pt x="7675" y="600"/>
                    <a:pt x="7326" y="321"/>
                  </a:cubicBezTo>
                  <a:cubicBezTo>
                    <a:pt x="7112" y="107"/>
                    <a:pt x="6818" y="0"/>
                    <a:pt x="65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99;p43">
              <a:extLst>
                <a:ext uri="{FF2B5EF4-FFF2-40B4-BE49-F238E27FC236}">
                  <a16:creationId xmlns:a16="http://schemas.microsoft.com/office/drawing/2014/main" id="{C7EA6A7D-2AE1-B35A-3005-C55BA668643A}"/>
                </a:ext>
              </a:extLst>
            </p:cNvPr>
            <p:cNvSpPr/>
            <p:nvPr/>
          </p:nvSpPr>
          <p:spPr>
            <a:xfrm>
              <a:off x="2758125" y="783250"/>
              <a:ext cx="619175" cy="850375"/>
            </a:xfrm>
            <a:custGeom>
              <a:avLst/>
              <a:gdLst/>
              <a:ahLst/>
              <a:cxnLst/>
              <a:rect l="l" t="t" r="r" b="b"/>
              <a:pathLst>
                <a:path w="24767" h="34015" extrusionOk="0">
                  <a:moveTo>
                    <a:pt x="1232" y="1384"/>
                  </a:moveTo>
                  <a:cubicBezTo>
                    <a:pt x="1264" y="1384"/>
                    <a:pt x="1296" y="1385"/>
                    <a:pt x="1328" y="1389"/>
                  </a:cubicBezTo>
                  <a:lnTo>
                    <a:pt x="1293" y="1389"/>
                  </a:lnTo>
                  <a:cubicBezTo>
                    <a:pt x="1678" y="1389"/>
                    <a:pt x="2062" y="1529"/>
                    <a:pt x="2376" y="1738"/>
                  </a:cubicBezTo>
                  <a:cubicBezTo>
                    <a:pt x="2900" y="2227"/>
                    <a:pt x="3319" y="2821"/>
                    <a:pt x="3599" y="3485"/>
                  </a:cubicBezTo>
                  <a:cubicBezTo>
                    <a:pt x="3354" y="3625"/>
                    <a:pt x="3075" y="3729"/>
                    <a:pt x="2760" y="3834"/>
                  </a:cubicBezTo>
                  <a:cubicBezTo>
                    <a:pt x="2557" y="3888"/>
                    <a:pt x="2344" y="3915"/>
                    <a:pt x="2129" y="3915"/>
                  </a:cubicBezTo>
                  <a:cubicBezTo>
                    <a:pt x="1645" y="3915"/>
                    <a:pt x="1157" y="3776"/>
                    <a:pt x="769" y="3485"/>
                  </a:cubicBezTo>
                  <a:cubicBezTo>
                    <a:pt x="455" y="3205"/>
                    <a:pt x="280" y="2821"/>
                    <a:pt x="245" y="2437"/>
                  </a:cubicBezTo>
                  <a:cubicBezTo>
                    <a:pt x="245" y="2158"/>
                    <a:pt x="315" y="1913"/>
                    <a:pt x="525" y="1703"/>
                  </a:cubicBezTo>
                  <a:cubicBezTo>
                    <a:pt x="713" y="1515"/>
                    <a:pt x="957" y="1384"/>
                    <a:pt x="1232" y="1384"/>
                  </a:cubicBezTo>
                  <a:close/>
                  <a:moveTo>
                    <a:pt x="7441" y="15781"/>
                  </a:moveTo>
                  <a:cubicBezTo>
                    <a:pt x="7965" y="15781"/>
                    <a:pt x="8524" y="15955"/>
                    <a:pt x="8978" y="16235"/>
                  </a:cubicBezTo>
                  <a:cubicBezTo>
                    <a:pt x="8699" y="16863"/>
                    <a:pt x="8035" y="17248"/>
                    <a:pt x="7336" y="17248"/>
                  </a:cubicBezTo>
                  <a:cubicBezTo>
                    <a:pt x="7022" y="17248"/>
                    <a:pt x="6708" y="17108"/>
                    <a:pt x="6498" y="16898"/>
                  </a:cubicBezTo>
                  <a:cubicBezTo>
                    <a:pt x="6358" y="16759"/>
                    <a:pt x="6323" y="16619"/>
                    <a:pt x="6323" y="16444"/>
                  </a:cubicBezTo>
                  <a:cubicBezTo>
                    <a:pt x="6358" y="16060"/>
                    <a:pt x="6847" y="15781"/>
                    <a:pt x="7301" y="15781"/>
                  </a:cubicBezTo>
                  <a:close/>
                  <a:moveTo>
                    <a:pt x="17396" y="31814"/>
                  </a:moveTo>
                  <a:lnTo>
                    <a:pt x="17816" y="31849"/>
                  </a:lnTo>
                  <a:lnTo>
                    <a:pt x="18409" y="31849"/>
                  </a:lnTo>
                  <a:cubicBezTo>
                    <a:pt x="18444" y="32233"/>
                    <a:pt x="18374" y="32582"/>
                    <a:pt x="18235" y="32897"/>
                  </a:cubicBezTo>
                  <a:cubicBezTo>
                    <a:pt x="18001" y="33430"/>
                    <a:pt x="17482" y="33772"/>
                    <a:pt x="16919" y="33772"/>
                  </a:cubicBezTo>
                  <a:cubicBezTo>
                    <a:pt x="16892" y="33772"/>
                    <a:pt x="16865" y="33772"/>
                    <a:pt x="16838" y="33770"/>
                  </a:cubicBezTo>
                  <a:cubicBezTo>
                    <a:pt x="16523" y="33735"/>
                    <a:pt x="16209" y="33560"/>
                    <a:pt x="16034" y="33316"/>
                  </a:cubicBezTo>
                  <a:cubicBezTo>
                    <a:pt x="15894" y="33106"/>
                    <a:pt x="15825" y="32862"/>
                    <a:pt x="15859" y="32617"/>
                  </a:cubicBezTo>
                  <a:cubicBezTo>
                    <a:pt x="15999" y="32233"/>
                    <a:pt x="16383" y="31954"/>
                    <a:pt x="16803" y="31884"/>
                  </a:cubicBezTo>
                  <a:cubicBezTo>
                    <a:pt x="16977" y="31849"/>
                    <a:pt x="17187" y="31814"/>
                    <a:pt x="17396" y="31814"/>
                  </a:cubicBezTo>
                  <a:close/>
                  <a:moveTo>
                    <a:pt x="8978" y="1"/>
                  </a:moveTo>
                  <a:cubicBezTo>
                    <a:pt x="8952" y="1"/>
                    <a:pt x="8926" y="9"/>
                    <a:pt x="8908" y="27"/>
                  </a:cubicBezTo>
                  <a:lnTo>
                    <a:pt x="4717" y="2821"/>
                  </a:lnTo>
                  <a:cubicBezTo>
                    <a:pt x="4402" y="3031"/>
                    <a:pt x="4123" y="3205"/>
                    <a:pt x="3843" y="3380"/>
                  </a:cubicBezTo>
                  <a:cubicBezTo>
                    <a:pt x="3529" y="2682"/>
                    <a:pt x="3110" y="2053"/>
                    <a:pt x="2516" y="1564"/>
                  </a:cubicBezTo>
                  <a:cubicBezTo>
                    <a:pt x="2177" y="1300"/>
                    <a:pt x="1735" y="1138"/>
                    <a:pt x="1313" y="1138"/>
                  </a:cubicBezTo>
                  <a:cubicBezTo>
                    <a:pt x="953" y="1138"/>
                    <a:pt x="607" y="1255"/>
                    <a:pt x="350" y="1529"/>
                  </a:cubicBezTo>
                  <a:cubicBezTo>
                    <a:pt x="106" y="1773"/>
                    <a:pt x="1" y="2123"/>
                    <a:pt x="36" y="2437"/>
                  </a:cubicBezTo>
                  <a:cubicBezTo>
                    <a:pt x="36" y="2926"/>
                    <a:pt x="245" y="3345"/>
                    <a:pt x="630" y="3660"/>
                  </a:cubicBezTo>
                  <a:cubicBezTo>
                    <a:pt x="1065" y="3974"/>
                    <a:pt x="1601" y="4155"/>
                    <a:pt x="2145" y="4155"/>
                  </a:cubicBezTo>
                  <a:cubicBezTo>
                    <a:pt x="2386" y="4155"/>
                    <a:pt x="2629" y="4119"/>
                    <a:pt x="2865" y="4044"/>
                  </a:cubicBezTo>
                  <a:cubicBezTo>
                    <a:pt x="3145" y="3974"/>
                    <a:pt x="3459" y="3834"/>
                    <a:pt x="3738" y="3695"/>
                  </a:cubicBezTo>
                  <a:lnTo>
                    <a:pt x="8419" y="13196"/>
                  </a:lnTo>
                  <a:cubicBezTo>
                    <a:pt x="8873" y="14104"/>
                    <a:pt x="9292" y="15152"/>
                    <a:pt x="9048" y="16025"/>
                  </a:cubicBezTo>
                  <a:cubicBezTo>
                    <a:pt x="8524" y="15711"/>
                    <a:pt x="7895" y="15571"/>
                    <a:pt x="7266" y="15571"/>
                  </a:cubicBezTo>
                  <a:cubicBezTo>
                    <a:pt x="6708" y="15571"/>
                    <a:pt x="6114" y="15920"/>
                    <a:pt x="6079" y="16444"/>
                  </a:cubicBezTo>
                  <a:cubicBezTo>
                    <a:pt x="6079" y="16689"/>
                    <a:pt x="6149" y="16898"/>
                    <a:pt x="6323" y="17073"/>
                  </a:cubicBezTo>
                  <a:cubicBezTo>
                    <a:pt x="6568" y="17318"/>
                    <a:pt x="6952" y="17492"/>
                    <a:pt x="7336" y="17492"/>
                  </a:cubicBezTo>
                  <a:cubicBezTo>
                    <a:pt x="8105" y="17492"/>
                    <a:pt x="8838" y="17073"/>
                    <a:pt x="9188" y="16374"/>
                  </a:cubicBezTo>
                  <a:cubicBezTo>
                    <a:pt x="10096" y="16968"/>
                    <a:pt x="10864" y="17772"/>
                    <a:pt x="11493" y="18680"/>
                  </a:cubicBezTo>
                  <a:cubicBezTo>
                    <a:pt x="13694" y="21614"/>
                    <a:pt x="15615" y="24758"/>
                    <a:pt x="17257" y="28041"/>
                  </a:cubicBezTo>
                  <a:cubicBezTo>
                    <a:pt x="17746" y="29019"/>
                    <a:pt x="18130" y="30032"/>
                    <a:pt x="18374" y="31115"/>
                  </a:cubicBezTo>
                  <a:cubicBezTo>
                    <a:pt x="18409" y="31255"/>
                    <a:pt x="18409" y="31430"/>
                    <a:pt x="18444" y="31604"/>
                  </a:cubicBezTo>
                  <a:lnTo>
                    <a:pt x="17850" y="31604"/>
                  </a:lnTo>
                  <a:cubicBezTo>
                    <a:pt x="17738" y="31594"/>
                    <a:pt x="17628" y="31590"/>
                    <a:pt x="17521" y="31590"/>
                  </a:cubicBezTo>
                  <a:cubicBezTo>
                    <a:pt x="17262" y="31590"/>
                    <a:pt x="17015" y="31614"/>
                    <a:pt x="16768" y="31639"/>
                  </a:cubicBezTo>
                  <a:cubicBezTo>
                    <a:pt x="16244" y="31709"/>
                    <a:pt x="15825" y="32058"/>
                    <a:pt x="15650" y="32547"/>
                  </a:cubicBezTo>
                  <a:cubicBezTo>
                    <a:pt x="15580" y="32862"/>
                    <a:pt x="15650" y="33176"/>
                    <a:pt x="15859" y="33421"/>
                  </a:cubicBezTo>
                  <a:cubicBezTo>
                    <a:pt x="16069" y="33770"/>
                    <a:pt x="16453" y="33980"/>
                    <a:pt x="16838" y="34014"/>
                  </a:cubicBezTo>
                  <a:lnTo>
                    <a:pt x="16942" y="34014"/>
                  </a:lnTo>
                  <a:cubicBezTo>
                    <a:pt x="17606" y="33980"/>
                    <a:pt x="18165" y="33560"/>
                    <a:pt x="18409" y="32967"/>
                  </a:cubicBezTo>
                  <a:cubicBezTo>
                    <a:pt x="18584" y="32617"/>
                    <a:pt x="18654" y="32233"/>
                    <a:pt x="18654" y="31814"/>
                  </a:cubicBezTo>
                  <a:cubicBezTo>
                    <a:pt x="20924" y="31709"/>
                    <a:pt x="22985" y="30521"/>
                    <a:pt x="24697" y="29543"/>
                  </a:cubicBezTo>
                  <a:cubicBezTo>
                    <a:pt x="24767" y="29508"/>
                    <a:pt x="24767" y="29439"/>
                    <a:pt x="24732" y="29404"/>
                  </a:cubicBezTo>
                  <a:cubicBezTo>
                    <a:pt x="24697" y="29334"/>
                    <a:pt x="24627" y="29334"/>
                    <a:pt x="24592" y="29334"/>
                  </a:cubicBezTo>
                  <a:cubicBezTo>
                    <a:pt x="22915" y="30277"/>
                    <a:pt x="20820" y="31465"/>
                    <a:pt x="18654" y="31604"/>
                  </a:cubicBezTo>
                  <a:cubicBezTo>
                    <a:pt x="18619" y="31430"/>
                    <a:pt x="18619" y="31255"/>
                    <a:pt x="18584" y="31080"/>
                  </a:cubicBezTo>
                  <a:cubicBezTo>
                    <a:pt x="18340" y="29962"/>
                    <a:pt x="17955" y="28915"/>
                    <a:pt x="17431" y="27936"/>
                  </a:cubicBezTo>
                  <a:cubicBezTo>
                    <a:pt x="15825" y="24618"/>
                    <a:pt x="13868" y="21439"/>
                    <a:pt x="11668" y="18505"/>
                  </a:cubicBezTo>
                  <a:cubicBezTo>
                    <a:pt x="11004" y="17562"/>
                    <a:pt x="10201" y="16759"/>
                    <a:pt x="9258" y="16130"/>
                  </a:cubicBezTo>
                  <a:cubicBezTo>
                    <a:pt x="9572" y="15117"/>
                    <a:pt x="9083" y="14034"/>
                    <a:pt x="8629" y="13056"/>
                  </a:cubicBezTo>
                  <a:lnTo>
                    <a:pt x="3948" y="3590"/>
                  </a:lnTo>
                  <a:cubicBezTo>
                    <a:pt x="4227" y="3415"/>
                    <a:pt x="4507" y="3205"/>
                    <a:pt x="4821" y="2996"/>
                  </a:cubicBezTo>
                  <a:lnTo>
                    <a:pt x="9013" y="201"/>
                  </a:lnTo>
                  <a:cubicBezTo>
                    <a:pt x="9083" y="166"/>
                    <a:pt x="9083" y="97"/>
                    <a:pt x="9048" y="27"/>
                  </a:cubicBezTo>
                  <a:cubicBezTo>
                    <a:pt x="9030" y="9"/>
                    <a:pt x="9004" y="1"/>
                    <a:pt x="8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0;p43">
              <a:extLst>
                <a:ext uri="{FF2B5EF4-FFF2-40B4-BE49-F238E27FC236}">
                  <a16:creationId xmlns:a16="http://schemas.microsoft.com/office/drawing/2014/main" id="{ADEE8880-FCCE-0877-3685-AD7D34CC9FEE}"/>
                </a:ext>
              </a:extLst>
            </p:cNvPr>
            <p:cNvSpPr/>
            <p:nvPr/>
          </p:nvSpPr>
          <p:spPr>
            <a:xfrm>
              <a:off x="3089975" y="715200"/>
              <a:ext cx="73450" cy="60350"/>
            </a:xfrm>
            <a:custGeom>
              <a:avLst/>
              <a:gdLst/>
              <a:ahLst/>
              <a:cxnLst/>
              <a:rect l="l" t="t" r="r" b="b"/>
              <a:pathLst>
                <a:path w="2938" h="2414" extrusionOk="0">
                  <a:moveTo>
                    <a:pt x="1454" y="1"/>
                  </a:moveTo>
                  <a:cubicBezTo>
                    <a:pt x="1293" y="1"/>
                    <a:pt x="1131" y="31"/>
                    <a:pt x="979" y="94"/>
                  </a:cubicBezTo>
                  <a:cubicBezTo>
                    <a:pt x="1" y="548"/>
                    <a:pt x="35" y="1945"/>
                    <a:pt x="1014" y="2330"/>
                  </a:cubicBezTo>
                  <a:cubicBezTo>
                    <a:pt x="1164" y="2387"/>
                    <a:pt x="1314" y="2413"/>
                    <a:pt x="1459" y="2413"/>
                  </a:cubicBezTo>
                  <a:cubicBezTo>
                    <a:pt x="2286" y="2413"/>
                    <a:pt x="2937" y="1555"/>
                    <a:pt x="2551" y="723"/>
                  </a:cubicBezTo>
                  <a:cubicBezTo>
                    <a:pt x="2369" y="256"/>
                    <a:pt x="1917" y="1"/>
                    <a:pt x="14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1;p43">
              <a:extLst>
                <a:ext uri="{FF2B5EF4-FFF2-40B4-BE49-F238E27FC236}">
                  <a16:creationId xmlns:a16="http://schemas.microsoft.com/office/drawing/2014/main" id="{E2600F26-61A3-CA3F-04AD-3B133A2DC92D}"/>
                </a:ext>
              </a:extLst>
            </p:cNvPr>
            <p:cNvSpPr/>
            <p:nvPr/>
          </p:nvSpPr>
          <p:spPr>
            <a:xfrm>
              <a:off x="3072500" y="630750"/>
              <a:ext cx="37575" cy="75450"/>
            </a:xfrm>
            <a:custGeom>
              <a:avLst/>
              <a:gdLst/>
              <a:ahLst/>
              <a:cxnLst/>
              <a:rect l="l" t="t" r="r" b="b"/>
              <a:pathLst>
                <a:path w="1503" h="3018" extrusionOk="0">
                  <a:moveTo>
                    <a:pt x="202" y="0"/>
                  </a:moveTo>
                  <a:cubicBezTo>
                    <a:pt x="181" y="0"/>
                    <a:pt x="159" y="5"/>
                    <a:pt x="141" y="14"/>
                  </a:cubicBezTo>
                  <a:cubicBezTo>
                    <a:pt x="36" y="49"/>
                    <a:pt x="1" y="154"/>
                    <a:pt x="71" y="223"/>
                  </a:cubicBezTo>
                  <a:lnTo>
                    <a:pt x="1398" y="2983"/>
                  </a:lnTo>
                  <a:cubicBezTo>
                    <a:pt x="1398" y="3018"/>
                    <a:pt x="1433" y="3018"/>
                    <a:pt x="1468" y="3018"/>
                  </a:cubicBezTo>
                  <a:cubicBezTo>
                    <a:pt x="1503" y="3018"/>
                    <a:pt x="1503" y="2983"/>
                    <a:pt x="1503" y="2948"/>
                  </a:cubicBezTo>
                  <a:lnTo>
                    <a:pt x="350" y="84"/>
                  </a:lnTo>
                  <a:cubicBezTo>
                    <a:pt x="325" y="33"/>
                    <a:pt x="262" y="0"/>
                    <a:pt x="2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2;p43">
              <a:extLst>
                <a:ext uri="{FF2B5EF4-FFF2-40B4-BE49-F238E27FC236}">
                  <a16:creationId xmlns:a16="http://schemas.microsoft.com/office/drawing/2014/main" id="{07F864BA-296B-74F0-1877-26398079E1DF}"/>
                </a:ext>
              </a:extLst>
            </p:cNvPr>
            <p:cNvSpPr/>
            <p:nvPr/>
          </p:nvSpPr>
          <p:spPr>
            <a:xfrm>
              <a:off x="3142375" y="783025"/>
              <a:ext cx="37575" cy="76350"/>
            </a:xfrm>
            <a:custGeom>
              <a:avLst/>
              <a:gdLst/>
              <a:ahLst/>
              <a:cxnLst/>
              <a:rect l="l" t="t" r="r" b="b"/>
              <a:pathLst>
                <a:path w="1503" h="3054" extrusionOk="0">
                  <a:moveTo>
                    <a:pt x="35" y="1"/>
                  </a:moveTo>
                  <a:cubicBezTo>
                    <a:pt x="0" y="36"/>
                    <a:pt x="0" y="71"/>
                    <a:pt x="0" y="106"/>
                  </a:cubicBezTo>
                  <a:lnTo>
                    <a:pt x="1153" y="2935"/>
                  </a:lnTo>
                  <a:lnTo>
                    <a:pt x="1153" y="2970"/>
                  </a:lnTo>
                  <a:cubicBezTo>
                    <a:pt x="1179" y="3021"/>
                    <a:pt x="1242" y="3054"/>
                    <a:pt x="1301" y="3054"/>
                  </a:cubicBezTo>
                  <a:cubicBezTo>
                    <a:pt x="1323" y="3054"/>
                    <a:pt x="1344" y="3049"/>
                    <a:pt x="1363" y="3040"/>
                  </a:cubicBezTo>
                  <a:cubicBezTo>
                    <a:pt x="1468" y="3005"/>
                    <a:pt x="1502" y="2900"/>
                    <a:pt x="1468" y="2830"/>
                  </a:cubicBezTo>
                  <a:lnTo>
                    <a:pt x="105" y="36"/>
                  </a:lnTo>
                  <a:cubicBezTo>
                    <a:pt x="105" y="1"/>
                    <a:pt x="70" y="1"/>
                    <a:pt x="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3;p43">
              <a:extLst>
                <a:ext uri="{FF2B5EF4-FFF2-40B4-BE49-F238E27FC236}">
                  <a16:creationId xmlns:a16="http://schemas.microsoft.com/office/drawing/2014/main" id="{4305AD32-726D-1FC8-A4F5-034627ACE64A}"/>
                </a:ext>
              </a:extLst>
            </p:cNvPr>
            <p:cNvSpPr/>
            <p:nvPr/>
          </p:nvSpPr>
          <p:spPr>
            <a:xfrm>
              <a:off x="3163625" y="692750"/>
              <a:ext cx="70475" cy="36300"/>
            </a:xfrm>
            <a:custGeom>
              <a:avLst/>
              <a:gdLst/>
              <a:ahLst/>
              <a:cxnLst/>
              <a:rect l="l" t="t" r="r" b="b"/>
              <a:pathLst>
                <a:path w="2819" h="1452" extrusionOk="0">
                  <a:moveTo>
                    <a:pt x="2616" y="0"/>
                  </a:moveTo>
                  <a:cubicBezTo>
                    <a:pt x="2592" y="0"/>
                    <a:pt x="2567" y="5"/>
                    <a:pt x="2539" y="14"/>
                  </a:cubicBezTo>
                  <a:lnTo>
                    <a:pt x="59" y="1341"/>
                  </a:lnTo>
                  <a:lnTo>
                    <a:pt x="94" y="1306"/>
                  </a:lnTo>
                  <a:lnTo>
                    <a:pt x="94" y="1306"/>
                  </a:lnTo>
                  <a:cubicBezTo>
                    <a:pt x="0" y="1338"/>
                    <a:pt x="45" y="1452"/>
                    <a:pt x="106" y="1452"/>
                  </a:cubicBezTo>
                  <a:cubicBezTo>
                    <a:pt x="113" y="1452"/>
                    <a:pt x="121" y="1450"/>
                    <a:pt x="128" y="1446"/>
                  </a:cubicBezTo>
                  <a:lnTo>
                    <a:pt x="2713" y="293"/>
                  </a:lnTo>
                  <a:cubicBezTo>
                    <a:pt x="2783" y="258"/>
                    <a:pt x="2818" y="154"/>
                    <a:pt x="2783" y="84"/>
                  </a:cubicBezTo>
                  <a:cubicBezTo>
                    <a:pt x="2732" y="33"/>
                    <a:pt x="2681" y="0"/>
                    <a:pt x="26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04;p43">
              <a:extLst>
                <a:ext uri="{FF2B5EF4-FFF2-40B4-BE49-F238E27FC236}">
                  <a16:creationId xmlns:a16="http://schemas.microsoft.com/office/drawing/2014/main" id="{12C5184C-B2ED-4754-ECB9-2B88A70B92C2}"/>
                </a:ext>
              </a:extLst>
            </p:cNvPr>
            <p:cNvSpPr/>
            <p:nvPr/>
          </p:nvSpPr>
          <p:spPr>
            <a:xfrm>
              <a:off x="3011325" y="760850"/>
              <a:ext cx="76925" cy="36850"/>
            </a:xfrm>
            <a:custGeom>
              <a:avLst/>
              <a:gdLst/>
              <a:ahLst/>
              <a:cxnLst/>
              <a:rect l="l" t="t" r="r" b="b"/>
              <a:pathLst>
                <a:path w="3077" h="1474" extrusionOk="0">
                  <a:moveTo>
                    <a:pt x="3037" y="0"/>
                  </a:moveTo>
                  <a:cubicBezTo>
                    <a:pt x="3027" y="0"/>
                    <a:pt x="3017" y="4"/>
                    <a:pt x="3007" y="15"/>
                  </a:cubicBezTo>
                  <a:lnTo>
                    <a:pt x="247" y="1062"/>
                  </a:lnTo>
                  <a:lnTo>
                    <a:pt x="212" y="1062"/>
                  </a:lnTo>
                  <a:cubicBezTo>
                    <a:pt x="0" y="1123"/>
                    <a:pt x="156" y="1473"/>
                    <a:pt x="316" y="1473"/>
                  </a:cubicBezTo>
                  <a:cubicBezTo>
                    <a:pt x="340" y="1473"/>
                    <a:pt x="364" y="1465"/>
                    <a:pt x="387" y="1447"/>
                  </a:cubicBezTo>
                  <a:lnTo>
                    <a:pt x="3042" y="119"/>
                  </a:lnTo>
                  <a:cubicBezTo>
                    <a:pt x="3077" y="119"/>
                    <a:pt x="3077" y="84"/>
                    <a:pt x="3077" y="49"/>
                  </a:cubicBezTo>
                  <a:cubicBezTo>
                    <a:pt x="3077" y="25"/>
                    <a:pt x="3059" y="0"/>
                    <a:pt x="30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05;p43">
              <a:extLst>
                <a:ext uri="{FF2B5EF4-FFF2-40B4-BE49-F238E27FC236}">
                  <a16:creationId xmlns:a16="http://schemas.microsoft.com/office/drawing/2014/main" id="{515A34A5-E682-3296-359B-9574F6DF1B91}"/>
                </a:ext>
              </a:extLst>
            </p:cNvPr>
            <p:cNvSpPr/>
            <p:nvPr/>
          </p:nvSpPr>
          <p:spPr>
            <a:xfrm>
              <a:off x="3122300" y="645050"/>
              <a:ext cx="6125" cy="54600"/>
            </a:xfrm>
            <a:custGeom>
              <a:avLst/>
              <a:gdLst/>
              <a:ahLst/>
              <a:cxnLst/>
              <a:rect l="l" t="t" r="r" b="b"/>
              <a:pathLst>
                <a:path w="245" h="2184" extrusionOk="0">
                  <a:moveTo>
                    <a:pt x="105" y="1"/>
                  </a:moveTo>
                  <a:cubicBezTo>
                    <a:pt x="70" y="1"/>
                    <a:pt x="0" y="36"/>
                    <a:pt x="0" y="106"/>
                  </a:cubicBezTo>
                  <a:lnTo>
                    <a:pt x="0" y="2132"/>
                  </a:lnTo>
                  <a:cubicBezTo>
                    <a:pt x="0" y="2166"/>
                    <a:pt x="26" y="2184"/>
                    <a:pt x="52" y="2184"/>
                  </a:cubicBezTo>
                  <a:cubicBezTo>
                    <a:pt x="79" y="2184"/>
                    <a:pt x="105" y="2166"/>
                    <a:pt x="105" y="2132"/>
                  </a:cubicBezTo>
                  <a:lnTo>
                    <a:pt x="245" y="106"/>
                  </a:lnTo>
                  <a:cubicBezTo>
                    <a:pt x="245" y="71"/>
                    <a:pt x="175" y="1"/>
                    <a:pt x="10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06;p43">
              <a:extLst>
                <a:ext uri="{FF2B5EF4-FFF2-40B4-BE49-F238E27FC236}">
                  <a16:creationId xmlns:a16="http://schemas.microsoft.com/office/drawing/2014/main" id="{AE108995-F57E-E6FE-E016-B2F3224B17B7}"/>
                </a:ext>
              </a:extLst>
            </p:cNvPr>
            <p:cNvSpPr/>
            <p:nvPr/>
          </p:nvSpPr>
          <p:spPr>
            <a:xfrm>
              <a:off x="3140625" y="660200"/>
              <a:ext cx="24475" cy="46875"/>
            </a:xfrm>
            <a:custGeom>
              <a:avLst/>
              <a:gdLst/>
              <a:ahLst/>
              <a:cxnLst/>
              <a:rect l="l" t="t" r="r" b="b"/>
              <a:pathLst>
                <a:path w="979" h="1875" extrusionOk="0">
                  <a:moveTo>
                    <a:pt x="824" y="1"/>
                  </a:moveTo>
                  <a:cubicBezTo>
                    <a:pt x="787" y="1"/>
                    <a:pt x="755" y="18"/>
                    <a:pt x="734" y="58"/>
                  </a:cubicBezTo>
                  <a:lnTo>
                    <a:pt x="350" y="897"/>
                  </a:lnTo>
                  <a:lnTo>
                    <a:pt x="175" y="1351"/>
                  </a:lnTo>
                  <a:lnTo>
                    <a:pt x="70" y="1560"/>
                  </a:lnTo>
                  <a:lnTo>
                    <a:pt x="35" y="1665"/>
                  </a:lnTo>
                  <a:cubicBezTo>
                    <a:pt x="1" y="1700"/>
                    <a:pt x="1" y="1700"/>
                    <a:pt x="1" y="1735"/>
                  </a:cubicBezTo>
                  <a:lnTo>
                    <a:pt x="1" y="1770"/>
                  </a:lnTo>
                  <a:cubicBezTo>
                    <a:pt x="1" y="1805"/>
                    <a:pt x="1" y="1840"/>
                    <a:pt x="1" y="1875"/>
                  </a:cubicBezTo>
                  <a:lnTo>
                    <a:pt x="70" y="1840"/>
                  </a:lnTo>
                  <a:cubicBezTo>
                    <a:pt x="77" y="1847"/>
                    <a:pt x="85" y="1849"/>
                    <a:pt x="93" y="1849"/>
                  </a:cubicBezTo>
                  <a:cubicBezTo>
                    <a:pt x="128" y="1849"/>
                    <a:pt x="169" y="1798"/>
                    <a:pt x="140" y="1770"/>
                  </a:cubicBezTo>
                  <a:cubicBezTo>
                    <a:pt x="140" y="1735"/>
                    <a:pt x="140" y="1735"/>
                    <a:pt x="140" y="1700"/>
                  </a:cubicBezTo>
                  <a:lnTo>
                    <a:pt x="210" y="1595"/>
                  </a:lnTo>
                  <a:lnTo>
                    <a:pt x="315" y="1386"/>
                  </a:lnTo>
                  <a:lnTo>
                    <a:pt x="525" y="1002"/>
                  </a:lnTo>
                  <a:lnTo>
                    <a:pt x="944" y="163"/>
                  </a:lnTo>
                  <a:cubicBezTo>
                    <a:pt x="979" y="93"/>
                    <a:pt x="944" y="24"/>
                    <a:pt x="909" y="24"/>
                  </a:cubicBezTo>
                  <a:cubicBezTo>
                    <a:pt x="880" y="9"/>
                    <a:pt x="851" y="1"/>
                    <a:pt x="8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07;p43">
              <a:extLst>
                <a:ext uri="{FF2B5EF4-FFF2-40B4-BE49-F238E27FC236}">
                  <a16:creationId xmlns:a16="http://schemas.microsoft.com/office/drawing/2014/main" id="{342D8F68-AC42-8FFA-CC51-3FAA5D29B1AB}"/>
                </a:ext>
              </a:extLst>
            </p:cNvPr>
            <p:cNvSpPr/>
            <p:nvPr/>
          </p:nvSpPr>
          <p:spPr>
            <a:xfrm>
              <a:off x="3153725" y="687200"/>
              <a:ext cx="34075" cy="28400"/>
            </a:xfrm>
            <a:custGeom>
              <a:avLst/>
              <a:gdLst/>
              <a:ahLst/>
              <a:cxnLst/>
              <a:rect l="l" t="t" r="r" b="b"/>
              <a:pathLst>
                <a:path w="1363" h="1136" extrusionOk="0">
                  <a:moveTo>
                    <a:pt x="1258" y="0"/>
                  </a:moveTo>
                  <a:cubicBezTo>
                    <a:pt x="1232" y="0"/>
                    <a:pt x="1206" y="9"/>
                    <a:pt x="1188" y="26"/>
                  </a:cubicBezTo>
                  <a:lnTo>
                    <a:pt x="1" y="1039"/>
                  </a:lnTo>
                  <a:cubicBezTo>
                    <a:pt x="1" y="1039"/>
                    <a:pt x="1" y="1074"/>
                    <a:pt x="35" y="1109"/>
                  </a:cubicBezTo>
                  <a:cubicBezTo>
                    <a:pt x="35" y="1127"/>
                    <a:pt x="44" y="1135"/>
                    <a:pt x="57" y="1135"/>
                  </a:cubicBezTo>
                  <a:cubicBezTo>
                    <a:pt x="70" y="1135"/>
                    <a:pt x="88" y="1127"/>
                    <a:pt x="105" y="1109"/>
                  </a:cubicBezTo>
                  <a:lnTo>
                    <a:pt x="1328" y="166"/>
                  </a:lnTo>
                  <a:cubicBezTo>
                    <a:pt x="1363" y="131"/>
                    <a:pt x="1363" y="61"/>
                    <a:pt x="1328" y="26"/>
                  </a:cubicBezTo>
                  <a:cubicBezTo>
                    <a:pt x="1310" y="9"/>
                    <a:pt x="1284" y="0"/>
                    <a:pt x="12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08;p43">
              <a:extLst>
                <a:ext uri="{FF2B5EF4-FFF2-40B4-BE49-F238E27FC236}">
                  <a16:creationId xmlns:a16="http://schemas.microsoft.com/office/drawing/2014/main" id="{F1124241-7B5D-777F-AA9D-2CA556F6A8CC}"/>
                </a:ext>
              </a:extLst>
            </p:cNvPr>
            <p:cNvSpPr/>
            <p:nvPr/>
          </p:nvSpPr>
          <p:spPr>
            <a:xfrm>
              <a:off x="3170325" y="743725"/>
              <a:ext cx="55900" cy="8775"/>
            </a:xfrm>
            <a:custGeom>
              <a:avLst/>
              <a:gdLst/>
              <a:ahLst/>
              <a:cxnLst/>
              <a:rect l="l" t="t" r="r" b="b"/>
              <a:pathLst>
                <a:path w="2236" h="351" extrusionOk="0">
                  <a:moveTo>
                    <a:pt x="2096" y="1"/>
                  </a:moveTo>
                  <a:lnTo>
                    <a:pt x="70" y="245"/>
                  </a:lnTo>
                  <a:lnTo>
                    <a:pt x="105" y="245"/>
                  </a:lnTo>
                  <a:cubicBezTo>
                    <a:pt x="0" y="245"/>
                    <a:pt x="0" y="350"/>
                    <a:pt x="105" y="350"/>
                  </a:cubicBezTo>
                  <a:lnTo>
                    <a:pt x="2096" y="211"/>
                  </a:lnTo>
                  <a:cubicBezTo>
                    <a:pt x="2236" y="211"/>
                    <a:pt x="2236" y="1"/>
                    <a:pt x="20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09;p43">
              <a:extLst>
                <a:ext uri="{FF2B5EF4-FFF2-40B4-BE49-F238E27FC236}">
                  <a16:creationId xmlns:a16="http://schemas.microsoft.com/office/drawing/2014/main" id="{A067FC48-29FB-510C-C4A1-94E3D418CCD6}"/>
                </a:ext>
              </a:extLst>
            </p:cNvPr>
            <p:cNvSpPr/>
            <p:nvPr/>
          </p:nvSpPr>
          <p:spPr>
            <a:xfrm>
              <a:off x="3165950" y="767525"/>
              <a:ext cx="50350" cy="19125"/>
            </a:xfrm>
            <a:custGeom>
              <a:avLst/>
              <a:gdLst/>
              <a:ahLst/>
              <a:cxnLst/>
              <a:rect l="l" t="t" r="r" b="b"/>
              <a:pathLst>
                <a:path w="2014" h="765" extrusionOk="0">
                  <a:moveTo>
                    <a:pt x="158" y="1"/>
                  </a:moveTo>
                  <a:cubicBezTo>
                    <a:pt x="149" y="1"/>
                    <a:pt x="140" y="10"/>
                    <a:pt x="140" y="27"/>
                  </a:cubicBezTo>
                  <a:lnTo>
                    <a:pt x="1" y="27"/>
                  </a:lnTo>
                  <a:cubicBezTo>
                    <a:pt x="1" y="62"/>
                    <a:pt x="1" y="97"/>
                    <a:pt x="35" y="132"/>
                  </a:cubicBezTo>
                  <a:lnTo>
                    <a:pt x="140" y="132"/>
                  </a:lnTo>
                  <a:lnTo>
                    <a:pt x="280" y="167"/>
                  </a:lnTo>
                  <a:lnTo>
                    <a:pt x="490" y="237"/>
                  </a:lnTo>
                  <a:lnTo>
                    <a:pt x="909" y="411"/>
                  </a:lnTo>
                  <a:lnTo>
                    <a:pt x="1782" y="761"/>
                  </a:lnTo>
                  <a:cubicBezTo>
                    <a:pt x="1793" y="763"/>
                    <a:pt x="1803" y="764"/>
                    <a:pt x="1813" y="764"/>
                  </a:cubicBezTo>
                  <a:cubicBezTo>
                    <a:pt x="1936" y="764"/>
                    <a:pt x="2013" y="581"/>
                    <a:pt x="1852" y="516"/>
                  </a:cubicBezTo>
                  <a:lnTo>
                    <a:pt x="979" y="237"/>
                  </a:lnTo>
                  <a:lnTo>
                    <a:pt x="525" y="97"/>
                  </a:lnTo>
                  <a:lnTo>
                    <a:pt x="315" y="27"/>
                  </a:lnTo>
                  <a:lnTo>
                    <a:pt x="175" y="27"/>
                  </a:lnTo>
                  <a:cubicBezTo>
                    <a:pt x="175" y="10"/>
                    <a:pt x="166" y="1"/>
                    <a:pt x="1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10;p43">
              <a:extLst>
                <a:ext uri="{FF2B5EF4-FFF2-40B4-BE49-F238E27FC236}">
                  <a16:creationId xmlns:a16="http://schemas.microsoft.com/office/drawing/2014/main" id="{B21759C9-41F8-5862-E83E-65DD1FFC8D52}"/>
                </a:ext>
              </a:extLst>
            </p:cNvPr>
            <p:cNvSpPr/>
            <p:nvPr/>
          </p:nvSpPr>
          <p:spPr>
            <a:xfrm>
              <a:off x="3158100" y="782375"/>
              <a:ext cx="33200" cy="31025"/>
            </a:xfrm>
            <a:custGeom>
              <a:avLst/>
              <a:gdLst/>
              <a:ahLst/>
              <a:cxnLst/>
              <a:rect l="l" t="t" r="r" b="b"/>
              <a:pathLst>
                <a:path w="1328" h="1241" extrusionOk="0">
                  <a:moveTo>
                    <a:pt x="87" y="1"/>
                  </a:moveTo>
                  <a:cubicBezTo>
                    <a:pt x="70" y="1"/>
                    <a:pt x="53" y="9"/>
                    <a:pt x="35" y="27"/>
                  </a:cubicBezTo>
                  <a:cubicBezTo>
                    <a:pt x="0" y="27"/>
                    <a:pt x="0" y="62"/>
                    <a:pt x="35" y="97"/>
                  </a:cubicBezTo>
                  <a:lnTo>
                    <a:pt x="1153" y="1214"/>
                  </a:lnTo>
                  <a:cubicBezTo>
                    <a:pt x="1170" y="1232"/>
                    <a:pt x="1197" y="1241"/>
                    <a:pt x="1223" y="1241"/>
                  </a:cubicBezTo>
                  <a:cubicBezTo>
                    <a:pt x="1249" y="1241"/>
                    <a:pt x="1275" y="1232"/>
                    <a:pt x="1293" y="1214"/>
                  </a:cubicBezTo>
                  <a:cubicBezTo>
                    <a:pt x="1328" y="1145"/>
                    <a:pt x="1328" y="1110"/>
                    <a:pt x="1293" y="1040"/>
                  </a:cubicBezTo>
                  <a:lnTo>
                    <a:pt x="140" y="27"/>
                  </a:lnTo>
                  <a:cubicBezTo>
                    <a:pt x="122" y="9"/>
                    <a:pt x="105" y="1"/>
                    <a:pt x="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11;p43">
              <a:extLst>
                <a:ext uri="{FF2B5EF4-FFF2-40B4-BE49-F238E27FC236}">
                  <a16:creationId xmlns:a16="http://schemas.microsoft.com/office/drawing/2014/main" id="{FF7DC12E-9934-7F05-CECF-2D61E738955C}"/>
                </a:ext>
              </a:extLst>
            </p:cNvPr>
            <p:cNvSpPr/>
            <p:nvPr/>
          </p:nvSpPr>
          <p:spPr>
            <a:xfrm>
              <a:off x="3125775" y="796650"/>
              <a:ext cx="9625" cy="54525"/>
            </a:xfrm>
            <a:custGeom>
              <a:avLst/>
              <a:gdLst/>
              <a:ahLst/>
              <a:cxnLst/>
              <a:rect l="l" t="t" r="r" b="b"/>
              <a:pathLst>
                <a:path w="385" h="2181" extrusionOk="0">
                  <a:moveTo>
                    <a:pt x="292" y="0"/>
                  </a:moveTo>
                  <a:cubicBezTo>
                    <a:pt x="277" y="0"/>
                    <a:pt x="270" y="25"/>
                    <a:pt x="245" y="50"/>
                  </a:cubicBezTo>
                  <a:lnTo>
                    <a:pt x="1" y="2041"/>
                  </a:lnTo>
                  <a:cubicBezTo>
                    <a:pt x="1" y="2111"/>
                    <a:pt x="36" y="2146"/>
                    <a:pt x="106" y="2180"/>
                  </a:cubicBezTo>
                  <a:cubicBezTo>
                    <a:pt x="175" y="2180"/>
                    <a:pt x="210" y="2111"/>
                    <a:pt x="210" y="2076"/>
                  </a:cubicBezTo>
                  <a:lnTo>
                    <a:pt x="385" y="50"/>
                  </a:lnTo>
                  <a:cubicBezTo>
                    <a:pt x="385" y="15"/>
                    <a:pt x="350" y="15"/>
                    <a:pt x="315" y="15"/>
                  </a:cubicBezTo>
                  <a:cubicBezTo>
                    <a:pt x="305" y="4"/>
                    <a:pt x="298" y="0"/>
                    <a:pt x="2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12;p43">
              <a:extLst>
                <a:ext uri="{FF2B5EF4-FFF2-40B4-BE49-F238E27FC236}">
                  <a16:creationId xmlns:a16="http://schemas.microsoft.com/office/drawing/2014/main" id="{58227F8C-DD2F-68C9-9FE8-E8F3F14747C3}"/>
                </a:ext>
              </a:extLst>
            </p:cNvPr>
            <p:cNvSpPr/>
            <p:nvPr/>
          </p:nvSpPr>
          <p:spPr>
            <a:xfrm>
              <a:off x="3090850" y="788275"/>
              <a:ext cx="27100" cy="45425"/>
            </a:xfrm>
            <a:custGeom>
              <a:avLst/>
              <a:gdLst/>
              <a:ahLst/>
              <a:cxnLst/>
              <a:rect l="l" t="t" r="r" b="b"/>
              <a:pathLst>
                <a:path w="1084" h="1817" extrusionOk="0">
                  <a:moveTo>
                    <a:pt x="1083" y="0"/>
                  </a:moveTo>
                  <a:lnTo>
                    <a:pt x="1048" y="70"/>
                  </a:lnTo>
                  <a:cubicBezTo>
                    <a:pt x="1038" y="50"/>
                    <a:pt x="1022" y="41"/>
                    <a:pt x="1006" y="41"/>
                  </a:cubicBezTo>
                  <a:cubicBezTo>
                    <a:pt x="972" y="41"/>
                    <a:pt x="939" y="79"/>
                    <a:pt x="963" y="121"/>
                  </a:cubicBezTo>
                  <a:lnTo>
                    <a:pt x="963" y="121"/>
                  </a:lnTo>
                  <a:cubicBezTo>
                    <a:pt x="944" y="141"/>
                    <a:pt x="944" y="146"/>
                    <a:pt x="944" y="175"/>
                  </a:cubicBezTo>
                  <a:lnTo>
                    <a:pt x="874" y="245"/>
                  </a:lnTo>
                  <a:lnTo>
                    <a:pt x="769" y="455"/>
                  </a:lnTo>
                  <a:lnTo>
                    <a:pt x="524" y="874"/>
                  </a:lnTo>
                  <a:lnTo>
                    <a:pt x="35" y="1642"/>
                  </a:lnTo>
                  <a:cubicBezTo>
                    <a:pt x="0" y="1712"/>
                    <a:pt x="35" y="1782"/>
                    <a:pt x="70" y="1817"/>
                  </a:cubicBezTo>
                  <a:cubicBezTo>
                    <a:pt x="140" y="1817"/>
                    <a:pt x="210" y="1817"/>
                    <a:pt x="245" y="1747"/>
                  </a:cubicBezTo>
                  <a:lnTo>
                    <a:pt x="664" y="944"/>
                  </a:lnTo>
                  <a:lnTo>
                    <a:pt x="909" y="489"/>
                  </a:lnTo>
                  <a:lnTo>
                    <a:pt x="1013" y="280"/>
                  </a:lnTo>
                  <a:lnTo>
                    <a:pt x="1048" y="175"/>
                  </a:lnTo>
                  <a:cubicBezTo>
                    <a:pt x="1083" y="175"/>
                    <a:pt x="1083" y="140"/>
                    <a:pt x="1083" y="140"/>
                  </a:cubicBezTo>
                  <a:lnTo>
                    <a:pt x="1083" y="105"/>
                  </a:lnTo>
                  <a:cubicBezTo>
                    <a:pt x="1083" y="70"/>
                    <a:pt x="1083" y="35"/>
                    <a:pt x="10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13;p43">
              <a:extLst>
                <a:ext uri="{FF2B5EF4-FFF2-40B4-BE49-F238E27FC236}">
                  <a16:creationId xmlns:a16="http://schemas.microsoft.com/office/drawing/2014/main" id="{26F877B7-F59D-E257-2EDF-4900E5EF1D4B}"/>
                </a:ext>
              </a:extLst>
            </p:cNvPr>
            <p:cNvSpPr/>
            <p:nvPr/>
          </p:nvSpPr>
          <p:spPr>
            <a:xfrm>
              <a:off x="3069025" y="778675"/>
              <a:ext cx="36700" cy="26650"/>
            </a:xfrm>
            <a:custGeom>
              <a:avLst/>
              <a:gdLst/>
              <a:ahLst/>
              <a:cxnLst/>
              <a:rect l="l" t="t" r="r" b="b"/>
              <a:pathLst>
                <a:path w="1468" h="1066" extrusionOk="0">
                  <a:moveTo>
                    <a:pt x="1363" y="0"/>
                  </a:moveTo>
                  <a:lnTo>
                    <a:pt x="35" y="873"/>
                  </a:lnTo>
                  <a:cubicBezTo>
                    <a:pt x="0" y="908"/>
                    <a:pt x="0" y="978"/>
                    <a:pt x="35" y="1013"/>
                  </a:cubicBezTo>
                  <a:cubicBezTo>
                    <a:pt x="53" y="1048"/>
                    <a:pt x="79" y="1066"/>
                    <a:pt x="105" y="1066"/>
                  </a:cubicBezTo>
                  <a:cubicBezTo>
                    <a:pt x="131" y="1066"/>
                    <a:pt x="157" y="1048"/>
                    <a:pt x="175" y="1013"/>
                  </a:cubicBezTo>
                  <a:lnTo>
                    <a:pt x="1432" y="105"/>
                  </a:lnTo>
                  <a:cubicBezTo>
                    <a:pt x="1432" y="70"/>
                    <a:pt x="1467" y="35"/>
                    <a:pt x="1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1214;p43">
              <a:extLst>
                <a:ext uri="{FF2B5EF4-FFF2-40B4-BE49-F238E27FC236}">
                  <a16:creationId xmlns:a16="http://schemas.microsoft.com/office/drawing/2014/main" id="{C0CEF2DE-90FF-0239-B58F-8F340D8F7F7F}"/>
                </a:ext>
              </a:extLst>
            </p:cNvPr>
            <p:cNvSpPr/>
            <p:nvPr/>
          </p:nvSpPr>
          <p:spPr>
            <a:xfrm>
              <a:off x="3029175" y="739375"/>
              <a:ext cx="55575" cy="10600"/>
            </a:xfrm>
            <a:custGeom>
              <a:avLst/>
              <a:gdLst/>
              <a:ahLst/>
              <a:cxnLst/>
              <a:rect l="l" t="t" r="r" b="b"/>
              <a:pathLst>
                <a:path w="2223" h="424" extrusionOk="0">
                  <a:moveTo>
                    <a:pt x="2153" y="0"/>
                  </a:moveTo>
                  <a:lnTo>
                    <a:pt x="162" y="210"/>
                  </a:lnTo>
                  <a:cubicBezTo>
                    <a:pt x="1" y="242"/>
                    <a:pt x="18" y="423"/>
                    <a:pt x="159" y="423"/>
                  </a:cubicBezTo>
                  <a:cubicBezTo>
                    <a:pt x="171" y="423"/>
                    <a:pt x="184" y="422"/>
                    <a:pt x="197" y="419"/>
                  </a:cubicBezTo>
                  <a:lnTo>
                    <a:pt x="2188" y="140"/>
                  </a:lnTo>
                  <a:cubicBezTo>
                    <a:pt x="2188" y="105"/>
                    <a:pt x="2223" y="105"/>
                    <a:pt x="2223" y="70"/>
                  </a:cubicBezTo>
                  <a:cubicBezTo>
                    <a:pt x="2223" y="35"/>
                    <a:pt x="2188" y="0"/>
                    <a:pt x="2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1215;p43">
              <a:extLst>
                <a:ext uri="{FF2B5EF4-FFF2-40B4-BE49-F238E27FC236}">
                  <a16:creationId xmlns:a16="http://schemas.microsoft.com/office/drawing/2014/main" id="{667926BF-6768-28E6-CC7D-6632B704DADB}"/>
                </a:ext>
              </a:extLst>
            </p:cNvPr>
            <p:cNvSpPr/>
            <p:nvPr/>
          </p:nvSpPr>
          <p:spPr>
            <a:xfrm>
              <a:off x="3040200" y="707050"/>
              <a:ext cx="48925" cy="16625"/>
            </a:xfrm>
            <a:custGeom>
              <a:avLst/>
              <a:gdLst/>
              <a:ahLst/>
              <a:cxnLst/>
              <a:rect l="l" t="t" r="r" b="b"/>
              <a:pathLst>
                <a:path w="1957" h="665" extrusionOk="0">
                  <a:moveTo>
                    <a:pt x="140" y="1"/>
                  </a:moveTo>
                  <a:cubicBezTo>
                    <a:pt x="70" y="1"/>
                    <a:pt x="1" y="36"/>
                    <a:pt x="1" y="106"/>
                  </a:cubicBezTo>
                  <a:cubicBezTo>
                    <a:pt x="1" y="141"/>
                    <a:pt x="35" y="210"/>
                    <a:pt x="70" y="245"/>
                  </a:cubicBezTo>
                  <a:lnTo>
                    <a:pt x="979" y="490"/>
                  </a:lnTo>
                  <a:lnTo>
                    <a:pt x="1433" y="595"/>
                  </a:lnTo>
                  <a:lnTo>
                    <a:pt x="1642" y="665"/>
                  </a:lnTo>
                  <a:lnTo>
                    <a:pt x="1957" y="665"/>
                  </a:lnTo>
                  <a:cubicBezTo>
                    <a:pt x="1957" y="630"/>
                    <a:pt x="1957" y="595"/>
                    <a:pt x="1922" y="560"/>
                  </a:cubicBezTo>
                  <a:lnTo>
                    <a:pt x="1782" y="560"/>
                  </a:lnTo>
                  <a:lnTo>
                    <a:pt x="1677" y="525"/>
                  </a:lnTo>
                  <a:lnTo>
                    <a:pt x="1468" y="455"/>
                  </a:lnTo>
                  <a:lnTo>
                    <a:pt x="1014" y="315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1216;p43">
              <a:extLst>
                <a:ext uri="{FF2B5EF4-FFF2-40B4-BE49-F238E27FC236}">
                  <a16:creationId xmlns:a16="http://schemas.microsoft.com/office/drawing/2014/main" id="{C6FEB3DF-038C-F86C-67DF-26264009EEB2}"/>
                </a:ext>
              </a:extLst>
            </p:cNvPr>
            <p:cNvSpPr/>
            <p:nvPr/>
          </p:nvSpPr>
          <p:spPr>
            <a:xfrm>
              <a:off x="3061650" y="679525"/>
              <a:ext cx="34925" cy="29900"/>
            </a:xfrm>
            <a:custGeom>
              <a:avLst/>
              <a:gdLst/>
              <a:ahLst/>
              <a:cxnLst/>
              <a:rect l="l" t="t" r="r" b="b"/>
              <a:pathLst>
                <a:path w="1397" h="1196" extrusionOk="0">
                  <a:moveTo>
                    <a:pt x="165" y="0"/>
                  </a:moveTo>
                  <a:cubicBezTo>
                    <a:pt x="77" y="0"/>
                    <a:pt x="0" y="108"/>
                    <a:pt x="86" y="194"/>
                  </a:cubicBezTo>
                  <a:lnTo>
                    <a:pt x="1273" y="1172"/>
                  </a:lnTo>
                  <a:cubicBezTo>
                    <a:pt x="1290" y="1189"/>
                    <a:pt x="1307" y="1195"/>
                    <a:pt x="1322" y="1195"/>
                  </a:cubicBezTo>
                  <a:cubicBezTo>
                    <a:pt x="1369" y="1195"/>
                    <a:pt x="1396" y="1128"/>
                    <a:pt x="1343" y="1102"/>
                  </a:cubicBezTo>
                  <a:lnTo>
                    <a:pt x="225" y="19"/>
                  </a:lnTo>
                  <a:cubicBezTo>
                    <a:pt x="206" y="6"/>
                    <a:pt x="185" y="0"/>
                    <a:pt x="1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1217;p43">
              <a:extLst>
                <a:ext uri="{FF2B5EF4-FFF2-40B4-BE49-F238E27FC236}">
                  <a16:creationId xmlns:a16="http://schemas.microsoft.com/office/drawing/2014/main" id="{6AE48AF5-6A6C-08F5-9EBC-27EA73FAF913}"/>
                </a:ext>
              </a:extLst>
            </p:cNvPr>
            <p:cNvSpPr/>
            <p:nvPr/>
          </p:nvSpPr>
          <p:spPr>
            <a:xfrm>
              <a:off x="3446275" y="1422000"/>
              <a:ext cx="55550" cy="45775"/>
            </a:xfrm>
            <a:custGeom>
              <a:avLst/>
              <a:gdLst/>
              <a:ahLst/>
              <a:cxnLst/>
              <a:rect l="l" t="t" r="r" b="b"/>
              <a:pathLst>
                <a:path w="2222" h="1831" extrusionOk="0">
                  <a:moveTo>
                    <a:pt x="1132" y="0"/>
                  </a:moveTo>
                  <a:cubicBezTo>
                    <a:pt x="1011" y="0"/>
                    <a:pt x="888" y="26"/>
                    <a:pt x="769" y="81"/>
                  </a:cubicBezTo>
                  <a:cubicBezTo>
                    <a:pt x="0" y="430"/>
                    <a:pt x="35" y="1478"/>
                    <a:pt x="804" y="1758"/>
                  </a:cubicBezTo>
                  <a:cubicBezTo>
                    <a:pt x="920" y="1807"/>
                    <a:pt x="1036" y="1830"/>
                    <a:pt x="1147" y="1830"/>
                  </a:cubicBezTo>
                  <a:cubicBezTo>
                    <a:pt x="1743" y="1830"/>
                    <a:pt x="2221" y="1188"/>
                    <a:pt x="1956" y="570"/>
                  </a:cubicBezTo>
                  <a:cubicBezTo>
                    <a:pt x="1802" y="209"/>
                    <a:pt x="1475" y="0"/>
                    <a:pt x="11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1218;p43">
              <a:extLst>
                <a:ext uri="{FF2B5EF4-FFF2-40B4-BE49-F238E27FC236}">
                  <a16:creationId xmlns:a16="http://schemas.microsoft.com/office/drawing/2014/main" id="{E8401701-2820-727F-C13F-69498FB85244}"/>
                </a:ext>
              </a:extLst>
            </p:cNvPr>
            <p:cNvSpPr/>
            <p:nvPr/>
          </p:nvSpPr>
          <p:spPr>
            <a:xfrm>
              <a:off x="3434050" y="1359050"/>
              <a:ext cx="28850" cy="56900"/>
            </a:xfrm>
            <a:custGeom>
              <a:avLst/>
              <a:gdLst/>
              <a:ahLst/>
              <a:cxnLst/>
              <a:rect l="l" t="t" r="r" b="b"/>
              <a:pathLst>
                <a:path w="1154" h="2276" extrusionOk="0">
                  <a:moveTo>
                    <a:pt x="146" y="0"/>
                  </a:moveTo>
                  <a:cubicBezTo>
                    <a:pt x="129" y="0"/>
                    <a:pt x="114" y="5"/>
                    <a:pt x="105" y="14"/>
                  </a:cubicBezTo>
                  <a:cubicBezTo>
                    <a:pt x="35" y="49"/>
                    <a:pt x="0" y="119"/>
                    <a:pt x="35" y="189"/>
                  </a:cubicBezTo>
                  <a:lnTo>
                    <a:pt x="1048" y="2250"/>
                  </a:lnTo>
                  <a:cubicBezTo>
                    <a:pt x="1048" y="2267"/>
                    <a:pt x="1057" y="2276"/>
                    <a:pt x="1070" y="2276"/>
                  </a:cubicBezTo>
                  <a:cubicBezTo>
                    <a:pt x="1083" y="2276"/>
                    <a:pt x="1101" y="2267"/>
                    <a:pt x="1118" y="2250"/>
                  </a:cubicBezTo>
                  <a:cubicBezTo>
                    <a:pt x="1118" y="2250"/>
                    <a:pt x="1153" y="2215"/>
                    <a:pt x="1153" y="2215"/>
                  </a:cubicBezTo>
                  <a:lnTo>
                    <a:pt x="280" y="84"/>
                  </a:lnTo>
                  <a:cubicBezTo>
                    <a:pt x="254" y="33"/>
                    <a:pt x="191" y="0"/>
                    <a:pt x="1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1219;p43">
              <a:extLst>
                <a:ext uri="{FF2B5EF4-FFF2-40B4-BE49-F238E27FC236}">
                  <a16:creationId xmlns:a16="http://schemas.microsoft.com/office/drawing/2014/main" id="{71D75729-C308-92E0-1C91-40DFC8F0C5D2}"/>
                </a:ext>
              </a:extLst>
            </p:cNvPr>
            <p:cNvSpPr/>
            <p:nvPr/>
          </p:nvSpPr>
          <p:spPr>
            <a:xfrm>
              <a:off x="3486450" y="1473125"/>
              <a:ext cx="27950" cy="57800"/>
            </a:xfrm>
            <a:custGeom>
              <a:avLst/>
              <a:gdLst/>
              <a:ahLst/>
              <a:cxnLst/>
              <a:rect l="l" t="t" r="r" b="b"/>
              <a:pathLst>
                <a:path w="1118" h="2312" extrusionOk="0">
                  <a:moveTo>
                    <a:pt x="57" y="1"/>
                  </a:moveTo>
                  <a:cubicBezTo>
                    <a:pt x="44" y="1"/>
                    <a:pt x="35" y="10"/>
                    <a:pt x="35" y="27"/>
                  </a:cubicBezTo>
                  <a:cubicBezTo>
                    <a:pt x="0" y="27"/>
                    <a:pt x="0" y="62"/>
                    <a:pt x="0" y="97"/>
                  </a:cubicBezTo>
                  <a:lnTo>
                    <a:pt x="873" y="2228"/>
                  </a:lnTo>
                  <a:cubicBezTo>
                    <a:pt x="899" y="2279"/>
                    <a:pt x="943" y="2311"/>
                    <a:pt x="993" y="2311"/>
                  </a:cubicBezTo>
                  <a:cubicBezTo>
                    <a:pt x="1011" y="2311"/>
                    <a:pt x="1029" y="2307"/>
                    <a:pt x="1048" y="2298"/>
                  </a:cubicBezTo>
                  <a:cubicBezTo>
                    <a:pt x="1083" y="2263"/>
                    <a:pt x="1118" y="2193"/>
                    <a:pt x="1083" y="2123"/>
                  </a:cubicBezTo>
                  <a:lnTo>
                    <a:pt x="105" y="27"/>
                  </a:lnTo>
                  <a:cubicBezTo>
                    <a:pt x="87" y="10"/>
                    <a:pt x="70" y="1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1220;p43">
              <a:extLst>
                <a:ext uri="{FF2B5EF4-FFF2-40B4-BE49-F238E27FC236}">
                  <a16:creationId xmlns:a16="http://schemas.microsoft.com/office/drawing/2014/main" id="{1C1DD5A1-427C-DE36-A8DB-EE8B2A365C2C}"/>
                </a:ext>
              </a:extLst>
            </p:cNvPr>
            <p:cNvSpPr/>
            <p:nvPr/>
          </p:nvSpPr>
          <p:spPr>
            <a:xfrm>
              <a:off x="3503025" y="1405325"/>
              <a:ext cx="53575" cy="27450"/>
            </a:xfrm>
            <a:custGeom>
              <a:avLst/>
              <a:gdLst/>
              <a:ahLst/>
              <a:cxnLst/>
              <a:rect l="l" t="t" r="r" b="b"/>
              <a:pathLst>
                <a:path w="2143" h="1098" extrusionOk="0">
                  <a:moveTo>
                    <a:pt x="1945" y="0"/>
                  </a:moveTo>
                  <a:cubicBezTo>
                    <a:pt x="1926" y="0"/>
                    <a:pt x="1907" y="5"/>
                    <a:pt x="1887" y="15"/>
                  </a:cubicBezTo>
                  <a:lnTo>
                    <a:pt x="36" y="993"/>
                  </a:lnTo>
                  <a:cubicBezTo>
                    <a:pt x="1" y="1028"/>
                    <a:pt x="1" y="1028"/>
                    <a:pt x="1" y="1062"/>
                  </a:cubicBezTo>
                  <a:cubicBezTo>
                    <a:pt x="36" y="1097"/>
                    <a:pt x="36" y="1097"/>
                    <a:pt x="71" y="1097"/>
                  </a:cubicBezTo>
                  <a:lnTo>
                    <a:pt x="1992" y="224"/>
                  </a:lnTo>
                  <a:cubicBezTo>
                    <a:pt x="2142" y="164"/>
                    <a:pt x="2060" y="0"/>
                    <a:pt x="194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1221;p43">
              <a:extLst>
                <a:ext uri="{FF2B5EF4-FFF2-40B4-BE49-F238E27FC236}">
                  <a16:creationId xmlns:a16="http://schemas.microsoft.com/office/drawing/2014/main" id="{EAEE156F-5E94-72D0-8E2B-0E5C4B91B317}"/>
                </a:ext>
              </a:extLst>
            </p:cNvPr>
            <p:cNvSpPr/>
            <p:nvPr/>
          </p:nvSpPr>
          <p:spPr>
            <a:xfrm>
              <a:off x="3389500" y="1456800"/>
              <a:ext cx="55925" cy="27825"/>
            </a:xfrm>
            <a:custGeom>
              <a:avLst/>
              <a:gdLst/>
              <a:ahLst/>
              <a:cxnLst/>
              <a:rect l="l" t="t" r="r" b="b"/>
              <a:pathLst>
                <a:path w="2237" h="1113" extrusionOk="0">
                  <a:moveTo>
                    <a:pt x="2200" y="1"/>
                  </a:moveTo>
                  <a:cubicBezTo>
                    <a:pt x="2190" y="1"/>
                    <a:pt x="2178" y="5"/>
                    <a:pt x="2167" y="16"/>
                  </a:cubicBezTo>
                  <a:lnTo>
                    <a:pt x="106" y="785"/>
                  </a:lnTo>
                  <a:lnTo>
                    <a:pt x="106" y="820"/>
                  </a:lnTo>
                  <a:cubicBezTo>
                    <a:pt x="36" y="855"/>
                    <a:pt x="1" y="925"/>
                    <a:pt x="36" y="1029"/>
                  </a:cubicBezTo>
                  <a:cubicBezTo>
                    <a:pt x="61" y="1081"/>
                    <a:pt x="124" y="1113"/>
                    <a:pt x="184" y="1113"/>
                  </a:cubicBezTo>
                  <a:cubicBezTo>
                    <a:pt x="205" y="1113"/>
                    <a:pt x="227" y="1109"/>
                    <a:pt x="245" y="1099"/>
                  </a:cubicBezTo>
                  <a:lnTo>
                    <a:pt x="2236" y="86"/>
                  </a:lnTo>
                  <a:cubicBezTo>
                    <a:pt x="2236" y="86"/>
                    <a:pt x="2236" y="51"/>
                    <a:pt x="2236" y="16"/>
                  </a:cubicBezTo>
                  <a:cubicBezTo>
                    <a:pt x="2236" y="16"/>
                    <a:pt x="2221" y="1"/>
                    <a:pt x="220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1222;p43">
              <a:extLst>
                <a:ext uri="{FF2B5EF4-FFF2-40B4-BE49-F238E27FC236}">
                  <a16:creationId xmlns:a16="http://schemas.microsoft.com/office/drawing/2014/main" id="{2332A336-3592-A95E-FC5E-E75127CDC008}"/>
                </a:ext>
              </a:extLst>
            </p:cNvPr>
            <p:cNvSpPr/>
            <p:nvPr/>
          </p:nvSpPr>
          <p:spPr>
            <a:xfrm>
              <a:off x="3471600" y="1369875"/>
              <a:ext cx="4375" cy="41075"/>
            </a:xfrm>
            <a:custGeom>
              <a:avLst/>
              <a:gdLst/>
              <a:ahLst/>
              <a:cxnLst/>
              <a:rect l="l" t="t" r="r" b="b"/>
              <a:pathLst>
                <a:path w="175" h="1643" extrusionOk="0">
                  <a:moveTo>
                    <a:pt x="70" y="0"/>
                  </a:moveTo>
                  <a:cubicBezTo>
                    <a:pt x="35" y="0"/>
                    <a:pt x="0" y="35"/>
                    <a:pt x="0" y="70"/>
                  </a:cubicBezTo>
                  <a:lnTo>
                    <a:pt x="0" y="1607"/>
                  </a:lnTo>
                  <a:cubicBezTo>
                    <a:pt x="0" y="1607"/>
                    <a:pt x="0" y="1642"/>
                    <a:pt x="0" y="1642"/>
                  </a:cubicBezTo>
                  <a:cubicBezTo>
                    <a:pt x="35" y="1642"/>
                    <a:pt x="70" y="1607"/>
                    <a:pt x="70" y="1572"/>
                  </a:cubicBezTo>
                  <a:lnTo>
                    <a:pt x="175" y="70"/>
                  </a:lnTo>
                  <a:cubicBezTo>
                    <a:pt x="175" y="35"/>
                    <a:pt x="105" y="0"/>
                    <a:pt x="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1223;p43">
              <a:extLst>
                <a:ext uri="{FF2B5EF4-FFF2-40B4-BE49-F238E27FC236}">
                  <a16:creationId xmlns:a16="http://schemas.microsoft.com/office/drawing/2014/main" id="{C0472063-AF52-B9BC-F635-73CC7E63FEC9}"/>
                </a:ext>
              </a:extLst>
            </p:cNvPr>
            <p:cNvSpPr/>
            <p:nvPr/>
          </p:nvSpPr>
          <p:spPr>
            <a:xfrm>
              <a:off x="3485575" y="1381725"/>
              <a:ext cx="17475" cy="35475"/>
            </a:xfrm>
            <a:custGeom>
              <a:avLst/>
              <a:gdLst/>
              <a:ahLst/>
              <a:cxnLst/>
              <a:rect l="l" t="t" r="r" b="b"/>
              <a:pathLst>
                <a:path w="699" h="1419" extrusionOk="0">
                  <a:moveTo>
                    <a:pt x="598" y="1"/>
                  </a:moveTo>
                  <a:cubicBezTo>
                    <a:pt x="574" y="1"/>
                    <a:pt x="549" y="26"/>
                    <a:pt x="524" y="50"/>
                  </a:cubicBezTo>
                  <a:lnTo>
                    <a:pt x="245" y="679"/>
                  </a:lnTo>
                  <a:lnTo>
                    <a:pt x="70" y="993"/>
                  </a:lnTo>
                  <a:lnTo>
                    <a:pt x="35" y="1168"/>
                  </a:lnTo>
                  <a:lnTo>
                    <a:pt x="0" y="1273"/>
                  </a:lnTo>
                  <a:lnTo>
                    <a:pt x="0" y="1308"/>
                  </a:lnTo>
                  <a:lnTo>
                    <a:pt x="0" y="1378"/>
                  </a:lnTo>
                  <a:cubicBezTo>
                    <a:pt x="0" y="1407"/>
                    <a:pt x="13" y="1418"/>
                    <a:pt x="27" y="1418"/>
                  </a:cubicBezTo>
                  <a:cubicBezTo>
                    <a:pt x="47" y="1418"/>
                    <a:pt x="70" y="1398"/>
                    <a:pt x="70" y="1378"/>
                  </a:cubicBezTo>
                  <a:cubicBezTo>
                    <a:pt x="105" y="1343"/>
                    <a:pt x="105" y="1308"/>
                    <a:pt x="70" y="1308"/>
                  </a:cubicBezTo>
                  <a:lnTo>
                    <a:pt x="70" y="1273"/>
                  </a:lnTo>
                  <a:lnTo>
                    <a:pt x="105" y="1203"/>
                  </a:lnTo>
                  <a:lnTo>
                    <a:pt x="210" y="1063"/>
                  </a:lnTo>
                  <a:lnTo>
                    <a:pt x="350" y="749"/>
                  </a:lnTo>
                  <a:lnTo>
                    <a:pt x="699" y="120"/>
                  </a:lnTo>
                  <a:cubicBezTo>
                    <a:pt x="699" y="85"/>
                    <a:pt x="664" y="15"/>
                    <a:pt x="629" y="15"/>
                  </a:cubicBezTo>
                  <a:cubicBezTo>
                    <a:pt x="619" y="5"/>
                    <a:pt x="609" y="1"/>
                    <a:pt x="5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1224;p43">
              <a:extLst>
                <a:ext uri="{FF2B5EF4-FFF2-40B4-BE49-F238E27FC236}">
                  <a16:creationId xmlns:a16="http://schemas.microsoft.com/office/drawing/2014/main" id="{8B313D2A-3E01-A1B0-B8E5-1BA94A92C12B}"/>
                </a:ext>
              </a:extLst>
            </p:cNvPr>
            <p:cNvSpPr/>
            <p:nvPr/>
          </p:nvSpPr>
          <p:spPr>
            <a:xfrm>
              <a:off x="3495175" y="1400650"/>
              <a:ext cx="25350" cy="21650"/>
            </a:xfrm>
            <a:custGeom>
              <a:avLst/>
              <a:gdLst/>
              <a:ahLst/>
              <a:cxnLst/>
              <a:rect l="l" t="t" r="r" b="b"/>
              <a:pathLst>
                <a:path w="1014" h="866" extrusionOk="0">
                  <a:moveTo>
                    <a:pt x="926" y="1"/>
                  </a:moveTo>
                  <a:cubicBezTo>
                    <a:pt x="909" y="1"/>
                    <a:pt x="891" y="9"/>
                    <a:pt x="874" y="27"/>
                  </a:cubicBezTo>
                  <a:lnTo>
                    <a:pt x="0" y="795"/>
                  </a:lnTo>
                  <a:cubicBezTo>
                    <a:pt x="0" y="830"/>
                    <a:pt x="0" y="830"/>
                    <a:pt x="0" y="865"/>
                  </a:cubicBezTo>
                  <a:lnTo>
                    <a:pt x="70" y="865"/>
                  </a:lnTo>
                  <a:lnTo>
                    <a:pt x="979" y="167"/>
                  </a:lnTo>
                  <a:cubicBezTo>
                    <a:pt x="1013" y="132"/>
                    <a:pt x="1013" y="62"/>
                    <a:pt x="979" y="27"/>
                  </a:cubicBezTo>
                  <a:cubicBezTo>
                    <a:pt x="961" y="9"/>
                    <a:pt x="944" y="1"/>
                    <a:pt x="9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1225;p43">
              <a:extLst>
                <a:ext uri="{FF2B5EF4-FFF2-40B4-BE49-F238E27FC236}">
                  <a16:creationId xmlns:a16="http://schemas.microsoft.com/office/drawing/2014/main" id="{EA56897F-5861-F0A7-8B80-6430C62495BF}"/>
                </a:ext>
              </a:extLst>
            </p:cNvPr>
            <p:cNvSpPr/>
            <p:nvPr/>
          </p:nvSpPr>
          <p:spPr>
            <a:xfrm>
              <a:off x="3508275" y="1444100"/>
              <a:ext cx="40200" cy="6125"/>
            </a:xfrm>
            <a:custGeom>
              <a:avLst/>
              <a:gdLst/>
              <a:ahLst/>
              <a:cxnLst/>
              <a:rect l="l" t="t" r="r" b="b"/>
              <a:pathLst>
                <a:path w="1608" h="245" extrusionOk="0">
                  <a:moveTo>
                    <a:pt x="1537" y="0"/>
                  </a:moveTo>
                  <a:lnTo>
                    <a:pt x="35" y="175"/>
                  </a:lnTo>
                  <a:cubicBezTo>
                    <a:pt x="0" y="175"/>
                    <a:pt x="0" y="175"/>
                    <a:pt x="0" y="210"/>
                  </a:cubicBezTo>
                  <a:cubicBezTo>
                    <a:pt x="0" y="245"/>
                    <a:pt x="0" y="245"/>
                    <a:pt x="35" y="245"/>
                  </a:cubicBezTo>
                  <a:lnTo>
                    <a:pt x="1537" y="140"/>
                  </a:lnTo>
                  <a:cubicBezTo>
                    <a:pt x="1607" y="140"/>
                    <a:pt x="1607" y="105"/>
                    <a:pt x="1607" y="70"/>
                  </a:cubicBezTo>
                  <a:cubicBezTo>
                    <a:pt x="1607" y="35"/>
                    <a:pt x="1572" y="0"/>
                    <a:pt x="15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1226;p43">
              <a:extLst>
                <a:ext uri="{FF2B5EF4-FFF2-40B4-BE49-F238E27FC236}">
                  <a16:creationId xmlns:a16="http://schemas.microsoft.com/office/drawing/2014/main" id="{BDA7E392-DFC7-83E6-223A-693A771747A0}"/>
                </a:ext>
              </a:extLst>
            </p:cNvPr>
            <p:cNvSpPr/>
            <p:nvPr/>
          </p:nvSpPr>
          <p:spPr>
            <a:xfrm>
              <a:off x="3503900" y="1462450"/>
              <a:ext cx="36700" cy="13475"/>
            </a:xfrm>
            <a:custGeom>
              <a:avLst/>
              <a:gdLst/>
              <a:ahLst/>
              <a:cxnLst/>
              <a:rect l="l" t="t" r="r" b="b"/>
              <a:pathLst>
                <a:path w="1468" h="539" extrusionOk="0">
                  <a:moveTo>
                    <a:pt x="1" y="0"/>
                  </a:moveTo>
                  <a:cubicBezTo>
                    <a:pt x="1" y="35"/>
                    <a:pt x="1" y="70"/>
                    <a:pt x="36" y="70"/>
                  </a:cubicBezTo>
                  <a:cubicBezTo>
                    <a:pt x="36" y="87"/>
                    <a:pt x="44" y="96"/>
                    <a:pt x="58" y="96"/>
                  </a:cubicBezTo>
                  <a:cubicBezTo>
                    <a:pt x="71" y="96"/>
                    <a:pt x="88" y="87"/>
                    <a:pt x="106" y="70"/>
                  </a:cubicBezTo>
                  <a:lnTo>
                    <a:pt x="140" y="70"/>
                  </a:lnTo>
                  <a:lnTo>
                    <a:pt x="210" y="105"/>
                  </a:lnTo>
                  <a:lnTo>
                    <a:pt x="385" y="175"/>
                  </a:lnTo>
                  <a:lnTo>
                    <a:pt x="699" y="279"/>
                  </a:lnTo>
                  <a:lnTo>
                    <a:pt x="1363" y="524"/>
                  </a:lnTo>
                  <a:cubicBezTo>
                    <a:pt x="1373" y="534"/>
                    <a:pt x="1387" y="538"/>
                    <a:pt x="1400" y="538"/>
                  </a:cubicBezTo>
                  <a:cubicBezTo>
                    <a:pt x="1433" y="538"/>
                    <a:pt x="1468" y="514"/>
                    <a:pt x="1468" y="489"/>
                  </a:cubicBezTo>
                  <a:cubicBezTo>
                    <a:pt x="1468" y="419"/>
                    <a:pt x="1468" y="384"/>
                    <a:pt x="1398" y="349"/>
                  </a:cubicBezTo>
                  <a:lnTo>
                    <a:pt x="734" y="140"/>
                  </a:lnTo>
                  <a:lnTo>
                    <a:pt x="420" y="35"/>
                  </a:lnTo>
                  <a:lnTo>
                    <a:pt x="2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1227;p43">
              <a:extLst>
                <a:ext uri="{FF2B5EF4-FFF2-40B4-BE49-F238E27FC236}">
                  <a16:creationId xmlns:a16="http://schemas.microsoft.com/office/drawing/2014/main" id="{2C470EA9-5A88-7256-36E5-ABD960E035B9}"/>
                </a:ext>
              </a:extLst>
            </p:cNvPr>
            <p:cNvSpPr/>
            <p:nvPr/>
          </p:nvSpPr>
          <p:spPr>
            <a:xfrm>
              <a:off x="3498125" y="1472675"/>
              <a:ext cx="25025" cy="23625"/>
            </a:xfrm>
            <a:custGeom>
              <a:avLst/>
              <a:gdLst/>
              <a:ahLst/>
              <a:cxnLst/>
              <a:rect l="l" t="t" r="r" b="b"/>
              <a:pathLst>
                <a:path w="1001" h="945" extrusionOk="0">
                  <a:moveTo>
                    <a:pt x="88" y="1"/>
                  </a:moveTo>
                  <a:cubicBezTo>
                    <a:pt x="36" y="1"/>
                    <a:pt x="1" y="52"/>
                    <a:pt x="57" y="80"/>
                  </a:cubicBezTo>
                  <a:lnTo>
                    <a:pt x="861" y="918"/>
                  </a:lnTo>
                  <a:cubicBezTo>
                    <a:pt x="878" y="936"/>
                    <a:pt x="895" y="945"/>
                    <a:pt x="913" y="945"/>
                  </a:cubicBezTo>
                  <a:cubicBezTo>
                    <a:pt x="930" y="945"/>
                    <a:pt x="948" y="936"/>
                    <a:pt x="965" y="918"/>
                  </a:cubicBezTo>
                  <a:cubicBezTo>
                    <a:pt x="1000" y="883"/>
                    <a:pt x="1000" y="814"/>
                    <a:pt x="965" y="814"/>
                  </a:cubicBezTo>
                  <a:lnTo>
                    <a:pt x="92" y="10"/>
                  </a:lnTo>
                  <a:lnTo>
                    <a:pt x="127" y="10"/>
                  </a:lnTo>
                  <a:cubicBezTo>
                    <a:pt x="114" y="4"/>
                    <a:pt x="100" y="1"/>
                    <a:pt x="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1228;p43">
              <a:extLst>
                <a:ext uri="{FF2B5EF4-FFF2-40B4-BE49-F238E27FC236}">
                  <a16:creationId xmlns:a16="http://schemas.microsoft.com/office/drawing/2014/main" id="{78ABD50F-E52F-5318-FF4A-A626195FC3CB}"/>
                </a:ext>
              </a:extLst>
            </p:cNvPr>
            <p:cNvSpPr/>
            <p:nvPr/>
          </p:nvSpPr>
          <p:spPr>
            <a:xfrm>
              <a:off x="3474225" y="1483825"/>
              <a:ext cx="7000" cy="40850"/>
            </a:xfrm>
            <a:custGeom>
              <a:avLst/>
              <a:gdLst/>
              <a:ahLst/>
              <a:cxnLst/>
              <a:rect l="l" t="t" r="r" b="b"/>
              <a:pathLst>
                <a:path w="280" h="1634" extrusionOk="0">
                  <a:moveTo>
                    <a:pt x="227" y="1"/>
                  </a:moveTo>
                  <a:cubicBezTo>
                    <a:pt x="201" y="1"/>
                    <a:pt x="175" y="18"/>
                    <a:pt x="175" y="53"/>
                  </a:cubicBezTo>
                  <a:lnTo>
                    <a:pt x="0" y="1555"/>
                  </a:lnTo>
                  <a:cubicBezTo>
                    <a:pt x="0" y="1608"/>
                    <a:pt x="35" y="1634"/>
                    <a:pt x="70" y="1634"/>
                  </a:cubicBezTo>
                  <a:cubicBezTo>
                    <a:pt x="105" y="1634"/>
                    <a:pt x="140" y="1608"/>
                    <a:pt x="140" y="1555"/>
                  </a:cubicBezTo>
                  <a:lnTo>
                    <a:pt x="278" y="38"/>
                  </a:lnTo>
                  <a:lnTo>
                    <a:pt x="278" y="38"/>
                  </a:lnTo>
                  <a:cubicBezTo>
                    <a:pt x="279" y="43"/>
                    <a:pt x="280" y="48"/>
                    <a:pt x="280" y="53"/>
                  </a:cubicBezTo>
                  <a:lnTo>
                    <a:pt x="280" y="18"/>
                  </a:lnTo>
                  <a:lnTo>
                    <a:pt x="278" y="38"/>
                  </a:lnTo>
                  <a:lnTo>
                    <a:pt x="278" y="38"/>
                  </a:lnTo>
                  <a:cubicBezTo>
                    <a:pt x="271" y="13"/>
                    <a:pt x="249" y="1"/>
                    <a:pt x="2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1229;p43">
              <a:extLst>
                <a:ext uri="{FF2B5EF4-FFF2-40B4-BE49-F238E27FC236}">
                  <a16:creationId xmlns:a16="http://schemas.microsoft.com/office/drawing/2014/main" id="{B380B0BF-8078-D8F2-3460-03F7FEEE11FD}"/>
                </a:ext>
              </a:extLst>
            </p:cNvPr>
            <p:cNvSpPr/>
            <p:nvPr/>
          </p:nvSpPr>
          <p:spPr>
            <a:xfrm>
              <a:off x="3448025" y="1476925"/>
              <a:ext cx="20100" cy="34150"/>
            </a:xfrm>
            <a:custGeom>
              <a:avLst/>
              <a:gdLst/>
              <a:ahLst/>
              <a:cxnLst/>
              <a:rect l="l" t="t" r="r" b="b"/>
              <a:pathLst>
                <a:path w="804" h="1366" extrusionOk="0">
                  <a:moveTo>
                    <a:pt x="773" y="0"/>
                  </a:moveTo>
                  <a:cubicBezTo>
                    <a:pt x="748" y="0"/>
                    <a:pt x="724" y="25"/>
                    <a:pt x="699" y="50"/>
                  </a:cubicBezTo>
                  <a:cubicBezTo>
                    <a:pt x="699" y="50"/>
                    <a:pt x="699" y="85"/>
                    <a:pt x="699" y="120"/>
                  </a:cubicBezTo>
                  <a:lnTo>
                    <a:pt x="664" y="189"/>
                  </a:lnTo>
                  <a:lnTo>
                    <a:pt x="559" y="329"/>
                  </a:lnTo>
                  <a:lnTo>
                    <a:pt x="384" y="644"/>
                  </a:lnTo>
                  <a:lnTo>
                    <a:pt x="0" y="1237"/>
                  </a:lnTo>
                  <a:cubicBezTo>
                    <a:pt x="0" y="1272"/>
                    <a:pt x="0" y="1342"/>
                    <a:pt x="35" y="1342"/>
                  </a:cubicBezTo>
                  <a:cubicBezTo>
                    <a:pt x="64" y="1357"/>
                    <a:pt x="87" y="1365"/>
                    <a:pt x="106" y="1365"/>
                  </a:cubicBezTo>
                  <a:cubicBezTo>
                    <a:pt x="134" y="1365"/>
                    <a:pt x="154" y="1348"/>
                    <a:pt x="175" y="1307"/>
                  </a:cubicBezTo>
                  <a:lnTo>
                    <a:pt x="524" y="713"/>
                  </a:lnTo>
                  <a:lnTo>
                    <a:pt x="664" y="399"/>
                  </a:lnTo>
                  <a:lnTo>
                    <a:pt x="769" y="224"/>
                  </a:lnTo>
                  <a:lnTo>
                    <a:pt x="804" y="155"/>
                  </a:lnTo>
                  <a:lnTo>
                    <a:pt x="804" y="120"/>
                  </a:lnTo>
                  <a:lnTo>
                    <a:pt x="804" y="85"/>
                  </a:lnTo>
                  <a:cubicBezTo>
                    <a:pt x="804" y="50"/>
                    <a:pt x="804" y="50"/>
                    <a:pt x="804" y="15"/>
                  </a:cubicBezTo>
                  <a:cubicBezTo>
                    <a:pt x="793" y="5"/>
                    <a:pt x="783" y="0"/>
                    <a:pt x="7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1230;p43">
              <a:extLst>
                <a:ext uri="{FF2B5EF4-FFF2-40B4-BE49-F238E27FC236}">
                  <a16:creationId xmlns:a16="http://schemas.microsoft.com/office/drawing/2014/main" id="{A67312B3-9174-EECD-7426-E3BF32BE988D}"/>
                </a:ext>
              </a:extLst>
            </p:cNvPr>
            <p:cNvSpPr/>
            <p:nvPr/>
          </p:nvSpPr>
          <p:spPr>
            <a:xfrm>
              <a:off x="3431425" y="1469650"/>
              <a:ext cx="27100" cy="19875"/>
            </a:xfrm>
            <a:custGeom>
              <a:avLst/>
              <a:gdLst/>
              <a:ahLst/>
              <a:cxnLst/>
              <a:rect l="l" t="t" r="r" b="b"/>
              <a:pathLst>
                <a:path w="1084" h="795" extrusionOk="0">
                  <a:moveTo>
                    <a:pt x="1027" y="0"/>
                  </a:moveTo>
                  <a:cubicBezTo>
                    <a:pt x="1014" y="0"/>
                    <a:pt x="996" y="9"/>
                    <a:pt x="979" y="26"/>
                  </a:cubicBezTo>
                  <a:lnTo>
                    <a:pt x="35" y="655"/>
                  </a:lnTo>
                  <a:cubicBezTo>
                    <a:pt x="1" y="690"/>
                    <a:pt x="1" y="760"/>
                    <a:pt x="35" y="795"/>
                  </a:cubicBezTo>
                  <a:lnTo>
                    <a:pt x="140" y="795"/>
                  </a:lnTo>
                  <a:lnTo>
                    <a:pt x="1083" y="96"/>
                  </a:lnTo>
                  <a:cubicBezTo>
                    <a:pt x="1083" y="61"/>
                    <a:pt x="1083" y="26"/>
                    <a:pt x="1048" y="26"/>
                  </a:cubicBezTo>
                  <a:cubicBezTo>
                    <a:pt x="1048" y="9"/>
                    <a:pt x="1040" y="0"/>
                    <a:pt x="10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1231;p43">
              <a:extLst>
                <a:ext uri="{FF2B5EF4-FFF2-40B4-BE49-F238E27FC236}">
                  <a16:creationId xmlns:a16="http://schemas.microsoft.com/office/drawing/2014/main" id="{F96B5A92-08C4-524E-3229-9043D79C0DBB}"/>
                </a:ext>
              </a:extLst>
            </p:cNvPr>
            <p:cNvSpPr/>
            <p:nvPr/>
          </p:nvSpPr>
          <p:spPr>
            <a:xfrm>
              <a:off x="3402600" y="1440600"/>
              <a:ext cx="40200" cy="8225"/>
            </a:xfrm>
            <a:custGeom>
              <a:avLst/>
              <a:gdLst/>
              <a:ahLst/>
              <a:cxnLst/>
              <a:rect l="l" t="t" r="r" b="b"/>
              <a:pathLst>
                <a:path w="1608" h="329" extrusionOk="0">
                  <a:moveTo>
                    <a:pt x="1573" y="1"/>
                  </a:moveTo>
                  <a:lnTo>
                    <a:pt x="71" y="175"/>
                  </a:lnTo>
                  <a:cubicBezTo>
                    <a:pt x="1" y="175"/>
                    <a:pt x="1" y="210"/>
                    <a:pt x="1" y="245"/>
                  </a:cubicBezTo>
                  <a:cubicBezTo>
                    <a:pt x="1" y="296"/>
                    <a:pt x="20" y="329"/>
                    <a:pt x="57" y="329"/>
                  </a:cubicBezTo>
                  <a:cubicBezTo>
                    <a:pt x="71" y="329"/>
                    <a:pt x="87" y="324"/>
                    <a:pt x="106" y="315"/>
                  </a:cubicBezTo>
                  <a:lnTo>
                    <a:pt x="1573" y="106"/>
                  </a:lnTo>
                  <a:cubicBezTo>
                    <a:pt x="1608" y="106"/>
                    <a:pt x="1608" y="71"/>
                    <a:pt x="1608" y="36"/>
                  </a:cubicBezTo>
                  <a:cubicBezTo>
                    <a:pt x="1608" y="36"/>
                    <a:pt x="1573" y="1"/>
                    <a:pt x="15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1232;p43">
              <a:extLst>
                <a:ext uri="{FF2B5EF4-FFF2-40B4-BE49-F238E27FC236}">
                  <a16:creationId xmlns:a16="http://schemas.microsoft.com/office/drawing/2014/main" id="{3DE6043A-2899-9BAF-A52B-37C9E473EC15}"/>
                </a:ext>
              </a:extLst>
            </p:cNvPr>
            <p:cNvSpPr/>
            <p:nvPr/>
          </p:nvSpPr>
          <p:spPr>
            <a:xfrm>
              <a:off x="3408725" y="1415800"/>
              <a:ext cx="38450" cy="12600"/>
            </a:xfrm>
            <a:custGeom>
              <a:avLst/>
              <a:gdLst/>
              <a:ahLst/>
              <a:cxnLst/>
              <a:rect l="l" t="t" r="r" b="b"/>
              <a:pathLst>
                <a:path w="1538" h="504" extrusionOk="0">
                  <a:moveTo>
                    <a:pt x="88" y="0"/>
                  </a:moveTo>
                  <a:cubicBezTo>
                    <a:pt x="53" y="0"/>
                    <a:pt x="35" y="25"/>
                    <a:pt x="35" y="50"/>
                  </a:cubicBezTo>
                  <a:cubicBezTo>
                    <a:pt x="0" y="119"/>
                    <a:pt x="35" y="154"/>
                    <a:pt x="70" y="154"/>
                  </a:cubicBezTo>
                  <a:lnTo>
                    <a:pt x="769" y="364"/>
                  </a:lnTo>
                  <a:lnTo>
                    <a:pt x="1118" y="434"/>
                  </a:lnTo>
                  <a:lnTo>
                    <a:pt x="1293" y="504"/>
                  </a:lnTo>
                  <a:lnTo>
                    <a:pt x="1502" y="504"/>
                  </a:lnTo>
                  <a:cubicBezTo>
                    <a:pt x="1537" y="469"/>
                    <a:pt x="1502" y="399"/>
                    <a:pt x="1467" y="399"/>
                  </a:cubicBezTo>
                  <a:lnTo>
                    <a:pt x="1293" y="399"/>
                  </a:lnTo>
                  <a:lnTo>
                    <a:pt x="1118" y="329"/>
                  </a:lnTo>
                  <a:lnTo>
                    <a:pt x="804" y="224"/>
                  </a:lnTo>
                  <a:lnTo>
                    <a:pt x="140" y="15"/>
                  </a:lnTo>
                  <a:cubicBezTo>
                    <a:pt x="120" y="4"/>
                    <a:pt x="102" y="0"/>
                    <a:pt x="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1233;p43">
              <a:extLst>
                <a:ext uri="{FF2B5EF4-FFF2-40B4-BE49-F238E27FC236}">
                  <a16:creationId xmlns:a16="http://schemas.microsoft.com/office/drawing/2014/main" id="{C039403A-6019-57C5-B979-2EB3CC183D6F}"/>
                </a:ext>
              </a:extLst>
            </p:cNvPr>
            <p:cNvSpPr/>
            <p:nvPr/>
          </p:nvSpPr>
          <p:spPr>
            <a:xfrm>
              <a:off x="3425050" y="1395500"/>
              <a:ext cx="27225" cy="22600"/>
            </a:xfrm>
            <a:custGeom>
              <a:avLst/>
              <a:gdLst/>
              <a:ahLst/>
              <a:cxnLst/>
              <a:rect l="l" t="t" r="r" b="b"/>
              <a:pathLst>
                <a:path w="1089" h="904" extrusionOk="0">
                  <a:moveTo>
                    <a:pt x="115" y="0"/>
                  </a:moveTo>
                  <a:cubicBezTo>
                    <a:pt x="43" y="0"/>
                    <a:pt x="0" y="74"/>
                    <a:pt x="81" y="128"/>
                  </a:cubicBezTo>
                  <a:lnTo>
                    <a:pt x="954" y="897"/>
                  </a:lnTo>
                  <a:lnTo>
                    <a:pt x="989" y="897"/>
                  </a:lnTo>
                  <a:cubicBezTo>
                    <a:pt x="994" y="902"/>
                    <a:pt x="1000" y="904"/>
                    <a:pt x="1006" y="904"/>
                  </a:cubicBezTo>
                  <a:cubicBezTo>
                    <a:pt x="1042" y="904"/>
                    <a:pt x="1089" y="827"/>
                    <a:pt x="1059" y="827"/>
                  </a:cubicBezTo>
                  <a:lnTo>
                    <a:pt x="186" y="23"/>
                  </a:lnTo>
                  <a:cubicBezTo>
                    <a:pt x="161" y="7"/>
                    <a:pt x="137" y="0"/>
                    <a:pt x="1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1234;p43">
              <a:extLst>
                <a:ext uri="{FF2B5EF4-FFF2-40B4-BE49-F238E27FC236}">
                  <a16:creationId xmlns:a16="http://schemas.microsoft.com/office/drawing/2014/main" id="{EA685C0C-4D21-9D95-B0E1-7618561BEC9D}"/>
                </a:ext>
              </a:extLst>
            </p:cNvPr>
            <p:cNvSpPr/>
            <p:nvPr/>
          </p:nvSpPr>
          <p:spPr>
            <a:xfrm>
              <a:off x="3199125" y="993700"/>
              <a:ext cx="200875" cy="182125"/>
            </a:xfrm>
            <a:custGeom>
              <a:avLst/>
              <a:gdLst/>
              <a:ahLst/>
              <a:cxnLst/>
              <a:rect l="l" t="t" r="r" b="b"/>
              <a:pathLst>
                <a:path w="8035" h="7285" extrusionOk="0">
                  <a:moveTo>
                    <a:pt x="4017" y="0"/>
                  </a:moveTo>
                  <a:cubicBezTo>
                    <a:pt x="2369" y="0"/>
                    <a:pt x="879" y="1112"/>
                    <a:pt x="490" y="2787"/>
                  </a:cubicBezTo>
                  <a:cubicBezTo>
                    <a:pt x="1" y="4778"/>
                    <a:pt x="1223" y="6734"/>
                    <a:pt x="3180" y="7188"/>
                  </a:cubicBezTo>
                  <a:cubicBezTo>
                    <a:pt x="3461" y="7253"/>
                    <a:pt x="3743" y="7285"/>
                    <a:pt x="4021" y="7285"/>
                  </a:cubicBezTo>
                  <a:cubicBezTo>
                    <a:pt x="5677" y="7285"/>
                    <a:pt x="7192" y="6173"/>
                    <a:pt x="7581" y="4498"/>
                  </a:cubicBezTo>
                  <a:cubicBezTo>
                    <a:pt x="8035" y="2542"/>
                    <a:pt x="6812" y="551"/>
                    <a:pt x="4856" y="97"/>
                  </a:cubicBezTo>
                  <a:cubicBezTo>
                    <a:pt x="4575" y="32"/>
                    <a:pt x="4294" y="0"/>
                    <a:pt x="40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1235;p43">
              <a:extLst>
                <a:ext uri="{FF2B5EF4-FFF2-40B4-BE49-F238E27FC236}">
                  <a16:creationId xmlns:a16="http://schemas.microsoft.com/office/drawing/2014/main" id="{7205C052-C145-2671-F459-A801B6822745}"/>
                </a:ext>
              </a:extLst>
            </p:cNvPr>
            <p:cNvSpPr/>
            <p:nvPr/>
          </p:nvSpPr>
          <p:spPr>
            <a:xfrm>
              <a:off x="3370300" y="936075"/>
              <a:ext cx="160700" cy="180575"/>
            </a:xfrm>
            <a:custGeom>
              <a:avLst/>
              <a:gdLst/>
              <a:ahLst/>
              <a:cxnLst/>
              <a:rect l="l" t="t" r="r" b="b"/>
              <a:pathLst>
                <a:path w="6428" h="7223" extrusionOk="0">
                  <a:moveTo>
                    <a:pt x="2347" y="1"/>
                  </a:moveTo>
                  <a:cubicBezTo>
                    <a:pt x="1987" y="1"/>
                    <a:pt x="1621" y="54"/>
                    <a:pt x="1258" y="166"/>
                  </a:cubicBezTo>
                  <a:cubicBezTo>
                    <a:pt x="769" y="306"/>
                    <a:pt x="350" y="551"/>
                    <a:pt x="0" y="865"/>
                  </a:cubicBezTo>
                  <a:cubicBezTo>
                    <a:pt x="252" y="817"/>
                    <a:pt x="497" y="794"/>
                    <a:pt x="734" y="794"/>
                  </a:cubicBezTo>
                  <a:cubicBezTo>
                    <a:pt x="3947" y="794"/>
                    <a:pt x="5672" y="4978"/>
                    <a:pt x="3004" y="7222"/>
                  </a:cubicBezTo>
                  <a:lnTo>
                    <a:pt x="3039" y="7222"/>
                  </a:lnTo>
                  <a:cubicBezTo>
                    <a:pt x="3144" y="7222"/>
                    <a:pt x="3284" y="7187"/>
                    <a:pt x="3424" y="7118"/>
                  </a:cubicBezTo>
                  <a:cubicBezTo>
                    <a:pt x="5345" y="6524"/>
                    <a:pt x="6428" y="4498"/>
                    <a:pt x="5834" y="2577"/>
                  </a:cubicBezTo>
                  <a:cubicBezTo>
                    <a:pt x="5324" y="990"/>
                    <a:pt x="3894" y="1"/>
                    <a:pt x="2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1236;p43">
              <a:extLst>
                <a:ext uri="{FF2B5EF4-FFF2-40B4-BE49-F238E27FC236}">
                  <a16:creationId xmlns:a16="http://schemas.microsoft.com/office/drawing/2014/main" id="{A15FA181-C5DB-B6E7-35EE-AC1FB00CDA37}"/>
                </a:ext>
              </a:extLst>
            </p:cNvPr>
            <p:cNvSpPr/>
            <p:nvPr/>
          </p:nvSpPr>
          <p:spPr>
            <a:xfrm>
              <a:off x="3069900" y="1067725"/>
              <a:ext cx="166800" cy="178800"/>
            </a:xfrm>
            <a:custGeom>
              <a:avLst/>
              <a:gdLst/>
              <a:ahLst/>
              <a:cxnLst/>
              <a:rect l="l" t="t" r="r" b="b"/>
              <a:pathLst>
                <a:path w="6672" h="7152" extrusionOk="0">
                  <a:moveTo>
                    <a:pt x="3179" y="0"/>
                  </a:moveTo>
                  <a:lnTo>
                    <a:pt x="3179" y="0"/>
                  </a:lnTo>
                  <a:cubicBezTo>
                    <a:pt x="2690" y="105"/>
                    <a:pt x="2271" y="315"/>
                    <a:pt x="1886" y="629"/>
                  </a:cubicBezTo>
                  <a:cubicBezTo>
                    <a:pt x="280" y="1852"/>
                    <a:pt x="0" y="4157"/>
                    <a:pt x="1223" y="5729"/>
                  </a:cubicBezTo>
                  <a:cubicBezTo>
                    <a:pt x="1935" y="6666"/>
                    <a:pt x="3016" y="7151"/>
                    <a:pt x="4112" y="7151"/>
                  </a:cubicBezTo>
                  <a:cubicBezTo>
                    <a:pt x="4896" y="7151"/>
                    <a:pt x="5687" y="6903"/>
                    <a:pt x="6358" y="6393"/>
                  </a:cubicBezTo>
                  <a:cubicBezTo>
                    <a:pt x="6462" y="6323"/>
                    <a:pt x="6567" y="6218"/>
                    <a:pt x="6672" y="6113"/>
                  </a:cubicBezTo>
                  <a:lnTo>
                    <a:pt x="6672" y="6113"/>
                  </a:lnTo>
                  <a:cubicBezTo>
                    <a:pt x="6335" y="6201"/>
                    <a:pt x="6009" y="6243"/>
                    <a:pt x="5694" y="6243"/>
                  </a:cubicBezTo>
                  <a:cubicBezTo>
                    <a:pt x="2649" y="6243"/>
                    <a:pt x="804" y="2375"/>
                    <a:pt x="31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237;p43">
              <a:extLst>
                <a:ext uri="{FF2B5EF4-FFF2-40B4-BE49-F238E27FC236}">
                  <a16:creationId xmlns:a16="http://schemas.microsoft.com/office/drawing/2014/main" id="{4F8626D5-71C8-E11A-A770-D0A1AC983737}"/>
                </a:ext>
              </a:extLst>
            </p:cNvPr>
            <p:cNvSpPr/>
            <p:nvPr/>
          </p:nvSpPr>
          <p:spPr>
            <a:xfrm>
              <a:off x="2473450" y="883450"/>
              <a:ext cx="262000" cy="143250"/>
            </a:xfrm>
            <a:custGeom>
              <a:avLst/>
              <a:gdLst/>
              <a:ahLst/>
              <a:cxnLst/>
              <a:rect l="l" t="t" r="r" b="b"/>
              <a:pathLst>
                <a:path w="10480" h="5730" extrusionOk="0">
                  <a:moveTo>
                    <a:pt x="0" y="1"/>
                  </a:moveTo>
                  <a:lnTo>
                    <a:pt x="2690" y="5066"/>
                  </a:lnTo>
                  <a:lnTo>
                    <a:pt x="10480" y="5730"/>
                  </a:lnTo>
                  <a:lnTo>
                    <a:pt x="10480" y="5730"/>
                  </a:lnTo>
                  <a:lnTo>
                    <a:pt x="7790" y="49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238;p43">
              <a:extLst>
                <a:ext uri="{FF2B5EF4-FFF2-40B4-BE49-F238E27FC236}">
                  <a16:creationId xmlns:a16="http://schemas.microsoft.com/office/drawing/2014/main" id="{ED6225A5-193D-5173-8D70-DC4B7A735F1D}"/>
                </a:ext>
              </a:extLst>
            </p:cNvPr>
            <p:cNvSpPr/>
            <p:nvPr/>
          </p:nvSpPr>
          <p:spPr>
            <a:xfrm>
              <a:off x="3184300" y="1749750"/>
              <a:ext cx="156325" cy="164200"/>
            </a:xfrm>
            <a:custGeom>
              <a:avLst/>
              <a:gdLst/>
              <a:ahLst/>
              <a:cxnLst/>
              <a:rect l="l" t="t" r="r" b="b"/>
              <a:pathLst>
                <a:path w="6253" h="6568" extrusionOk="0">
                  <a:moveTo>
                    <a:pt x="3947" y="0"/>
                  </a:moveTo>
                  <a:lnTo>
                    <a:pt x="0" y="1817"/>
                  </a:lnTo>
                  <a:lnTo>
                    <a:pt x="2864" y="6567"/>
                  </a:lnTo>
                  <a:lnTo>
                    <a:pt x="4017" y="4681"/>
                  </a:lnTo>
                  <a:lnTo>
                    <a:pt x="6253" y="4576"/>
                  </a:lnTo>
                  <a:lnTo>
                    <a:pt x="394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8" name="Google Shape;1437;p47">
            <a:extLst>
              <a:ext uri="{FF2B5EF4-FFF2-40B4-BE49-F238E27FC236}">
                <a16:creationId xmlns:a16="http://schemas.microsoft.com/office/drawing/2014/main" id="{3521F118-BD2C-2638-88C8-4DAE75D034ED}"/>
              </a:ext>
            </a:extLst>
          </p:cNvPr>
          <p:cNvSpPr txBox="1">
            <a:spLocks/>
          </p:cNvSpPr>
          <p:nvPr/>
        </p:nvSpPr>
        <p:spPr>
          <a:xfrm>
            <a:off x="1113419" y="1314889"/>
            <a:ext cx="6891651" cy="227753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dirty="0"/>
              <a:t>You are tasked with optimizing the call center operations for AstroSage, which has received a 1 crore investment.</a:t>
            </a:r>
          </a:p>
          <a:p>
            <a:r>
              <a:rPr lang="en-US" sz="1600" dirty="0"/>
              <a:t>The goal is to determine how to allocate this investment to maximize operational efficiency, customer satisfaction, and profitability.</a:t>
            </a:r>
          </a:p>
          <a:p>
            <a:r>
              <a:rPr lang="en-US" sz="1600" dirty="0"/>
              <a:t>This project will involve analyzing historical call data, performance metrics, and market trends to make informed decisions.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40E55592-46EC-A617-FF25-BD7F2B9F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588D0822-8AFA-D991-DF5E-92AB38119B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52473"/>
            <a:ext cx="7707600" cy="6471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Data Cleaning Process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C2AD1A8D-2F01-705A-9D6D-81E290465C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1782" y="1099625"/>
            <a:ext cx="8368145" cy="35514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/>
              <a:t>Copied raw data to a new sheet and renamed the sheet as 'CLEANED DATA’</a:t>
            </a:r>
          </a:p>
          <a:p>
            <a:endParaRPr lang="en-US" sz="1600" dirty="0"/>
          </a:p>
          <a:p>
            <a:r>
              <a:rPr lang="en-US" sz="1600" dirty="0"/>
              <a:t>Removed unwanted columns and added date / time split</a:t>
            </a:r>
          </a:p>
          <a:p>
            <a:endParaRPr lang="en-US" sz="1600" dirty="0"/>
          </a:p>
          <a:p>
            <a:r>
              <a:rPr lang="en-US" sz="1600" dirty="0"/>
              <a:t>Handled missing values by filing the values using IF(ISBLANK() )</a:t>
            </a:r>
          </a:p>
          <a:p>
            <a:endParaRPr lang="en-US" sz="1600" dirty="0"/>
          </a:p>
          <a:p>
            <a:r>
              <a:rPr lang="en-US" sz="1600" dirty="0"/>
              <a:t>Added computed columns and named them as </a:t>
            </a:r>
            <a:r>
              <a:rPr lang="en-US" sz="1600" dirty="0" err="1"/>
              <a:t>repeatedUser</a:t>
            </a:r>
            <a:r>
              <a:rPr lang="en-US" sz="1600" dirty="0"/>
              <a:t> , </a:t>
            </a:r>
            <a:r>
              <a:rPr lang="en-US" sz="1600" dirty="0" err="1"/>
              <a:t>repeatedCalls</a:t>
            </a:r>
            <a:r>
              <a:rPr lang="en-US" sz="1600" dirty="0"/>
              <a:t> , </a:t>
            </a:r>
            <a:r>
              <a:rPr lang="en-US" sz="1600" dirty="0" err="1"/>
              <a:t>repeatedChats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Removed duplicates and applied filters</a:t>
            </a:r>
          </a:p>
          <a:p>
            <a:endParaRPr lang="en-US" sz="1600" dirty="0"/>
          </a:p>
          <a:p>
            <a:r>
              <a:rPr lang="en-US" sz="1600" dirty="0"/>
              <a:t>Formatted table and applied filters and later Applied table formatting</a:t>
            </a:r>
          </a:p>
        </p:txBody>
      </p:sp>
    </p:spTree>
    <p:extLst>
      <p:ext uri="{BB962C8B-B14F-4D97-AF65-F5344CB8AC3E}">
        <p14:creationId xmlns:p14="http://schemas.microsoft.com/office/powerpoint/2010/main" val="3928992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/>
          <p:cNvSpPr txBox="1">
            <a:spLocks noGrp="1"/>
          </p:cNvSpPr>
          <p:nvPr>
            <p:ph type="title"/>
          </p:nvPr>
        </p:nvSpPr>
        <p:spPr>
          <a:xfrm>
            <a:off x="720000" y="708425"/>
            <a:ext cx="7707600" cy="39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Dataset Overview</a:t>
            </a:r>
            <a:endParaRPr sz="2800" dirty="0"/>
          </a:p>
        </p:txBody>
      </p:sp>
      <p:sp>
        <p:nvSpPr>
          <p:cNvPr id="1250" name="Google Shape;1250;p45"/>
          <p:cNvSpPr txBox="1">
            <a:spLocks noGrp="1"/>
          </p:cNvSpPr>
          <p:nvPr>
            <p:ph type="body" idx="1"/>
          </p:nvPr>
        </p:nvSpPr>
        <p:spPr>
          <a:xfrm>
            <a:off x="422564" y="1231239"/>
            <a:ext cx="8291945" cy="3423884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r>
              <a:rPr lang="en-US" sz="1600" dirty="0"/>
              <a:t>Total Tables: 1 (</a:t>
            </a:r>
            <a:r>
              <a:rPr lang="en-US" sz="1600" dirty="0" err="1"/>
              <a:t>AstroSage_analysis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Total Attributes: 37</a:t>
            </a:r>
          </a:p>
          <a:p>
            <a:endParaRPr lang="en-US" sz="1600" dirty="0"/>
          </a:p>
          <a:p>
            <a:r>
              <a:rPr lang="en-US" sz="1600" dirty="0"/>
              <a:t>Categorical Columns: 15</a:t>
            </a:r>
          </a:p>
          <a:p>
            <a:endParaRPr lang="en-US" sz="1600" dirty="0"/>
          </a:p>
          <a:p>
            <a:r>
              <a:rPr lang="en-US" sz="1600" dirty="0"/>
              <a:t>December has highest call volume, January lowest</a:t>
            </a:r>
          </a:p>
          <a:p>
            <a:endParaRPr lang="en-US" sz="1600" dirty="0"/>
          </a:p>
          <a:p>
            <a:r>
              <a:rPr lang="en-US" sz="1600" dirty="0"/>
              <a:t>Repeat users = 72%</a:t>
            </a:r>
          </a:p>
          <a:p>
            <a:endParaRPr lang="en-US" sz="1600" dirty="0"/>
          </a:p>
          <a:p>
            <a:r>
              <a:rPr lang="en-US" sz="1600" dirty="0"/>
              <a:t>Correlation between duration &amp; rating = </a:t>
            </a:r>
            <a:r>
              <a:rPr lang="en-US" sz="1600" b="1" dirty="0"/>
              <a:t>-</a:t>
            </a:r>
            <a:r>
              <a:rPr lang="en-US" sz="1600" dirty="0"/>
              <a:t>0.0002</a:t>
            </a:r>
          </a:p>
          <a:p>
            <a:r>
              <a:rPr lang="en-US" sz="1600" dirty="0"/>
              <a:t>Guru with highest satisfaction: Astro </a:t>
            </a:r>
            <a:r>
              <a:rPr lang="en-US" sz="1600" dirty="0" err="1"/>
              <a:t>Pujaa</a:t>
            </a:r>
            <a:r>
              <a:rPr lang="en-US" sz="1600" dirty="0"/>
              <a:t> Rai</a:t>
            </a:r>
          </a:p>
          <a:p>
            <a:endParaRPr lang="en-US" sz="1600" dirty="0"/>
          </a:p>
          <a:p>
            <a:r>
              <a:rPr lang="en-US" sz="1600" dirty="0"/>
              <a:t>Daily call trends, agent performance</a:t>
            </a:r>
          </a:p>
          <a:p>
            <a:endParaRPr lang="en-US" sz="1600" dirty="0"/>
          </a:p>
          <a:p>
            <a:r>
              <a:rPr lang="en-US" sz="1600" dirty="0"/>
              <a:t>Revenue &amp; cost per channel</a:t>
            </a:r>
          </a:p>
          <a:p>
            <a:endParaRPr lang="en-US" sz="1600" dirty="0"/>
          </a:p>
          <a:p>
            <a:r>
              <a:rPr lang="en-US" sz="1600" dirty="0"/>
              <a:t>Customer satisfaction analysis</a:t>
            </a:r>
          </a:p>
          <a:p>
            <a:endParaRPr lang="en-US" sz="1600" dirty="0"/>
          </a:p>
          <a:p>
            <a:r>
              <a:rPr lang="en-US" sz="1600" dirty="0"/>
              <a:t>Repeat behavior and technology investment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D254E10-8772-1143-A3E5-BD8AFD23E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784" y="935179"/>
            <a:ext cx="8340432" cy="1544779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average daily call volume is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246.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 10/12/2023 there was highest call volume i.e.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430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with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DECEMBER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month HIGHEST CALL VOLUME MONTH.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 03/01/2024 there was lowest call volume i.e.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107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with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JANUARY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month HIGHEST CALL VOLUME MONTH</a:t>
            </a:r>
            <a:endParaRPr lang="en-US" sz="1100" b="1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Call </a:t>
            </a:r>
            <a:r>
              <a:rPr lang="en-US" sz="1100" dirty="0" err="1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centre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receive approx.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226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calls per day but only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40.42%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calls gets complete in total from astrologer side.</a:t>
            </a:r>
          </a:p>
          <a:p>
            <a:pPr marL="0" lvl="0" indent="0" algn="l">
              <a:buClr>
                <a:srgbClr val="000000"/>
              </a:buClr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There is a need of hiring new skilled agents and freelancers to manage the workload of existing agents.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FA64175-2938-47E7-A053-2235A22D9F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696219"/>
              </p:ext>
            </p:extLst>
          </p:nvPr>
        </p:nvGraphicFramePr>
        <p:xfrm>
          <a:off x="409774" y="2376053"/>
          <a:ext cx="8332442" cy="2545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9657D4C7-3094-4D46-6AC3-7F2597FBB7B1}"/>
              </a:ext>
            </a:extLst>
          </p:cNvPr>
          <p:cNvSpPr txBox="1">
            <a:spLocks/>
          </p:cNvSpPr>
          <p:nvPr/>
        </p:nvSpPr>
        <p:spPr>
          <a:xfrm>
            <a:off x="401784" y="443345"/>
            <a:ext cx="8347359" cy="55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Daily Call Volume Analysis</a:t>
            </a:r>
          </a:p>
        </p:txBody>
      </p:sp>
    </p:spTree>
    <p:extLst>
      <p:ext uri="{BB962C8B-B14F-4D97-AF65-F5344CB8AC3E}">
        <p14:creationId xmlns:p14="http://schemas.microsoft.com/office/powerpoint/2010/main" val="3300424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4D4C5-81B7-86E4-BEAF-82410703C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0BA2242-3E03-4DDF-BF04-C589386174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3369663"/>
              </p:ext>
            </p:extLst>
          </p:nvPr>
        </p:nvGraphicFramePr>
        <p:xfrm>
          <a:off x="389529" y="2209793"/>
          <a:ext cx="8366543" cy="2556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5B4F9B18-D717-BE50-69DD-D403D2CFDB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529" y="1026282"/>
            <a:ext cx="8366542" cy="1086531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Tarot Mystical 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(Guru id – 305) got the highest rating score of 7.5 out of 8,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Tarot Rittika 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(Guru id – 80) got the lowest rating score of 0 out of 8</a:t>
            </a:r>
          </a:p>
          <a:p>
            <a:pPr marL="139700" lvl="0" indent="0" algn="l">
              <a:buClr>
                <a:schemeClr val="dk1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Recognition and  reward.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Upgrade technology and tools.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BCBB7159-DB95-1523-6CEF-6484FE784D0E}"/>
              </a:ext>
            </a:extLst>
          </p:cNvPr>
          <p:cNvSpPr txBox="1">
            <a:spLocks/>
          </p:cNvSpPr>
          <p:nvPr/>
        </p:nvSpPr>
        <p:spPr>
          <a:xfrm>
            <a:off x="400181" y="484697"/>
            <a:ext cx="8354290" cy="59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Astrologer Performance Ratings</a:t>
            </a:r>
          </a:p>
        </p:txBody>
      </p:sp>
    </p:spTree>
    <p:extLst>
      <p:ext uri="{BB962C8B-B14F-4D97-AF65-F5344CB8AC3E}">
        <p14:creationId xmlns:p14="http://schemas.microsoft.com/office/powerpoint/2010/main" val="345597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12D9-57A7-7238-0E42-5131D01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495BFBA-8384-4707-B45C-8F2B41907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394941"/>
              </p:ext>
            </p:extLst>
          </p:nvPr>
        </p:nvGraphicFramePr>
        <p:xfrm>
          <a:off x="387928" y="2320636"/>
          <a:ext cx="8375072" cy="2433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C7DA48F7-1E19-A75F-6924-5F7F13ACE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856" y="1047069"/>
            <a:ext cx="8375072" cy="1128093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  <a:b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</a:b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Around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8am ,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Calls are most made.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Around MID – NIGHT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1am ,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 Calls are least made.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Approx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660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users calls around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8am.</a:t>
            </a:r>
          </a:p>
          <a:p>
            <a:pPr lvl="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There are in total 131 Unique Agents based on their UNIQUE GURU ID</a:t>
            </a:r>
          </a:p>
          <a:p>
            <a:pPr lvl="0" indent="0" algn="l"/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Hire part time or freelancer agents , this reserve agents will balance the workload without increasing permanent cost.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334E2CDD-6D82-CC3E-30F3-9B09387BA2E2}"/>
              </a:ext>
            </a:extLst>
          </p:cNvPr>
          <p:cNvSpPr txBox="1">
            <a:spLocks/>
          </p:cNvSpPr>
          <p:nvPr/>
        </p:nvSpPr>
        <p:spPr>
          <a:xfrm>
            <a:off x="394856" y="451328"/>
            <a:ext cx="8368144" cy="658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Call Timing and Agent Availability</a:t>
            </a:r>
          </a:p>
        </p:txBody>
      </p:sp>
    </p:spTree>
    <p:extLst>
      <p:ext uri="{BB962C8B-B14F-4D97-AF65-F5344CB8AC3E}">
        <p14:creationId xmlns:p14="http://schemas.microsoft.com/office/powerpoint/2010/main" val="2957920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B068-ED78-36AA-D9F3-845FA9AC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B5A38A4-8E1F-4B3B-91AF-775FC17F82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34913"/>
              </p:ext>
            </p:extLst>
          </p:nvPr>
        </p:nvGraphicFramePr>
        <p:xfrm>
          <a:off x="2673927" y="2362199"/>
          <a:ext cx="3865418" cy="2392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8C285591-8311-DA59-A0AE-62B69D333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351872"/>
            <a:ext cx="8382000" cy="1058819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Total chats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7947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Total  chats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418 </a:t>
            </a:r>
            <a:endParaRPr lang="en-US" sz="1100" b="1" dirty="0">
              <a:solidFill>
                <a:schemeClr val="tx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Higher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95%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Lower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5%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endParaRPr lang="en-US" sz="1200" b="1" u="sng" dirty="0">
              <a:solidFill>
                <a:schemeClr val="tx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  <a:p>
            <a:pPr marL="0" lvl="0" indent="0" algn="l">
              <a:buClr>
                <a:srgbClr val="000000"/>
              </a:buClr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There is a need of hiring new skilled agents and freelancers to manage the workload of existing agents.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D15EE404-25BE-691C-C0FD-AA9680DA7430}"/>
              </a:ext>
            </a:extLst>
          </p:cNvPr>
          <p:cNvSpPr txBox="1">
            <a:spLocks/>
          </p:cNvSpPr>
          <p:nvPr/>
        </p:nvSpPr>
        <p:spPr>
          <a:xfrm>
            <a:off x="387927" y="457199"/>
            <a:ext cx="8382000" cy="831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Chat Volume Comparison: </a:t>
            </a:r>
          </a:p>
          <a:p>
            <a:r>
              <a:rPr lang="en-US" sz="2200" dirty="0"/>
              <a:t>DECEMBER AND JANUARY</a:t>
            </a:r>
          </a:p>
        </p:txBody>
      </p:sp>
    </p:spTree>
    <p:extLst>
      <p:ext uri="{BB962C8B-B14F-4D97-AF65-F5344CB8AC3E}">
        <p14:creationId xmlns:p14="http://schemas.microsoft.com/office/powerpoint/2010/main" val="257855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3EBA-E0F6-3984-75C7-4710429B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609B069-22E2-4450-A060-2B57EF73E5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3152636"/>
              </p:ext>
            </p:extLst>
          </p:nvPr>
        </p:nvGraphicFramePr>
        <p:xfrm>
          <a:off x="2438400" y="2571750"/>
          <a:ext cx="3941618" cy="2182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98D3F488-C3D6-D39C-6306-A1C1B68B6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428074"/>
            <a:ext cx="8375073" cy="809432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Average ratings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2.676413255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Average ratings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2.949637572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Both months have a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very low rating.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DM Sans Medium"/>
              <a:cs typeface="Calibri" panose="020F0502020204030204" pitchFamily="34" charset="0"/>
              <a:sym typeface="DM Sans Medium"/>
            </a:endParaRPr>
          </a:p>
          <a:p>
            <a:pPr marL="0" lvl="0" indent="0" algn="l">
              <a:buClr>
                <a:srgbClr val="000000"/>
              </a:buClr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Clear performance metrics.</a:t>
            </a:r>
            <a:endParaRPr lang="en-US" sz="11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304800" algn="l">
              <a:buClr>
                <a:schemeClr val="dk1"/>
              </a:buClr>
              <a:buSzPts val="1200"/>
              <a:buFont typeface="DM Sans Medium"/>
              <a:buChar char="★"/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984;p40">
            <a:extLst>
              <a:ext uri="{FF2B5EF4-FFF2-40B4-BE49-F238E27FC236}">
                <a16:creationId xmlns:a16="http://schemas.microsoft.com/office/drawing/2014/main" id="{5ED44C75-F36A-C89F-AAA4-C089391A042D}"/>
              </a:ext>
            </a:extLst>
          </p:cNvPr>
          <p:cNvSpPr txBox="1">
            <a:spLocks/>
          </p:cNvSpPr>
          <p:nvPr/>
        </p:nvSpPr>
        <p:spPr>
          <a:xfrm>
            <a:off x="401782" y="492887"/>
            <a:ext cx="8361217" cy="69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Customer Ratings Overview</a:t>
            </a:r>
          </a:p>
        </p:txBody>
      </p:sp>
    </p:spTree>
    <p:extLst>
      <p:ext uri="{BB962C8B-B14F-4D97-AF65-F5344CB8AC3E}">
        <p14:creationId xmlns:p14="http://schemas.microsoft.com/office/powerpoint/2010/main" val="111643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9B2A-678D-75C1-8F9C-DEAD86282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F4868BC-488A-4827-A2E2-A1B6FC83F4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1471950"/>
              </p:ext>
            </p:extLst>
          </p:nvPr>
        </p:nvGraphicFramePr>
        <p:xfrm>
          <a:off x="2604654" y="2459182"/>
          <a:ext cx="3775364" cy="2295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67255EF9-529D-D82B-5317-9A879254D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115287"/>
            <a:ext cx="8382000" cy="1052948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  <a:endParaRPr lang="en-US" sz="12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 Medium"/>
            </a:endParaRP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Total users for December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26488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Total  chats for January month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 Medium"/>
              </a:rPr>
              <a:t>1539.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Higher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94.50%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Lower Percentage =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5.50%</a:t>
            </a:r>
          </a:p>
          <a:p>
            <a:pPr marL="0" lvl="0" indent="0" algn="l">
              <a:buClr>
                <a:srgbClr val="000000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RECOMMENDATION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FCFD606E-E108-BF4A-8FE4-83EB6AAD08ED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User Engagement Analysis</a:t>
            </a:r>
          </a:p>
        </p:txBody>
      </p:sp>
    </p:spTree>
    <p:extLst>
      <p:ext uri="{BB962C8B-B14F-4D97-AF65-F5344CB8AC3E}">
        <p14:creationId xmlns:p14="http://schemas.microsoft.com/office/powerpoint/2010/main" val="112715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13F08-4686-6BED-A6D0-065828BC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28D08260-A2F8-9510-D9AA-5AAA1AC66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6" y="1130203"/>
            <a:ext cx="8375073" cy="1169650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Only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41%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users call get completed.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20%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user didn’t get any answer.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Rest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15% 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users were busy at the time of call.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While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14%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users call get failed.</a:t>
            </a:r>
          </a:p>
          <a:p>
            <a:pPr marL="317500" lvl="0" indent="-171450" algn="l">
              <a:buClr>
                <a:schemeClr val="dk1"/>
              </a:buClr>
              <a:buSzPts val="13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And last </a:t>
            </a:r>
            <a:r>
              <a:rPr lang="en-US" sz="1100" b="1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10%</a:t>
            </a: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of users call remain incomplete.</a:t>
            </a:r>
          </a:p>
          <a:p>
            <a:pPr lvl="0" indent="0" algn="l"/>
            <a:r>
              <a:rPr lang="en-US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Hire part time or freelancer agents , this reserve agents will balance the workload without increasing permanent cost.</a:t>
            </a:r>
          </a:p>
          <a:p>
            <a:pPr lvl="0" algn="just">
              <a:lnSpc>
                <a:spcPct val="107000"/>
              </a:lnSpc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Shift optimization – Optimizing more agents shifts to peak periods accordingly.</a:t>
            </a:r>
            <a:endParaRPr lang="en-US" sz="1100" b="1" u="sng" dirty="0">
              <a:solidFill>
                <a:schemeClr val="dk1"/>
              </a:solidFill>
              <a:latin typeface="Calibri" panose="020F0502020204030204" pitchFamily="34" charset="0"/>
              <a:ea typeface="DM Sans"/>
              <a:cs typeface="Calibri" panose="020F0502020204030204" pitchFamily="34" charset="0"/>
              <a:sym typeface="DM Sans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33F7E54-33CF-43BF-9401-5FD0204CA3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4814742"/>
              </p:ext>
            </p:extLst>
          </p:nvPr>
        </p:nvGraphicFramePr>
        <p:xfrm>
          <a:off x="1579418" y="2389909"/>
          <a:ext cx="5590309" cy="2364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ECBD8284-76DE-4C46-0B7A-E7E3A6217881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000" dirty="0"/>
              <a:t>Call Completion and User Response Breakdown</a:t>
            </a:r>
          </a:p>
        </p:txBody>
      </p:sp>
    </p:spTree>
    <p:extLst>
      <p:ext uri="{BB962C8B-B14F-4D97-AF65-F5344CB8AC3E}">
        <p14:creationId xmlns:p14="http://schemas.microsoft.com/office/powerpoint/2010/main" val="1726781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0024-2A98-D515-34C0-FAD685B4F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A2ADBBE-1A4A-485B-B2F6-4DDB666D21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108521"/>
              </p:ext>
            </p:extLst>
          </p:nvPr>
        </p:nvGraphicFramePr>
        <p:xfrm>
          <a:off x="2133600" y="2486890"/>
          <a:ext cx="4627417" cy="226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FE057A96-4487-6D2E-C7A0-147EF517E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927" y="1074784"/>
            <a:ext cx="8368146" cy="1141942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72.163%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Gurucool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website.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27.830%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0.007%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of users used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Dashboard.</a:t>
            </a:r>
          </a:p>
          <a:p>
            <a:pPr marL="311150" lvl="0" indent="-171450" algn="l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Highest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sales  generated by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App = Rs.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1,25,267.382.</a:t>
            </a:r>
          </a:p>
          <a:p>
            <a:pPr marL="139700" lvl="0" indent="0" algn="l">
              <a:buClr>
                <a:schemeClr val="dk1"/>
              </a:buClr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39700" lvl="0" indent="0" algn="l">
              <a:buClr>
                <a:schemeClr val="dk1"/>
              </a:buClr>
            </a:pP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 indent="0" algn="l"/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</a:t>
            </a: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 err="1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Gurucool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is only one platform which  provide the service of the Chat to the users with an average rating of 2.72 , which is the clear indicator of unsatisfied users.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So, it is very necessary to improve technology and provide satisfaction to the users.</a:t>
            </a:r>
          </a:p>
        </p:txBody>
      </p:sp>
      <p:sp>
        <p:nvSpPr>
          <p:cNvPr id="2" name="Google Shape;984;p40">
            <a:extLst>
              <a:ext uri="{FF2B5EF4-FFF2-40B4-BE49-F238E27FC236}">
                <a16:creationId xmlns:a16="http://schemas.microsoft.com/office/drawing/2014/main" id="{05A66692-A61F-F266-E232-F73A4C65AE38}"/>
              </a:ext>
            </a:extLst>
          </p:cNvPr>
          <p:cNvSpPr txBox="1">
            <a:spLocks/>
          </p:cNvSpPr>
          <p:nvPr/>
        </p:nvSpPr>
        <p:spPr>
          <a:xfrm>
            <a:off x="443345" y="402835"/>
            <a:ext cx="8257310" cy="45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Platform Usage and Sales Performance</a:t>
            </a:r>
          </a:p>
        </p:txBody>
      </p:sp>
    </p:spTree>
    <p:extLst>
      <p:ext uri="{BB962C8B-B14F-4D97-AF65-F5344CB8AC3E}">
        <p14:creationId xmlns:p14="http://schemas.microsoft.com/office/powerpoint/2010/main" val="3791442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3FDBA-44D5-4B6F-49DE-C9391ABB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A21E432E-F576-1F5D-5A9B-2798EB397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073" y="1220259"/>
            <a:ext cx="8382000" cy="1024178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lnSpc>
                <a:spcPct val="107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78.69%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of the TOTAL Net Amount for the company comes from Call service only with Total revenue =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Rs. 2,13,987.3153</a:t>
            </a:r>
          </a:p>
          <a:p>
            <a:pPr marL="323850" indent="-171450" algn="l">
              <a:lnSpc>
                <a:spcPct val="107000"/>
              </a:lnSpc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The </a:t>
            </a:r>
            <a:r>
              <a:rPr lang="en-US" sz="11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78.47%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of the TOTAL Astrologer Earnings comes from Call service with Total revenue = Rs. </a:t>
            </a: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99,146.57095 </a:t>
            </a:r>
          </a:p>
          <a:p>
            <a:pPr marL="152400" lvl="0" indent="0" algn="l">
              <a:lnSpc>
                <a:spcPct val="107000"/>
              </a:lnSpc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RECOMMENDATION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 </a:t>
            </a:r>
          </a:p>
          <a:p>
            <a:pPr lvl="0" indent="-304800" algn="l">
              <a:lnSpc>
                <a:spcPct val="107000"/>
              </a:lnSpc>
              <a:spcBef>
                <a:spcPts val="800"/>
              </a:spcBef>
              <a:buClr>
                <a:schemeClr val="dk1"/>
              </a:buClr>
              <a:buSzPts val="1200"/>
              <a:buFont typeface="DM Sans Medium"/>
              <a:buChar char="★"/>
            </a:pPr>
            <a:r>
              <a:rPr lang="en-US" sz="11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So, if the call service is a key revenue driver, investing in training programs would be a strategic move to sustain and enhance that success.</a:t>
            </a:r>
            <a:endParaRPr lang="en-US" sz="1100" u="sng" dirty="0">
              <a:solidFill>
                <a:schemeClr val="tx1"/>
              </a:solidFill>
              <a:latin typeface="Calibri" panose="020F0502020204030204" pitchFamily="34" charset="0"/>
              <a:ea typeface="DM Sans Medium"/>
              <a:cs typeface="Calibri" panose="020F0502020204030204" pitchFamily="34" charset="0"/>
              <a:sym typeface="DM Sans Medium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DBFF9B-C1D4-39D9-43CF-1CF2B2D020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9128105"/>
              </p:ext>
            </p:extLst>
          </p:nvPr>
        </p:nvGraphicFramePr>
        <p:xfrm>
          <a:off x="387927" y="2382982"/>
          <a:ext cx="8382000" cy="2371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D098F862-BB31-0DA4-9F54-CB5857665C6E}"/>
              </a:ext>
            </a:extLst>
          </p:cNvPr>
          <p:cNvSpPr txBox="1">
            <a:spLocks/>
          </p:cNvSpPr>
          <p:nvPr/>
        </p:nvSpPr>
        <p:spPr>
          <a:xfrm>
            <a:off x="394856" y="458251"/>
            <a:ext cx="8368144" cy="56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Different Revenue for Different Products</a:t>
            </a:r>
          </a:p>
        </p:txBody>
      </p:sp>
    </p:spTree>
    <p:extLst>
      <p:ext uri="{BB962C8B-B14F-4D97-AF65-F5344CB8AC3E}">
        <p14:creationId xmlns:p14="http://schemas.microsoft.com/office/powerpoint/2010/main" val="475196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B9478-0338-0FFC-8D4D-C946280E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5228D97-008A-4733-BCFE-6A48EF421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3305953"/>
              </p:ext>
            </p:extLst>
          </p:nvPr>
        </p:nvGraphicFramePr>
        <p:xfrm>
          <a:off x="2445326" y="2571750"/>
          <a:ext cx="3816929" cy="2182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22D20EC9-E4F5-F3CB-5358-20B50FF63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345" y="1254890"/>
            <a:ext cx="8264236" cy="1072673"/>
          </a:xfrm>
        </p:spPr>
        <p:txBody>
          <a:bodyPr numCol="2"/>
          <a:lstStyle/>
          <a:p>
            <a:pPr marL="152400" indent="0" algn="l">
              <a:buClr>
                <a:schemeClr val="dk1"/>
              </a:buClr>
              <a:buSzPts val="1200"/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DM Sans"/>
                <a:cs typeface="Calibri" panose="020F0502020204030204" pitchFamily="34" charset="0"/>
                <a:sym typeface="DM Sans"/>
              </a:rPr>
              <a:t>APPROACH USED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Least rating.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RATING = 0 with a count of 7256.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Most rating. </a:t>
            </a:r>
            <a:r>
              <a:rPr lang="en-US" sz="1200" b="1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RATING = 7 with a count of 1824.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ea typeface="DM Sans Medium"/>
                <a:cs typeface="Calibri" panose="020F0502020204030204" pitchFamily="34" charset="0"/>
                <a:sym typeface="DM Sans Medium"/>
              </a:rPr>
              <a:t>Percentage of LOW RATING (</a:t>
            </a: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0 , 1 , 2 , 3 , 4)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72.51%</a:t>
            </a:r>
          </a:p>
          <a:p>
            <a:pPr marL="323850" indent="-171450" algn="l">
              <a:buClr>
                <a:schemeClr val="dk1"/>
              </a:buClr>
              <a:buSzPts val="1200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Percentage of BETTER RATING (5 , 6 , 7 , 8)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27.49%</a:t>
            </a:r>
            <a:endParaRPr lang="en-US" sz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39700" lvl="0" indent="0" algn="l">
              <a:buClr>
                <a:schemeClr val="dk1"/>
              </a:buClr>
            </a:pPr>
            <a:r>
              <a:rPr lang="en-US" sz="1200" b="1" u="sng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RECOMMENDATION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Professional development and training.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Recognition and  reward.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l">
              <a:buClr>
                <a:schemeClr val="dk1"/>
              </a:buClr>
              <a:buFont typeface="Calibri"/>
              <a:buChar char="★"/>
            </a:pPr>
            <a:r>
              <a:rPr lang="en-US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Upgrade technology and tools.</a:t>
            </a:r>
            <a:endParaRPr lang="en-US" sz="1200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984;p40">
            <a:extLst>
              <a:ext uri="{FF2B5EF4-FFF2-40B4-BE49-F238E27FC236}">
                <a16:creationId xmlns:a16="http://schemas.microsoft.com/office/drawing/2014/main" id="{A07411D2-119F-6D00-F8FD-181D68A13867}"/>
              </a:ext>
            </a:extLst>
          </p:cNvPr>
          <p:cNvSpPr txBox="1">
            <a:spLocks/>
          </p:cNvSpPr>
          <p:nvPr/>
        </p:nvSpPr>
        <p:spPr>
          <a:xfrm>
            <a:off x="401783" y="499818"/>
            <a:ext cx="8368144" cy="60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Chango"/>
              <a:buNone/>
              <a:defRPr sz="5200" b="0" i="0" u="none" strike="noStrike" cap="none">
                <a:solidFill>
                  <a:schemeClr val="lt2"/>
                </a:solidFill>
                <a:latin typeface="Chango"/>
                <a:ea typeface="Chango"/>
                <a:cs typeface="Chango"/>
                <a:sym typeface="Chango"/>
              </a:defRPr>
            </a:lvl9pPr>
          </a:lstStyle>
          <a:p>
            <a:r>
              <a:rPr lang="en-US" sz="2200" dirty="0"/>
              <a:t>User Rating Distribution</a:t>
            </a:r>
          </a:p>
        </p:txBody>
      </p:sp>
    </p:spTree>
    <p:extLst>
      <p:ext uri="{BB962C8B-B14F-4D97-AF65-F5344CB8AC3E}">
        <p14:creationId xmlns:p14="http://schemas.microsoft.com/office/powerpoint/2010/main" val="2738021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784EE4B8-329B-68B8-9B6E-653A7FE87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00EB312B-ABAD-D9EE-EA59-C6C6FA6700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08424"/>
            <a:ext cx="7707600" cy="63965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Analysis of the project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B21C992F-D2CF-D95E-7E1A-0A6E3E038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1164" y="1348079"/>
            <a:ext cx="7827818" cy="30868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600" dirty="0"/>
              <a:t>Data-backed insights help optimize agent workload and technology focus.</a:t>
            </a:r>
          </a:p>
          <a:p>
            <a:endParaRPr lang="en-US" sz="1600" dirty="0"/>
          </a:p>
          <a:p>
            <a:r>
              <a:rPr lang="en-US" sz="1600" dirty="0"/>
              <a:t>December outperformed January in most KPIs.</a:t>
            </a:r>
          </a:p>
          <a:p>
            <a:endParaRPr lang="en-US" sz="1600" dirty="0"/>
          </a:p>
          <a:p>
            <a:r>
              <a:rPr lang="en-US" sz="1600" dirty="0"/>
              <a:t>Investment in tech and training promises high ROI.</a:t>
            </a:r>
          </a:p>
          <a:p>
            <a:endParaRPr lang="en-US" sz="1600" dirty="0"/>
          </a:p>
          <a:p>
            <a:r>
              <a:rPr lang="en-US" sz="1600" dirty="0"/>
              <a:t>Customer retention is key – repeat users = 68%.</a:t>
            </a:r>
          </a:p>
          <a:p>
            <a:endParaRPr lang="en-US" sz="1600" dirty="0"/>
          </a:p>
          <a:p>
            <a:r>
              <a:rPr lang="en-US" sz="1600" dirty="0"/>
              <a:t>Data analysis enables better decision-making across operations.</a:t>
            </a:r>
          </a:p>
        </p:txBody>
      </p:sp>
    </p:spTree>
    <p:extLst>
      <p:ext uri="{BB962C8B-B14F-4D97-AF65-F5344CB8AC3E}">
        <p14:creationId xmlns:p14="http://schemas.microsoft.com/office/powerpoint/2010/main" val="2775890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B96DE664-39AD-6A9C-3FE6-BE5D3782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992276-4789-7DFB-9DF5-AB726B2CA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079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A6A5D9B9-D89D-ADC3-27FE-67F8C2CA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1192654E-8D07-2D30-D170-75D4EB2F9D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2567"/>
            <a:ext cx="7707600" cy="7731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Recommendations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D72EBA35-42FB-E083-C5C2-77C46BC52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7927" y="1486619"/>
            <a:ext cx="8368146" cy="3002248"/>
          </a:xfrm>
          <a:prstGeom prst="rect">
            <a:avLst/>
          </a:prstGeom>
        </p:spPr>
        <p:txBody>
          <a:bodyPr spcFirstLastPara="1" wrap="square" lIns="91425" tIns="91425" rIns="91425" bIns="91425" numCol="3" anchor="ctr" anchorCtr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Training vs Hiring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Upgrade Technology &amp; Training preferred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Reasons: Low ratings, failed sessions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Less priority on hiring more agents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Investment Risks &amp; Mitigations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Hiring Risks: Overstaffing, High cost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Training Risks: Cost, Retention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Tech Risks: High upfront cost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Use AVERAGEIFS(), NPV(), FORECAST()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1600" b="1" dirty="0"/>
              <a:t>Peak Period Handling Strategy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Identify peaks using COUNTIFS()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Smart staffing at busy times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Introduce Call-Back &amp; Stress Training</a:t>
            </a:r>
          </a:p>
        </p:txBody>
      </p:sp>
    </p:spTree>
    <p:extLst>
      <p:ext uri="{BB962C8B-B14F-4D97-AF65-F5344CB8AC3E}">
        <p14:creationId xmlns:p14="http://schemas.microsoft.com/office/powerpoint/2010/main" val="3601507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48D98EDF-0305-40B7-E758-3D2901DE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45">
            <a:extLst>
              <a:ext uri="{FF2B5EF4-FFF2-40B4-BE49-F238E27FC236}">
                <a16:creationId xmlns:a16="http://schemas.microsoft.com/office/drawing/2014/main" id="{97ED6BDB-A8CC-8087-85ED-7C23166A0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91836"/>
            <a:ext cx="7707600" cy="780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/>
              <a:t>Key Metrics for Dashboard</a:t>
            </a:r>
            <a:endParaRPr sz="2800" dirty="0"/>
          </a:p>
        </p:txBody>
      </p:sp>
      <p:sp>
        <p:nvSpPr>
          <p:cNvPr id="1250" name="Google Shape;1250;p45">
            <a:extLst>
              <a:ext uri="{FF2B5EF4-FFF2-40B4-BE49-F238E27FC236}">
                <a16:creationId xmlns:a16="http://schemas.microsoft.com/office/drawing/2014/main" id="{5C47E773-9EA9-F995-E6B4-CBBF4AC16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1000" y="1335154"/>
            <a:ext cx="8395855" cy="3378853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r>
              <a:rPr lang="en-US" sz="1600" dirty="0"/>
              <a:t>Metrics to track: Calls handled , Avg. Talk Time , Revenue / Call.</a:t>
            </a:r>
          </a:p>
          <a:p>
            <a:endParaRPr lang="en-US" sz="1600" dirty="0"/>
          </a:p>
          <a:p>
            <a:r>
              <a:rPr lang="en-US" sz="1600" dirty="0"/>
              <a:t>Rating used as proxy for customer satisfaction.</a:t>
            </a:r>
          </a:p>
          <a:p>
            <a:endParaRPr lang="en-US" sz="1600" dirty="0"/>
          </a:p>
          <a:p>
            <a:r>
              <a:rPr lang="en-US" sz="1600" dirty="0"/>
              <a:t>Investment guided by data-backed KPIs and ROI analysis.</a:t>
            </a:r>
          </a:p>
          <a:p>
            <a:endParaRPr lang="en-US" sz="1600" dirty="0"/>
          </a:p>
          <a:p>
            <a:r>
              <a:rPr lang="en-US" sz="1600" dirty="0"/>
              <a:t>Total Calls Handled.</a:t>
            </a:r>
          </a:p>
          <a:p>
            <a:endParaRPr lang="en-US" sz="1600" dirty="0"/>
          </a:p>
          <a:p>
            <a:r>
              <a:rPr lang="en-US" sz="1600" dirty="0"/>
              <a:t>Average Talk Time per Session.</a:t>
            </a:r>
          </a:p>
          <a:p>
            <a:endParaRPr lang="en-US" sz="1600" dirty="0"/>
          </a:p>
          <a:p>
            <a:r>
              <a:rPr lang="en-US" sz="1600" dirty="0"/>
              <a:t>Customer Satisfaction Score (Rating).</a:t>
            </a:r>
          </a:p>
          <a:p>
            <a:endParaRPr lang="en-US" sz="1600" dirty="0"/>
          </a:p>
          <a:p>
            <a:r>
              <a:rPr lang="en-US" sz="1600" dirty="0"/>
              <a:t>Revenue per Call, Cost per Call.</a:t>
            </a:r>
          </a:p>
          <a:p>
            <a:endParaRPr lang="en-US" sz="1600" dirty="0"/>
          </a:p>
          <a:p>
            <a:r>
              <a:rPr lang="en-US" sz="1600" dirty="0"/>
              <a:t>Monthly Call Volume Trend.</a:t>
            </a:r>
          </a:p>
          <a:p>
            <a:endParaRPr lang="en-US" sz="1600" dirty="0"/>
          </a:p>
          <a:p>
            <a:r>
              <a:rPr lang="en-US" sz="1600" dirty="0"/>
              <a:t>Technology Utilization and Fail Rate.</a:t>
            </a:r>
          </a:p>
          <a:p>
            <a:endParaRPr lang="en-US" sz="1600" dirty="0"/>
          </a:p>
          <a:p>
            <a:r>
              <a:rPr lang="en-US" sz="1600" dirty="0"/>
              <a:t>Return on Investment (ROI) by Channel.</a:t>
            </a:r>
          </a:p>
        </p:txBody>
      </p:sp>
    </p:spTree>
    <p:extLst>
      <p:ext uri="{BB962C8B-B14F-4D97-AF65-F5344CB8AC3E}">
        <p14:creationId xmlns:p14="http://schemas.microsoft.com/office/powerpoint/2010/main" val="1802035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>
          <a:extLst>
            <a:ext uri="{FF2B5EF4-FFF2-40B4-BE49-F238E27FC236}">
              <a16:creationId xmlns:a16="http://schemas.microsoft.com/office/drawing/2014/main" id="{EEAF992A-38D9-6FF8-3BD0-D2A9B099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36;p47">
            <a:extLst>
              <a:ext uri="{FF2B5EF4-FFF2-40B4-BE49-F238E27FC236}">
                <a16:creationId xmlns:a16="http://schemas.microsoft.com/office/drawing/2014/main" id="{5461A934-ABA6-C7D5-2B25-922B44F0C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566" y="480719"/>
            <a:ext cx="8364772" cy="8285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600" dirty="0"/>
              <a:t>₹1 Crore Investment Allocation Plan</a:t>
            </a:r>
            <a:endParaRPr sz="2600" dirty="0"/>
          </a:p>
        </p:txBody>
      </p:sp>
      <p:sp>
        <p:nvSpPr>
          <p:cNvPr id="7" name="Google Shape;1437;p47">
            <a:extLst>
              <a:ext uri="{FF2B5EF4-FFF2-40B4-BE49-F238E27FC236}">
                <a16:creationId xmlns:a16="http://schemas.microsoft.com/office/drawing/2014/main" id="{82B76E1D-A577-4FEA-C5EE-FD65C08A325D}"/>
              </a:ext>
            </a:extLst>
          </p:cNvPr>
          <p:cNvSpPr txBox="1">
            <a:spLocks/>
          </p:cNvSpPr>
          <p:nvPr/>
        </p:nvSpPr>
        <p:spPr>
          <a:xfrm>
            <a:off x="986386" y="1482436"/>
            <a:ext cx="4278342" cy="31172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₹30L for Operational Efficiency</a:t>
            </a:r>
          </a:p>
          <a:p>
            <a:r>
              <a:rPr lang="en-US" sz="1600" dirty="0"/>
              <a:t>(Chatbots, Refund Tracker, Voice APIs)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₹35L for Customer Satisfaction</a:t>
            </a:r>
          </a:p>
          <a:p>
            <a:r>
              <a:rPr lang="en-US" sz="1600" dirty="0"/>
              <a:t>(Training, Loyalty, 24/7 Support)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₹35L for Profitability</a:t>
            </a:r>
          </a:p>
          <a:p>
            <a:r>
              <a:rPr lang="en-US" sz="1600" dirty="0"/>
              <a:t>(Ads, Influencers, Dynamic Pricing Tools)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r>
              <a:rPr lang="en-US" sz="1600" dirty="0"/>
              <a:t>Use: NPV(), ROI formulas to evaluate returns</a:t>
            </a:r>
          </a:p>
        </p:txBody>
      </p:sp>
      <p:pic>
        <p:nvPicPr>
          <p:cNvPr id="8" name="Picture 7" descr="image.png">
            <a:extLst>
              <a:ext uri="{FF2B5EF4-FFF2-40B4-BE49-F238E27FC236}">
                <a16:creationId xmlns:a16="http://schemas.microsoft.com/office/drawing/2014/main" id="{348A4C41-4A77-9BFD-71FF-AFA880522FE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2171" b="27408"/>
          <a:stretch>
            <a:fillRect/>
          </a:stretch>
        </p:blipFill>
        <p:spPr>
          <a:xfrm>
            <a:off x="5222421" y="1725148"/>
            <a:ext cx="3530355" cy="178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97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>
          <a:extLst>
            <a:ext uri="{FF2B5EF4-FFF2-40B4-BE49-F238E27FC236}">
              <a16:creationId xmlns:a16="http://schemas.microsoft.com/office/drawing/2014/main" id="{57C39A8B-EE89-1FC8-0E69-36FF8CEC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7">
            <a:extLst>
              <a:ext uri="{FF2B5EF4-FFF2-40B4-BE49-F238E27FC236}">
                <a16:creationId xmlns:a16="http://schemas.microsoft.com/office/drawing/2014/main" id="{8AA31E08-4CA4-A9C6-CE01-FD550F05962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3293" y="1191492"/>
            <a:ext cx="8362779" cy="1046018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number of incomplete / failed sessions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average ratings for some gurus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Lack of region-specific targeting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Operational cost variability across months</a:t>
            </a:r>
          </a:p>
        </p:txBody>
      </p:sp>
      <p:sp>
        <p:nvSpPr>
          <p:cNvPr id="1438" name="Google Shape;1438;p47">
            <a:extLst>
              <a:ext uri="{FF2B5EF4-FFF2-40B4-BE49-F238E27FC236}">
                <a16:creationId xmlns:a16="http://schemas.microsoft.com/office/drawing/2014/main" id="{C7D3BC40-93CB-9A1A-7DA2-6C7F3289F7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6425" y="483650"/>
            <a:ext cx="734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Key Challenges Identified</a:t>
            </a:r>
            <a:endParaRPr sz="2200" dirty="0"/>
          </a:p>
        </p:txBody>
      </p:sp>
      <p:sp>
        <p:nvSpPr>
          <p:cNvPr id="1439" name="Google Shape;1439;p47">
            <a:extLst>
              <a:ext uri="{FF2B5EF4-FFF2-40B4-BE49-F238E27FC236}">
                <a16:creationId xmlns:a16="http://schemas.microsoft.com/office/drawing/2014/main" id="{C698BDD4-0351-6796-1C11-B317DB2FE46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68321" y="2265151"/>
            <a:ext cx="7342200" cy="7265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Future Recommendations</a:t>
            </a:r>
            <a:endParaRPr sz="2200" dirty="0"/>
          </a:p>
        </p:txBody>
      </p:sp>
      <p:sp>
        <p:nvSpPr>
          <p:cNvPr id="1440" name="Google Shape;1440;p47">
            <a:extLst>
              <a:ext uri="{FF2B5EF4-FFF2-40B4-BE49-F238E27FC236}">
                <a16:creationId xmlns:a16="http://schemas.microsoft.com/office/drawing/2014/main" id="{4E09BE1C-E7C4-E2A7-653B-BD3B7BCBFFF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93293" y="3078959"/>
            <a:ext cx="8362779" cy="1437621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Adopt AI for smart routing and real-time analytics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 CRM integration for personalization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flexible staffing models for peak hours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customer feedback loops for continuous improvement</a:t>
            </a:r>
            <a:endParaRPr dirty="0"/>
          </a:p>
        </p:txBody>
      </p:sp>
      <p:sp>
        <p:nvSpPr>
          <p:cNvPr id="1456" name="Google Shape;1456;p47">
            <a:extLst>
              <a:ext uri="{FF2B5EF4-FFF2-40B4-BE49-F238E27FC236}">
                <a16:creationId xmlns:a16="http://schemas.microsoft.com/office/drawing/2014/main" id="{D81BDD91-937E-2C0B-B1F5-E22BD78BDCE4}"/>
              </a:ext>
            </a:extLst>
          </p:cNvPr>
          <p:cNvSpPr/>
          <p:nvPr/>
        </p:nvSpPr>
        <p:spPr>
          <a:xfrm flipH="1">
            <a:off x="4173109" y="455365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8889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>
          <a:extLst>
            <a:ext uri="{FF2B5EF4-FFF2-40B4-BE49-F238E27FC236}">
              <a16:creationId xmlns:a16="http://schemas.microsoft.com/office/drawing/2014/main" id="{24EF6427-AC40-0DC1-A382-B69C0EA1B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47">
            <a:extLst>
              <a:ext uri="{FF2B5EF4-FFF2-40B4-BE49-F238E27FC236}">
                <a16:creationId xmlns:a16="http://schemas.microsoft.com/office/drawing/2014/main" id="{6359E524-5A5A-48A4-BADE-B669A66112A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94855" y="1106645"/>
            <a:ext cx="8361217" cy="1336329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Upgrade call center technology to reduce dropped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agent training for empathy and stress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COUNTIFS &amp; AVERAGEIFS to assess incomplete/failed chats.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 call-back system for low-rated sessions.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Reinforce skill development using feedback-based upskilling.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AI-based routing and support tools.</a:t>
            </a:r>
          </a:p>
        </p:txBody>
      </p:sp>
      <p:sp>
        <p:nvSpPr>
          <p:cNvPr id="1438" name="Google Shape;1438;p47">
            <a:extLst>
              <a:ext uri="{FF2B5EF4-FFF2-40B4-BE49-F238E27FC236}">
                <a16:creationId xmlns:a16="http://schemas.microsoft.com/office/drawing/2014/main" id="{887A81E1-8F75-85D4-7B5B-64A4075CF7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45272" y="483650"/>
            <a:ext cx="8213697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2200" dirty="0"/>
              <a:t>Strategic Recommendations</a:t>
            </a:r>
            <a:endParaRPr sz="2200" dirty="0"/>
          </a:p>
        </p:txBody>
      </p:sp>
      <p:sp>
        <p:nvSpPr>
          <p:cNvPr id="1439" name="Google Shape;1439;p47">
            <a:extLst>
              <a:ext uri="{FF2B5EF4-FFF2-40B4-BE49-F238E27FC236}">
                <a16:creationId xmlns:a16="http://schemas.microsoft.com/office/drawing/2014/main" id="{FFBA4871-EF35-7C33-4E0A-0DFE5F89D32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45272" y="2481792"/>
            <a:ext cx="8213697" cy="648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200" dirty="0"/>
              <a:t>Technology Enhancements</a:t>
            </a:r>
          </a:p>
        </p:txBody>
      </p:sp>
      <p:sp>
        <p:nvSpPr>
          <p:cNvPr id="1440" name="Google Shape;1440;p47">
            <a:extLst>
              <a:ext uri="{FF2B5EF4-FFF2-40B4-BE49-F238E27FC236}">
                <a16:creationId xmlns:a16="http://schemas.microsoft.com/office/drawing/2014/main" id="{2122EEDF-AD0C-5A4B-ABDF-0EB83903CBC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94855" y="3041073"/>
            <a:ext cx="8361217" cy="1731818"/>
          </a:xfrm>
          <a:prstGeom prst="rect">
            <a:avLst/>
          </a:prstGeom>
        </p:spPr>
        <p:txBody>
          <a:bodyPr spcFirstLastPara="1" wrap="square" lIns="91425" tIns="91425" rIns="91425" bIns="91425" numCol="2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Intelligent Call Routing using AI for better guru-user matching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Conversational AI for Level-1 chat handling (FAQs, refunds)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Dashboards for live agent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CRM Integration for personalization &amp; feedback loops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Voice Analytics to detect sentiment and call quality</a:t>
            </a:r>
          </a:p>
        </p:txBody>
      </p:sp>
      <p:sp>
        <p:nvSpPr>
          <p:cNvPr id="1456" name="Google Shape;1456;p47">
            <a:extLst>
              <a:ext uri="{FF2B5EF4-FFF2-40B4-BE49-F238E27FC236}">
                <a16:creationId xmlns:a16="http://schemas.microsoft.com/office/drawing/2014/main" id="{AA16F94D-00C6-3E02-D4B9-8CFF34974AAB}"/>
              </a:ext>
            </a:extLst>
          </p:cNvPr>
          <p:cNvSpPr/>
          <p:nvPr/>
        </p:nvSpPr>
        <p:spPr>
          <a:xfrm flipH="1">
            <a:off x="4173109" y="455365"/>
            <a:ext cx="85541" cy="98689"/>
          </a:xfrm>
          <a:custGeom>
            <a:avLst/>
            <a:gdLst/>
            <a:ahLst/>
            <a:cxnLst/>
            <a:rect l="l" t="t" r="r" b="b"/>
            <a:pathLst>
              <a:path w="1067" h="1231" extrusionOk="0">
                <a:moveTo>
                  <a:pt x="509" y="1"/>
                </a:moveTo>
                <a:cubicBezTo>
                  <a:pt x="484" y="173"/>
                  <a:pt x="452" y="345"/>
                  <a:pt x="411" y="517"/>
                </a:cubicBezTo>
                <a:cubicBezTo>
                  <a:pt x="271" y="550"/>
                  <a:pt x="140" y="591"/>
                  <a:pt x="9" y="632"/>
                </a:cubicBezTo>
                <a:cubicBezTo>
                  <a:pt x="1" y="632"/>
                  <a:pt x="25" y="640"/>
                  <a:pt x="34" y="640"/>
                </a:cubicBezTo>
                <a:cubicBezTo>
                  <a:pt x="157" y="681"/>
                  <a:pt x="279" y="706"/>
                  <a:pt x="411" y="730"/>
                </a:cubicBezTo>
                <a:cubicBezTo>
                  <a:pt x="443" y="894"/>
                  <a:pt x="476" y="1066"/>
                  <a:pt x="525" y="1230"/>
                </a:cubicBezTo>
                <a:cubicBezTo>
                  <a:pt x="558" y="1066"/>
                  <a:pt x="607" y="894"/>
                  <a:pt x="665" y="730"/>
                </a:cubicBezTo>
                <a:lnTo>
                  <a:pt x="1067" y="624"/>
                </a:lnTo>
                <a:cubicBezTo>
                  <a:pt x="919" y="591"/>
                  <a:pt x="780" y="558"/>
                  <a:pt x="640" y="525"/>
                </a:cubicBezTo>
                <a:cubicBezTo>
                  <a:pt x="599" y="361"/>
                  <a:pt x="550" y="173"/>
                  <a:pt x="509" y="1"/>
                </a:cubicBezTo>
                <a:close/>
              </a:path>
            </a:pathLst>
          </a:custGeom>
          <a:solidFill>
            <a:schemeClr val="accent3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651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5"/>
          <p:cNvSpPr txBox="1">
            <a:spLocks noGrp="1"/>
          </p:cNvSpPr>
          <p:nvPr>
            <p:ph type="title"/>
          </p:nvPr>
        </p:nvSpPr>
        <p:spPr>
          <a:xfrm>
            <a:off x="381000" y="1276911"/>
            <a:ext cx="8376533" cy="7892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/>
              <a:t>Conclusion</a:t>
            </a:r>
            <a:endParaRPr sz="3600" dirty="0"/>
          </a:p>
        </p:txBody>
      </p:sp>
      <p:grpSp>
        <p:nvGrpSpPr>
          <p:cNvPr id="1954" name="Google Shape;1954;p55"/>
          <p:cNvGrpSpPr/>
          <p:nvPr/>
        </p:nvGrpSpPr>
        <p:grpSpPr>
          <a:xfrm>
            <a:off x="4179168" y="609036"/>
            <a:ext cx="735343" cy="805086"/>
            <a:chOff x="7659236" y="3720674"/>
            <a:chExt cx="433396" cy="474501"/>
          </a:xfrm>
        </p:grpSpPr>
        <p:sp>
          <p:nvSpPr>
            <p:cNvPr id="1955" name="Google Shape;1955;p55"/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5"/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5"/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5"/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536;p69">
            <a:extLst>
              <a:ext uri="{FF2B5EF4-FFF2-40B4-BE49-F238E27FC236}">
                <a16:creationId xmlns:a16="http://schemas.microsoft.com/office/drawing/2014/main" id="{01449BDB-F471-ECB9-5EC5-7FC2A8AB6F5E}"/>
              </a:ext>
            </a:extLst>
          </p:cNvPr>
          <p:cNvGrpSpPr/>
          <p:nvPr/>
        </p:nvGrpSpPr>
        <p:grpSpPr>
          <a:xfrm>
            <a:off x="7814221" y="3300877"/>
            <a:ext cx="541417" cy="533102"/>
            <a:chOff x="7649812" y="3720674"/>
            <a:chExt cx="481902" cy="474501"/>
          </a:xfrm>
        </p:grpSpPr>
        <p:sp>
          <p:nvSpPr>
            <p:cNvPr id="3" name="Google Shape;2537;p69">
              <a:extLst>
                <a:ext uri="{FF2B5EF4-FFF2-40B4-BE49-F238E27FC236}">
                  <a16:creationId xmlns:a16="http://schemas.microsoft.com/office/drawing/2014/main" id="{A5000B67-F2BF-3588-D913-B269581ADFE6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538;p69">
              <a:extLst>
                <a:ext uri="{FF2B5EF4-FFF2-40B4-BE49-F238E27FC236}">
                  <a16:creationId xmlns:a16="http://schemas.microsoft.com/office/drawing/2014/main" id="{3F895521-2977-5C04-13D0-7CDDDFC84E69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539;p69">
              <a:extLst>
                <a:ext uri="{FF2B5EF4-FFF2-40B4-BE49-F238E27FC236}">
                  <a16:creationId xmlns:a16="http://schemas.microsoft.com/office/drawing/2014/main" id="{DA48B0EB-8E33-BD37-8B28-58BF54C6188E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540;p69">
              <a:extLst>
                <a:ext uri="{FF2B5EF4-FFF2-40B4-BE49-F238E27FC236}">
                  <a16:creationId xmlns:a16="http://schemas.microsoft.com/office/drawing/2014/main" id="{83775E36-4B96-DECF-2908-1EA34F2A85F1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41;p69">
              <a:extLst>
                <a:ext uri="{FF2B5EF4-FFF2-40B4-BE49-F238E27FC236}">
                  <a16:creationId xmlns:a16="http://schemas.microsoft.com/office/drawing/2014/main" id="{BF9426A1-D4AB-1225-7458-88F91649C88F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2542;p69">
            <a:extLst>
              <a:ext uri="{FF2B5EF4-FFF2-40B4-BE49-F238E27FC236}">
                <a16:creationId xmlns:a16="http://schemas.microsoft.com/office/drawing/2014/main" id="{7385BDC9-16CF-546D-348A-8BA2580BF9AB}"/>
              </a:ext>
            </a:extLst>
          </p:cNvPr>
          <p:cNvGrpSpPr/>
          <p:nvPr/>
        </p:nvGrpSpPr>
        <p:grpSpPr>
          <a:xfrm>
            <a:off x="7742306" y="1309526"/>
            <a:ext cx="685268" cy="1378149"/>
            <a:chOff x="716418" y="984001"/>
            <a:chExt cx="685268" cy="1378149"/>
          </a:xfrm>
        </p:grpSpPr>
        <p:sp>
          <p:nvSpPr>
            <p:cNvPr id="9" name="Google Shape;2543;p69">
              <a:extLst>
                <a:ext uri="{FF2B5EF4-FFF2-40B4-BE49-F238E27FC236}">
                  <a16:creationId xmlns:a16="http://schemas.microsoft.com/office/drawing/2014/main" id="{2FB24ADD-E052-A929-5B6F-3C6CB7C385BA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44;p69">
              <a:extLst>
                <a:ext uri="{FF2B5EF4-FFF2-40B4-BE49-F238E27FC236}">
                  <a16:creationId xmlns:a16="http://schemas.microsoft.com/office/drawing/2014/main" id="{04C39559-C42E-079A-519D-C99ABA4F0CF3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45;p69">
              <a:extLst>
                <a:ext uri="{FF2B5EF4-FFF2-40B4-BE49-F238E27FC236}">
                  <a16:creationId xmlns:a16="http://schemas.microsoft.com/office/drawing/2014/main" id="{7161DF67-61BB-7E72-B7F6-BC1B85C83FC1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46;p69">
              <a:extLst>
                <a:ext uri="{FF2B5EF4-FFF2-40B4-BE49-F238E27FC236}">
                  <a16:creationId xmlns:a16="http://schemas.microsoft.com/office/drawing/2014/main" id="{00A1B81E-3E4A-E16B-08F9-E2819FFA55EE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547;p69">
            <a:extLst>
              <a:ext uri="{FF2B5EF4-FFF2-40B4-BE49-F238E27FC236}">
                <a16:creationId xmlns:a16="http://schemas.microsoft.com/office/drawing/2014/main" id="{7249797A-4D24-DB58-A069-5F9B8E30EA22}"/>
              </a:ext>
            </a:extLst>
          </p:cNvPr>
          <p:cNvGrpSpPr/>
          <p:nvPr/>
        </p:nvGrpSpPr>
        <p:grpSpPr>
          <a:xfrm flipH="1">
            <a:off x="788346" y="1309523"/>
            <a:ext cx="541417" cy="533102"/>
            <a:chOff x="7649812" y="3720674"/>
            <a:chExt cx="481902" cy="474501"/>
          </a:xfrm>
        </p:grpSpPr>
        <p:sp>
          <p:nvSpPr>
            <p:cNvPr id="14" name="Google Shape;2548;p69">
              <a:extLst>
                <a:ext uri="{FF2B5EF4-FFF2-40B4-BE49-F238E27FC236}">
                  <a16:creationId xmlns:a16="http://schemas.microsoft.com/office/drawing/2014/main" id="{DBAD7E2F-F0E0-2318-B19F-7F3EA4434A0A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9;p69">
              <a:extLst>
                <a:ext uri="{FF2B5EF4-FFF2-40B4-BE49-F238E27FC236}">
                  <a16:creationId xmlns:a16="http://schemas.microsoft.com/office/drawing/2014/main" id="{A67CD993-158A-6C1E-2C7D-D38E827A23A1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50;p69">
              <a:extLst>
                <a:ext uri="{FF2B5EF4-FFF2-40B4-BE49-F238E27FC236}">
                  <a16:creationId xmlns:a16="http://schemas.microsoft.com/office/drawing/2014/main" id="{FE57E1BB-40B0-8319-58F3-E793642C4C8A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51;p69">
              <a:extLst>
                <a:ext uri="{FF2B5EF4-FFF2-40B4-BE49-F238E27FC236}">
                  <a16:creationId xmlns:a16="http://schemas.microsoft.com/office/drawing/2014/main" id="{37B94074-33C7-A85C-43FF-168920DB71DA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52;p69">
              <a:extLst>
                <a:ext uri="{FF2B5EF4-FFF2-40B4-BE49-F238E27FC236}">
                  <a16:creationId xmlns:a16="http://schemas.microsoft.com/office/drawing/2014/main" id="{0BAE4405-B60E-1BF6-27F0-2663710AF6E2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553;p69">
            <a:extLst>
              <a:ext uri="{FF2B5EF4-FFF2-40B4-BE49-F238E27FC236}">
                <a16:creationId xmlns:a16="http://schemas.microsoft.com/office/drawing/2014/main" id="{3F03EEB8-4144-6BAE-C0ED-4494DD796539}"/>
              </a:ext>
            </a:extLst>
          </p:cNvPr>
          <p:cNvGrpSpPr/>
          <p:nvPr/>
        </p:nvGrpSpPr>
        <p:grpSpPr>
          <a:xfrm rot="10800000" flipH="1">
            <a:off x="716431" y="2455827"/>
            <a:ext cx="685268" cy="1378149"/>
            <a:chOff x="716418" y="984001"/>
            <a:chExt cx="685268" cy="1378149"/>
          </a:xfrm>
        </p:grpSpPr>
        <p:sp>
          <p:nvSpPr>
            <p:cNvPr id="20" name="Google Shape;2554;p69">
              <a:extLst>
                <a:ext uri="{FF2B5EF4-FFF2-40B4-BE49-F238E27FC236}">
                  <a16:creationId xmlns:a16="http://schemas.microsoft.com/office/drawing/2014/main" id="{D229BC8B-C205-2CED-F396-31AE6F5EB78A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55;p69">
              <a:extLst>
                <a:ext uri="{FF2B5EF4-FFF2-40B4-BE49-F238E27FC236}">
                  <a16:creationId xmlns:a16="http://schemas.microsoft.com/office/drawing/2014/main" id="{40AE558A-F920-5E18-4E99-CA88D74C977D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56;p69">
              <a:extLst>
                <a:ext uri="{FF2B5EF4-FFF2-40B4-BE49-F238E27FC236}">
                  <a16:creationId xmlns:a16="http://schemas.microsoft.com/office/drawing/2014/main" id="{F9179FF5-8B31-A7DF-61F0-A765F0333A09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57;p69">
              <a:extLst>
                <a:ext uri="{FF2B5EF4-FFF2-40B4-BE49-F238E27FC236}">
                  <a16:creationId xmlns:a16="http://schemas.microsoft.com/office/drawing/2014/main" id="{168E5F36-A68B-EFBC-4680-79C9BDCCA238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250;p45">
            <a:extLst>
              <a:ext uri="{FF2B5EF4-FFF2-40B4-BE49-F238E27FC236}">
                <a16:creationId xmlns:a16="http://schemas.microsoft.com/office/drawing/2014/main" id="{DBC14F93-53A2-58F4-FFA1-6B2A345CC3DC}"/>
              </a:ext>
            </a:extLst>
          </p:cNvPr>
          <p:cNvSpPr txBox="1">
            <a:spLocks/>
          </p:cNvSpPr>
          <p:nvPr/>
        </p:nvSpPr>
        <p:spPr>
          <a:xfrm>
            <a:off x="1517209" y="1459789"/>
            <a:ext cx="6368635" cy="33030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This project analyzed AstroSage's call center performance using cleaned Excel data. Key findings include high call volumes in December, a large proportion of repeat users (68%), and a weak correlation between call duration and customer satisfaction. Many calls and chats were incomplete, indicating a need for tech upgrades and agent training.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₹1 crore investment plan was proposed, focusing on improving operations, customer satisfaction, and profitability through AI tools, CRM systems, and smarter staffing. Overall, data-driven strategies were recommended to enhance service quality, reduce failures, and boost efficiency.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6">
          <a:extLst>
            <a:ext uri="{FF2B5EF4-FFF2-40B4-BE49-F238E27FC236}">
              <a16:creationId xmlns:a16="http://schemas.microsoft.com/office/drawing/2014/main" id="{E1DC9C27-C7E5-819F-0EBF-05DE149E3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55">
            <a:extLst>
              <a:ext uri="{FF2B5EF4-FFF2-40B4-BE49-F238E27FC236}">
                <a16:creationId xmlns:a16="http://schemas.microsoft.com/office/drawing/2014/main" id="{56BDE759-F455-CEBC-84FF-DDA27D4D2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733" y="1422245"/>
            <a:ext cx="8376533" cy="7892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3600" dirty="0"/>
              <a:t>THANK YOU</a:t>
            </a:r>
            <a:endParaRPr sz="3600" dirty="0"/>
          </a:p>
        </p:txBody>
      </p:sp>
      <p:grpSp>
        <p:nvGrpSpPr>
          <p:cNvPr id="1954" name="Google Shape;1954;p55">
            <a:extLst>
              <a:ext uri="{FF2B5EF4-FFF2-40B4-BE49-F238E27FC236}">
                <a16:creationId xmlns:a16="http://schemas.microsoft.com/office/drawing/2014/main" id="{F3CF7B05-BE30-B61D-739F-B41E3004593C}"/>
              </a:ext>
            </a:extLst>
          </p:cNvPr>
          <p:cNvGrpSpPr/>
          <p:nvPr/>
        </p:nvGrpSpPr>
        <p:grpSpPr>
          <a:xfrm>
            <a:off x="4179168" y="609036"/>
            <a:ext cx="735343" cy="805086"/>
            <a:chOff x="7659236" y="3720674"/>
            <a:chExt cx="433396" cy="474501"/>
          </a:xfrm>
        </p:grpSpPr>
        <p:sp>
          <p:nvSpPr>
            <p:cNvPr id="1955" name="Google Shape;1955;p55">
              <a:extLst>
                <a:ext uri="{FF2B5EF4-FFF2-40B4-BE49-F238E27FC236}">
                  <a16:creationId xmlns:a16="http://schemas.microsoft.com/office/drawing/2014/main" id="{1CF441F8-68E1-8CCF-DF06-72135496DA7D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5">
              <a:extLst>
                <a:ext uri="{FF2B5EF4-FFF2-40B4-BE49-F238E27FC236}">
                  <a16:creationId xmlns:a16="http://schemas.microsoft.com/office/drawing/2014/main" id="{7AA0D460-BFA7-D5F5-47C8-6E193B5AAFDA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5">
              <a:extLst>
                <a:ext uri="{FF2B5EF4-FFF2-40B4-BE49-F238E27FC236}">
                  <a16:creationId xmlns:a16="http://schemas.microsoft.com/office/drawing/2014/main" id="{7F207CB2-5828-4E78-5E67-93078554EEB1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5">
              <a:extLst>
                <a:ext uri="{FF2B5EF4-FFF2-40B4-BE49-F238E27FC236}">
                  <a16:creationId xmlns:a16="http://schemas.microsoft.com/office/drawing/2014/main" id="{2DB38818-3EBF-09A2-9603-4E11D1FBF254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2536;p69">
            <a:extLst>
              <a:ext uri="{FF2B5EF4-FFF2-40B4-BE49-F238E27FC236}">
                <a16:creationId xmlns:a16="http://schemas.microsoft.com/office/drawing/2014/main" id="{5B8C336F-8150-3DDF-E501-18B1C9A72ED6}"/>
              </a:ext>
            </a:extLst>
          </p:cNvPr>
          <p:cNvGrpSpPr/>
          <p:nvPr/>
        </p:nvGrpSpPr>
        <p:grpSpPr>
          <a:xfrm>
            <a:off x="7814221" y="3300877"/>
            <a:ext cx="541417" cy="533102"/>
            <a:chOff x="7649812" y="3720674"/>
            <a:chExt cx="481902" cy="474501"/>
          </a:xfrm>
        </p:grpSpPr>
        <p:sp>
          <p:nvSpPr>
            <p:cNvPr id="3" name="Google Shape;2537;p69">
              <a:extLst>
                <a:ext uri="{FF2B5EF4-FFF2-40B4-BE49-F238E27FC236}">
                  <a16:creationId xmlns:a16="http://schemas.microsoft.com/office/drawing/2014/main" id="{D7D7C8CD-042F-2DE7-2F5B-AC5B86055B6D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538;p69">
              <a:extLst>
                <a:ext uri="{FF2B5EF4-FFF2-40B4-BE49-F238E27FC236}">
                  <a16:creationId xmlns:a16="http://schemas.microsoft.com/office/drawing/2014/main" id="{0225F936-E30F-4419-79C4-710EEB97FD62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539;p69">
              <a:extLst>
                <a:ext uri="{FF2B5EF4-FFF2-40B4-BE49-F238E27FC236}">
                  <a16:creationId xmlns:a16="http://schemas.microsoft.com/office/drawing/2014/main" id="{517E0A66-207F-1D7A-F9A3-3FD564381428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540;p69">
              <a:extLst>
                <a:ext uri="{FF2B5EF4-FFF2-40B4-BE49-F238E27FC236}">
                  <a16:creationId xmlns:a16="http://schemas.microsoft.com/office/drawing/2014/main" id="{78C44428-F906-0DE8-B0E2-D756D9A693C8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41;p69">
              <a:extLst>
                <a:ext uri="{FF2B5EF4-FFF2-40B4-BE49-F238E27FC236}">
                  <a16:creationId xmlns:a16="http://schemas.microsoft.com/office/drawing/2014/main" id="{390334F1-D129-53E7-AB3F-F1436F27E3A6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2542;p69">
            <a:extLst>
              <a:ext uri="{FF2B5EF4-FFF2-40B4-BE49-F238E27FC236}">
                <a16:creationId xmlns:a16="http://schemas.microsoft.com/office/drawing/2014/main" id="{1BA36E60-7E19-A79A-34E4-93D5D09951D4}"/>
              </a:ext>
            </a:extLst>
          </p:cNvPr>
          <p:cNvGrpSpPr/>
          <p:nvPr/>
        </p:nvGrpSpPr>
        <p:grpSpPr>
          <a:xfrm>
            <a:off x="7742306" y="1309526"/>
            <a:ext cx="685268" cy="1378149"/>
            <a:chOff x="716418" y="984001"/>
            <a:chExt cx="685268" cy="1378149"/>
          </a:xfrm>
        </p:grpSpPr>
        <p:sp>
          <p:nvSpPr>
            <p:cNvPr id="9" name="Google Shape;2543;p69">
              <a:extLst>
                <a:ext uri="{FF2B5EF4-FFF2-40B4-BE49-F238E27FC236}">
                  <a16:creationId xmlns:a16="http://schemas.microsoft.com/office/drawing/2014/main" id="{6E34006F-DCB2-5268-097F-B5591DEEB735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44;p69">
              <a:extLst>
                <a:ext uri="{FF2B5EF4-FFF2-40B4-BE49-F238E27FC236}">
                  <a16:creationId xmlns:a16="http://schemas.microsoft.com/office/drawing/2014/main" id="{C333A95A-A4EF-B8FE-2326-F498F17649E2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45;p69">
              <a:extLst>
                <a:ext uri="{FF2B5EF4-FFF2-40B4-BE49-F238E27FC236}">
                  <a16:creationId xmlns:a16="http://schemas.microsoft.com/office/drawing/2014/main" id="{EAD8FCCE-2444-FF40-1B94-B43081F52802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46;p69">
              <a:extLst>
                <a:ext uri="{FF2B5EF4-FFF2-40B4-BE49-F238E27FC236}">
                  <a16:creationId xmlns:a16="http://schemas.microsoft.com/office/drawing/2014/main" id="{DB12DFD2-041A-FB63-AE28-10E83E199C20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2547;p69">
            <a:extLst>
              <a:ext uri="{FF2B5EF4-FFF2-40B4-BE49-F238E27FC236}">
                <a16:creationId xmlns:a16="http://schemas.microsoft.com/office/drawing/2014/main" id="{8BDAED0C-8908-C857-E66F-26D3922CF33B}"/>
              </a:ext>
            </a:extLst>
          </p:cNvPr>
          <p:cNvGrpSpPr/>
          <p:nvPr/>
        </p:nvGrpSpPr>
        <p:grpSpPr>
          <a:xfrm flipH="1">
            <a:off x="788346" y="1309523"/>
            <a:ext cx="541417" cy="533102"/>
            <a:chOff x="7649812" y="3720674"/>
            <a:chExt cx="481902" cy="474501"/>
          </a:xfrm>
        </p:grpSpPr>
        <p:sp>
          <p:nvSpPr>
            <p:cNvPr id="14" name="Google Shape;2548;p69">
              <a:extLst>
                <a:ext uri="{FF2B5EF4-FFF2-40B4-BE49-F238E27FC236}">
                  <a16:creationId xmlns:a16="http://schemas.microsoft.com/office/drawing/2014/main" id="{C9B21721-BD46-4B62-AB0D-F57C42646E04}"/>
                </a:ext>
              </a:extLst>
            </p:cNvPr>
            <p:cNvSpPr/>
            <p:nvPr/>
          </p:nvSpPr>
          <p:spPr>
            <a:xfrm>
              <a:off x="7659236" y="3720674"/>
              <a:ext cx="433396" cy="274014"/>
            </a:xfrm>
            <a:custGeom>
              <a:avLst/>
              <a:gdLst/>
              <a:ahLst/>
              <a:cxnLst/>
              <a:rect l="l" t="t" r="r" b="b"/>
              <a:pathLst>
                <a:path w="3625" h="2292" extrusionOk="0">
                  <a:moveTo>
                    <a:pt x="3502" y="0"/>
                  </a:moveTo>
                  <a:cubicBezTo>
                    <a:pt x="3346" y="738"/>
                    <a:pt x="2698" y="1271"/>
                    <a:pt x="1944" y="1271"/>
                  </a:cubicBezTo>
                  <a:cubicBezTo>
                    <a:pt x="1190" y="1271"/>
                    <a:pt x="534" y="746"/>
                    <a:pt x="378" y="8"/>
                  </a:cubicBezTo>
                  <a:lnTo>
                    <a:pt x="378" y="8"/>
                  </a:lnTo>
                  <a:cubicBezTo>
                    <a:pt x="1" y="984"/>
                    <a:pt x="599" y="2066"/>
                    <a:pt x="1632" y="2263"/>
                  </a:cubicBezTo>
                  <a:cubicBezTo>
                    <a:pt x="1736" y="2282"/>
                    <a:pt x="1839" y="2291"/>
                    <a:pt x="1940" y="2291"/>
                  </a:cubicBezTo>
                  <a:cubicBezTo>
                    <a:pt x="2847" y="2291"/>
                    <a:pt x="3617" y="1559"/>
                    <a:pt x="3617" y="615"/>
                  </a:cubicBezTo>
                  <a:lnTo>
                    <a:pt x="3625" y="615"/>
                  </a:lnTo>
                  <a:cubicBezTo>
                    <a:pt x="3617" y="402"/>
                    <a:pt x="3584" y="197"/>
                    <a:pt x="3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49;p69">
              <a:extLst>
                <a:ext uri="{FF2B5EF4-FFF2-40B4-BE49-F238E27FC236}">
                  <a16:creationId xmlns:a16="http://schemas.microsoft.com/office/drawing/2014/main" id="{8F6322C2-8174-A460-0E72-00C07D4F39BB}"/>
                </a:ext>
              </a:extLst>
            </p:cNvPr>
            <p:cNvSpPr/>
            <p:nvPr/>
          </p:nvSpPr>
          <p:spPr>
            <a:xfrm>
              <a:off x="7870767" y="4083726"/>
              <a:ext cx="40802" cy="111449"/>
            </a:xfrm>
            <a:custGeom>
              <a:avLst/>
              <a:gdLst/>
              <a:ahLst/>
              <a:cxnLst/>
              <a:rect l="l" t="t" r="r" b="b"/>
              <a:pathLst>
                <a:path w="354" h="967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5" y="187"/>
                    <a:pt x="99" y="253"/>
                  </a:cubicBezTo>
                  <a:cubicBezTo>
                    <a:pt x="58" y="392"/>
                    <a:pt x="25" y="524"/>
                    <a:pt x="9" y="663"/>
                  </a:cubicBezTo>
                  <a:cubicBezTo>
                    <a:pt x="1" y="737"/>
                    <a:pt x="9" y="802"/>
                    <a:pt x="42" y="868"/>
                  </a:cubicBezTo>
                  <a:cubicBezTo>
                    <a:pt x="66" y="934"/>
                    <a:pt x="132" y="966"/>
                    <a:pt x="197" y="966"/>
                  </a:cubicBezTo>
                  <a:cubicBezTo>
                    <a:pt x="255" y="958"/>
                    <a:pt x="296" y="917"/>
                    <a:pt x="320" y="868"/>
                  </a:cubicBezTo>
                  <a:cubicBezTo>
                    <a:pt x="337" y="819"/>
                    <a:pt x="353" y="770"/>
                    <a:pt x="345" y="712"/>
                  </a:cubicBezTo>
                  <a:cubicBezTo>
                    <a:pt x="337" y="589"/>
                    <a:pt x="320" y="458"/>
                    <a:pt x="288" y="335"/>
                  </a:cubicBezTo>
                  <a:lnTo>
                    <a:pt x="214" y="40"/>
                  </a:ln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50;p69">
              <a:extLst>
                <a:ext uri="{FF2B5EF4-FFF2-40B4-BE49-F238E27FC236}">
                  <a16:creationId xmlns:a16="http://schemas.microsoft.com/office/drawing/2014/main" id="{A067C097-BD32-399B-F1A0-C41DCEBE6E73}"/>
                </a:ext>
              </a:extLst>
            </p:cNvPr>
            <p:cNvSpPr/>
            <p:nvPr/>
          </p:nvSpPr>
          <p:spPr>
            <a:xfrm>
              <a:off x="7727152" y="4021373"/>
              <a:ext cx="40687" cy="111680"/>
            </a:xfrm>
            <a:custGeom>
              <a:avLst/>
              <a:gdLst/>
              <a:ahLst/>
              <a:cxnLst/>
              <a:rect l="l" t="t" r="r" b="b"/>
              <a:pathLst>
                <a:path w="353" h="969" extrusionOk="0">
                  <a:moveTo>
                    <a:pt x="187" y="1"/>
                  </a:moveTo>
                  <a:cubicBezTo>
                    <a:pt x="173" y="1"/>
                    <a:pt x="157" y="23"/>
                    <a:pt x="148" y="56"/>
                  </a:cubicBezTo>
                  <a:cubicBezTo>
                    <a:pt x="132" y="114"/>
                    <a:pt x="115" y="195"/>
                    <a:pt x="99" y="261"/>
                  </a:cubicBezTo>
                  <a:cubicBezTo>
                    <a:pt x="58" y="400"/>
                    <a:pt x="25" y="532"/>
                    <a:pt x="17" y="671"/>
                  </a:cubicBezTo>
                  <a:cubicBezTo>
                    <a:pt x="0" y="737"/>
                    <a:pt x="17" y="810"/>
                    <a:pt x="41" y="876"/>
                  </a:cubicBezTo>
                  <a:cubicBezTo>
                    <a:pt x="66" y="938"/>
                    <a:pt x="123" y="968"/>
                    <a:pt x="181" y="968"/>
                  </a:cubicBezTo>
                  <a:cubicBezTo>
                    <a:pt x="238" y="968"/>
                    <a:pt x="296" y="938"/>
                    <a:pt x="320" y="876"/>
                  </a:cubicBezTo>
                  <a:cubicBezTo>
                    <a:pt x="345" y="819"/>
                    <a:pt x="353" y="769"/>
                    <a:pt x="345" y="720"/>
                  </a:cubicBezTo>
                  <a:cubicBezTo>
                    <a:pt x="345" y="589"/>
                    <a:pt x="320" y="458"/>
                    <a:pt x="287" y="335"/>
                  </a:cubicBezTo>
                  <a:cubicBezTo>
                    <a:pt x="263" y="228"/>
                    <a:pt x="238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51;p69">
              <a:extLst>
                <a:ext uri="{FF2B5EF4-FFF2-40B4-BE49-F238E27FC236}">
                  <a16:creationId xmlns:a16="http://schemas.microsoft.com/office/drawing/2014/main" id="{A03AD515-ACD6-B4CC-3265-0778DFD1FC1E}"/>
                </a:ext>
              </a:extLst>
            </p:cNvPr>
            <p:cNvSpPr/>
            <p:nvPr/>
          </p:nvSpPr>
          <p:spPr>
            <a:xfrm>
              <a:off x="8014382" y="4021373"/>
              <a:ext cx="39880" cy="111680"/>
            </a:xfrm>
            <a:custGeom>
              <a:avLst/>
              <a:gdLst/>
              <a:ahLst/>
              <a:cxnLst/>
              <a:rect l="l" t="t" r="r" b="b"/>
              <a:pathLst>
                <a:path w="346" h="969" extrusionOk="0">
                  <a:moveTo>
                    <a:pt x="187" y="1"/>
                  </a:moveTo>
                  <a:cubicBezTo>
                    <a:pt x="173" y="1"/>
                    <a:pt x="158" y="23"/>
                    <a:pt x="148" y="56"/>
                  </a:cubicBezTo>
                  <a:cubicBezTo>
                    <a:pt x="132" y="114"/>
                    <a:pt x="116" y="195"/>
                    <a:pt x="91" y="261"/>
                  </a:cubicBezTo>
                  <a:cubicBezTo>
                    <a:pt x="50" y="400"/>
                    <a:pt x="25" y="532"/>
                    <a:pt x="9" y="671"/>
                  </a:cubicBezTo>
                  <a:cubicBezTo>
                    <a:pt x="1" y="737"/>
                    <a:pt x="9" y="810"/>
                    <a:pt x="42" y="876"/>
                  </a:cubicBezTo>
                  <a:cubicBezTo>
                    <a:pt x="62" y="938"/>
                    <a:pt x="120" y="968"/>
                    <a:pt x="178" y="968"/>
                  </a:cubicBezTo>
                  <a:cubicBezTo>
                    <a:pt x="237" y="968"/>
                    <a:pt x="296" y="938"/>
                    <a:pt x="321" y="876"/>
                  </a:cubicBezTo>
                  <a:cubicBezTo>
                    <a:pt x="337" y="819"/>
                    <a:pt x="345" y="769"/>
                    <a:pt x="345" y="720"/>
                  </a:cubicBezTo>
                  <a:cubicBezTo>
                    <a:pt x="337" y="589"/>
                    <a:pt x="321" y="458"/>
                    <a:pt x="280" y="335"/>
                  </a:cubicBezTo>
                  <a:cubicBezTo>
                    <a:pt x="255" y="228"/>
                    <a:pt x="239" y="146"/>
                    <a:pt x="214" y="40"/>
                  </a:cubicBezTo>
                  <a:cubicBezTo>
                    <a:pt x="207" y="12"/>
                    <a:pt x="197" y="1"/>
                    <a:pt x="1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52;p69">
              <a:extLst>
                <a:ext uri="{FF2B5EF4-FFF2-40B4-BE49-F238E27FC236}">
                  <a16:creationId xmlns:a16="http://schemas.microsoft.com/office/drawing/2014/main" id="{011B37BC-FAEA-45FC-D0D3-D4766C637B2D}"/>
                </a:ext>
              </a:extLst>
            </p:cNvPr>
            <p:cNvSpPr/>
            <p:nvPr/>
          </p:nvSpPr>
          <p:spPr>
            <a:xfrm>
              <a:off x="7649812" y="3720675"/>
              <a:ext cx="481902" cy="282599"/>
            </a:xfrm>
            <a:custGeom>
              <a:avLst/>
              <a:gdLst/>
              <a:ahLst/>
              <a:cxnLst/>
              <a:rect l="l" t="t" r="r" b="b"/>
              <a:pathLst>
                <a:path w="4181" h="2452" extrusionOk="0">
                  <a:moveTo>
                    <a:pt x="3656" y="345"/>
                  </a:moveTo>
                  <a:cubicBezTo>
                    <a:pt x="3680" y="460"/>
                    <a:pt x="3697" y="574"/>
                    <a:pt x="3697" y="689"/>
                  </a:cubicBezTo>
                  <a:cubicBezTo>
                    <a:pt x="3697" y="1575"/>
                    <a:pt x="2975" y="2288"/>
                    <a:pt x="2090" y="2288"/>
                  </a:cubicBezTo>
                  <a:cubicBezTo>
                    <a:pt x="1204" y="2288"/>
                    <a:pt x="491" y="1575"/>
                    <a:pt x="491" y="689"/>
                  </a:cubicBezTo>
                  <a:cubicBezTo>
                    <a:pt x="491" y="574"/>
                    <a:pt x="499" y="460"/>
                    <a:pt x="532" y="353"/>
                  </a:cubicBezTo>
                  <a:cubicBezTo>
                    <a:pt x="806" y="1068"/>
                    <a:pt x="1449" y="1425"/>
                    <a:pt x="2091" y="1425"/>
                  </a:cubicBezTo>
                  <a:cubicBezTo>
                    <a:pt x="2738" y="1425"/>
                    <a:pt x="3384" y="1064"/>
                    <a:pt x="3656" y="345"/>
                  </a:cubicBezTo>
                  <a:close/>
                  <a:moveTo>
                    <a:pt x="3639" y="0"/>
                  </a:moveTo>
                  <a:cubicBezTo>
                    <a:pt x="3607" y="9"/>
                    <a:pt x="3582" y="33"/>
                    <a:pt x="3574" y="66"/>
                  </a:cubicBezTo>
                  <a:cubicBezTo>
                    <a:pt x="3426" y="763"/>
                    <a:pt x="2803" y="1263"/>
                    <a:pt x="2090" y="1271"/>
                  </a:cubicBezTo>
                  <a:cubicBezTo>
                    <a:pt x="1376" y="1271"/>
                    <a:pt x="753" y="771"/>
                    <a:pt x="606" y="74"/>
                  </a:cubicBezTo>
                  <a:cubicBezTo>
                    <a:pt x="598" y="41"/>
                    <a:pt x="565" y="9"/>
                    <a:pt x="532" y="9"/>
                  </a:cubicBezTo>
                  <a:cubicBezTo>
                    <a:pt x="499" y="9"/>
                    <a:pt x="466" y="25"/>
                    <a:pt x="458" y="58"/>
                  </a:cubicBezTo>
                  <a:cubicBezTo>
                    <a:pt x="1" y="1210"/>
                    <a:pt x="854" y="2452"/>
                    <a:pt x="2086" y="2452"/>
                  </a:cubicBezTo>
                  <a:cubicBezTo>
                    <a:pt x="2090" y="2452"/>
                    <a:pt x="2094" y="2452"/>
                    <a:pt x="2098" y="2452"/>
                  </a:cubicBezTo>
                  <a:cubicBezTo>
                    <a:pt x="3328" y="2444"/>
                    <a:pt x="4181" y="1197"/>
                    <a:pt x="3721" y="50"/>
                  </a:cubicBezTo>
                  <a:cubicBezTo>
                    <a:pt x="3705" y="17"/>
                    <a:pt x="3680" y="0"/>
                    <a:pt x="36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553;p69">
            <a:extLst>
              <a:ext uri="{FF2B5EF4-FFF2-40B4-BE49-F238E27FC236}">
                <a16:creationId xmlns:a16="http://schemas.microsoft.com/office/drawing/2014/main" id="{DE45E084-D70C-9721-BC42-D1FD5DEABAFC}"/>
              </a:ext>
            </a:extLst>
          </p:cNvPr>
          <p:cNvGrpSpPr/>
          <p:nvPr/>
        </p:nvGrpSpPr>
        <p:grpSpPr>
          <a:xfrm rot="10800000" flipH="1">
            <a:off x="716431" y="2455827"/>
            <a:ext cx="685268" cy="1378149"/>
            <a:chOff x="716418" y="984001"/>
            <a:chExt cx="685268" cy="1378149"/>
          </a:xfrm>
        </p:grpSpPr>
        <p:sp>
          <p:nvSpPr>
            <p:cNvPr id="20" name="Google Shape;2554;p69">
              <a:extLst>
                <a:ext uri="{FF2B5EF4-FFF2-40B4-BE49-F238E27FC236}">
                  <a16:creationId xmlns:a16="http://schemas.microsoft.com/office/drawing/2014/main" id="{4823BF5F-9E9A-E9C6-1A7C-CDF966E2808D}"/>
                </a:ext>
              </a:extLst>
            </p:cNvPr>
            <p:cNvSpPr/>
            <p:nvPr/>
          </p:nvSpPr>
          <p:spPr>
            <a:xfrm>
              <a:off x="716418" y="984001"/>
              <a:ext cx="685268" cy="557811"/>
            </a:xfrm>
            <a:custGeom>
              <a:avLst/>
              <a:gdLst/>
              <a:ahLst/>
              <a:cxnLst/>
              <a:rect l="l" t="t" r="r" b="b"/>
              <a:pathLst>
                <a:path w="5027" h="4092" extrusionOk="0">
                  <a:moveTo>
                    <a:pt x="2510" y="0"/>
                  </a:moveTo>
                  <a:lnTo>
                    <a:pt x="2215" y="1394"/>
                  </a:lnTo>
                  <a:lnTo>
                    <a:pt x="1354" y="869"/>
                  </a:lnTo>
                  <a:lnTo>
                    <a:pt x="1878" y="1738"/>
                  </a:lnTo>
                  <a:lnTo>
                    <a:pt x="1" y="2050"/>
                  </a:lnTo>
                  <a:lnTo>
                    <a:pt x="1878" y="2362"/>
                  </a:lnTo>
                  <a:lnTo>
                    <a:pt x="1354" y="3231"/>
                  </a:lnTo>
                  <a:lnTo>
                    <a:pt x="2215" y="2706"/>
                  </a:lnTo>
                  <a:lnTo>
                    <a:pt x="2510" y="4092"/>
                  </a:lnTo>
                  <a:lnTo>
                    <a:pt x="2813" y="2706"/>
                  </a:lnTo>
                  <a:lnTo>
                    <a:pt x="3674" y="3231"/>
                  </a:lnTo>
                  <a:lnTo>
                    <a:pt x="3141" y="2362"/>
                  </a:lnTo>
                  <a:lnTo>
                    <a:pt x="5027" y="2050"/>
                  </a:lnTo>
                  <a:lnTo>
                    <a:pt x="3141" y="1738"/>
                  </a:lnTo>
                  <a:lnTo>
                    <a:pt x="3674" y="869"/>
                  </a:lnTo>
                  <a:lnTo>
                    <a:pt x="2813" y="1394"/>
                  </a:lnTo>
                  <a:lnTo>
                    <a:pt x="2510" y="0"/>
                  </a:ln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55;p69">
              <a:extLst>
                <a:ext uri="{FF2B5EF4-FFF2-40B4-BE49-F238E27FC236}">
                  <a16:creationId xmlns:a16="http://schemas.microsoft.com/office/drawing/2014/main" id="{EA5E742B-3A80-FE3A-1CE2-84C3E1894DBE}"/>
                </a:ext>
              </a:extLst>
            </p:cNvPr>
            <p:cNvSpPr/>
            <p:nvPr/>
          </p:nvSpPr>
          <p:spPr>
            <a:xfrm>
              <a:off x="1034995" y="1634654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56;p69">
              <a:extLst>
                <a:ext uri="{FF2B5EF4-FFF2-40B4-BE49-F238E27FC236}">
                  <a16:creationId xmlns:a16="http://schemas.microsoft.com/office/drawing/2014/main" id="{8DEA3192-8C6E-2D73-553C-47FC75E1F168}"/>
                </a:ext>
              </a:extLst>
            </p:cNvPr>
            <p:cNvSpPr/>
            <p:nvPr/>
          </p:nvSpPr>
          <p:spPr>
            <a:xfrm>
              <a:off x="1035536" y="1923547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57;p69">
              <a:extLst>
                <a:ext uri="{FF2B5EF4-FFF2-40B4-BE49-F238E27FC236}">
                  <a16:creationId xmlns:a16="http://schemas.microsoft.com/office/drawing/2014/main" id="{12C36CF7-A685-DF14-9314-73F3E8812942}"/>
                </a:ext>
              </a:extLst>
            </p:cNvPr>
            <p:cNvSpPr/>
            <p:nvPr/>
          </p:nvSpPr>
          <p:spPr>
            <a:xfrm>
              <a:off x="1035536" y="2230195"/>
              <a:ext cx="47030" cy="131955"/>
            </a:xfrm>
            <a:custGeom>
              <a:avLst/>
              <a:gdLst/>
              <a:ahLst/>
              <a:cxnLst/>
              <a:rect l="l" t="t" r="r" b="b"/>
              <a:pathLst>
                <a:path w="345" h="968" extrusionOk="0">
                  <a:moveTo>
                    <a:pt x="184" y="1"/>
                  </a:moveTo>
                  <a:cubicBezTo>
                    <a:pt x="169" y="1"/>
                    <a:pt x="153" y="23"/>
                    <a:pt x="148" y="56"/>
                  </a:cubicBezTo>
                  <a:cubicBezTo>
                    <a:pt x="132" y="114"/>
                    <a:pt x="107" y="196"/>
                    <a:pt x="91" y="261"/>
                  </a:cubicBezTo>
                  <a:cubicBezTo>
                    <a:pt x="50" y="393"/>
                    <a:pt x="25" y="532"/>
                    <a:pt x="9" y="671"/>
                  </a:cubicBezTo>
                  <a:cubicBezTo>
                    <a:pt x="1" y="737"/>
                    <a:pt x="9" y="803"/>
                    <a:pt x="33" y="868"/>
                  </a:cubicBezTo>
                  <a:cubicBezTo>
                    <a:pt x="63" y="928"/>
                    <a:pt x="114" y="968"/>
                    <a:pt x="179" y="968"/>
                  </a:cubicBezTo>
                  <a:cubicBezTo>
                    <a:pt x="185" y="968"/>
                    <a:pt x="191" y="967"/>
                    <a:pt x="197" y="967"/>
                  </a:cubicBezTo>
                  <a:cubicBezTo>
                    <a:pt x="247" y="958"/>
                    <a:pt x="296" y="926"/>
                    <a:pt x="320" y="876"/>
                  </a:cubicBezTo>
                  <a:cubicBezTo>
                    <a:pt x="337" y="819"/>
                    <a:pt x="345" y="770"/>
                    <a:pt x="345" y="721"/>
                  </a:cubicBezTo>
                  <a:cubicBezTo>
                    <a:pt x="337" y="589"/>
                    <a:pt x="312" y="458"/>
                    <a:pt x="279" y="335"/>
                  </a:cubicBezTo>
                  <a:cubicBezTo>
                    <a:pt x="255" y="229"/>
                    <a:pt x="238" y="147"/>
                    <a:pt x="214" y="40"/>
                  </a:cubicBezTo>
                  <a:cubicBezTo>
                    <a:pt x="207" y="13"/>
                    <a:pt x="196" y="1"/>
                    <a:pt x="1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Picture 4" descr="How Newton School is helping students carve a career in tech ...">
            <a:extLst>
              <a:ext uri="{FF2B5EF4-FFF2-40B4-BE49-F238E27FC236}">
                <a16:creationId xmlns:a16="http://schemas.microsoft.com/office/drawing/2014/main" id="{987A76D9-F4EA-AE53-DFEB-D7E22EDBD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8FCFB"/>
              </a:clrFrom>
              <a:clrTo>
                <a:srgbClr val="E8FC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8" b="34260"/>
          <a:stretch>
            <a:fillRect/>
          </a:stretch>
        </p:blipFill>
        <p:spPr bwMode="auto">
          <a:xfrm>
            <a:off x="2816056" y="2466388"/>
            <a:ext cx="3582492" cy="714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AstroSage AI (@astrosagedotcom) • Instagram photos and videos">
            <a:extLst>
              <a:ext uri="{FF2B5EF4-FFF2-40B4-BE49-F238E27FC236}">
                <a16:creationId xmlns:a16="http://schemas.microsoft.com/office/drawing/2014/main" id="{8BF7C634-596A-358B-2680-1C28B160F8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3" t="9938" r="16701" b="8322"/>
          <a:stretch>
            <a:fillRect/>
          </a:stretch>
        </p:blipFill>
        <p:spPr bwMode="auto">
          <a:xfrm>
            <a:off x="4086226" y="3196800"/>
            <a:ext cx="1157719" cy="140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18187"/>
      </p:ext>
    </p:extLst>
  </p:cSld>
  <p:clrMapOvr>
    <a:masterClrMapping/>
  </p:clrMapOvr>
</p:sld>
</file>

<file path=ppt/theme/theme1.xml><?xml version="1.0" encoding="utf-8"?>
<a:theme xmlns:a="http://schemas.openxmlformats.org/drawingml/2006/main" name="Tarot Style Slides for Middle School by Slidesgo">
  <a:themeElements>
    <a:clrScheme name="Simple Light">
      <a:dk1>
        <a:srgbClr val="191919"/>
      </a:dk1>
      <a:lt1>
        <a:srgbClr val="FFFFFF"/>
      </a:lt1>
      <a:dk2>
        <a:srgbClr val="FAD9C9"/>
      </a:dk2>
      <a:lt2>
        <a:srgbClr val="2D3F53"/>
      </a:lt2>
      <a:accent1>
        <a:srgbClr val="C4CB9F"/>
      </a:accent1>
      <a:accent2>
        <a:srgbClr val="212121"/>
      </a:accent2>
      <a:accent3>
        <a:srgbClr val="E58845"/>
      </a:accent3>
      <a:accent4>
        <a:srgbClr val="614D59"/>
      </a:accent4>
      <a:accent5>
        <a:srgbClr val="DECBB7"/>
      </a:accent5>
      <a:accent6>
        <a:srgbClr val="6A472F"/>
      </a:accent6>
      <a:hlink>
        <a:srgbClr val="2D3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1505</Words>
  <Application>Microsoft Office PowerPoint</Application>
  <PresentationFormat>On-screen Show (16:9)</PresentationFormat>
  <Paragraphs>248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Showcard Gothic</vt:lpstr>
      <vt:lpstr>Antic</vt:lpstr>
      <vt:lpstr>DM Sans Medium</vt:lpstr>
      <vt:lpstr>Calibri</vt:lpstr>
      <vt:lpstr>Bebas Neue</vt:lpstr>
      <vt:lpstr>Arial</vt:lpstr>
      <vt:lpstr>Nunito Light</vt:lpstr>
      <vt:lpstr>Chango</vt:lpstr>
      <vt:lpstr>Tarot Style Slides for Middle School by Slidesgo</vt:lpstr>
      <vt:lpstr>AstroSage Call Center Performance Analysis</vt:lpstr>
      <vt:lpstr>Problem Statement</vt:lpstr>
      <vt:lpstr>Data Cleaning Process</vt:lpstr>
      <vt:lpstr>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Analysis of the project</vt:lpstr>
      <vt:lpstr>PowerPoint Presentation</vt:lpstr>
      <vt:lpstr>Recommendations</vt:lpstr>
      <vt:lpstr>Key Metrics for Dashboard</vt:lpstr>
      <vt:lpstr>₹1 Crore Investment Allocation Plan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Lakshya</dc:creator>
  <cp:lastModifiedBy>Lakshya Hasija</cp:lastModifiedBy>
  <cp:revision>54</cp:revision>
  <dcterms:modified xsi:type="dcterms:W3CDTF">2025-08-17T07:57:45Z</dcterms:modified>
</cp:coreProperties>
</file>